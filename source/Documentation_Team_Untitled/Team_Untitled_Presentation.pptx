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4" r:id="rId1"/>
  </p:sldMasterIdLst>
  <p:sldIdLst>
    <p:sldId id="256" r:id="rId2"/>
    <p:sldId id="257" r:id="rId3"/>
    <p:sldId id="258" r:id="rId4"/>
    <p:sldId id="281" r:id="rId5"/>
    <p:sldId id="282" r:id="rId6"/>
    <p:sldId id="260" r:id="rId7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B30170-59E3-EB3C-65CC-7E0361EED645}" v="6" dt="2025-03-07T21:03:23.532"/>
    <p1510:client id="{4766E63C-F72D-5F13-20ED-C835010FBA24}" v="10" dt="2025-03-07T21:02:02.750"/>
    <p1510:client id="{593D3560-340C-3DF4-EDBE-E4496C2D3F38}" v="267" dt="2025-03-06T09:07:00.326"/>
    <p1510:client id="{69E0AD34-F7CF-6D93-7E8A-057C0CE0A5C1}" v="11" dt="2025-03-07T20:32:27.272"/>
    <p1510:client id="{7BEDEDF1-243D-8BD9-9349-2B5C1D757258}" v="3" dt="2025-03-07T20:34:46.464"/>
    <p1510:client id="{7C6CDCA4-EEED-10E4-3505-F597C74D7094}" v="59" dt="2025-03-06T09:35:32.533"/>
    <p1510:client id="{814AB64F-4F89-8E35-9302-E3F97DCF795D}" v="204" dt="2025-03-06T14:54:35.596"/>
    <p1510:client id="{8DFBA6E9-45A5-1CF6-5896-926942445633}" v="103" dt="2025-03-07T20:50:36.107"/>
    <p1510:client id="{A10A02D9-CE93-15DF-2BC3-A27438D34591}" v="13" dt="2025-03-06T22:14:35.601"/>
    <p1510:client id="{D1B67EE3-D333-6B64-60DC-718755A914D7}" v="34" dt="2025-03-06T21:03:31.8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60"/>
    <p:restoredTop sz="94668"/>
  </p:normalViewPr>
  <p:slideViewPr>
    <p:cSldViewPr snapToGrid="0">
      <p:cViewPr varScale="1">
        <p:scale>
          <a:sx n="60" d="100"/>
          <a:sy n="60" d="100"/>
        </p:scale>
        <p:origin x="184" y="1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239F83-5D43-4B46-AABD-FD9F47976263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0C0A95C-1BBF-44EA-9D88-55AC0A84BD1B}">
      <dgm:prSet/>
      <dgm:spPr/>
      <dgm:t>
        <a:bodyPr/>
        <a:lstStyle/>
        <a:p>
          <a:r>
            <a:rPr lang="en-GB"/>
            <a:t>The objective of this study is to investigate the reconstruction of inputs in </a:t>
          </a:r>
          <a:r>
            <a:rPr lang="en-GB" b="1"/>
            <a:t>Hierarchical Temporal Memory (HTM)</a:t>
          </a:r>
          <a:r>
            <a:rPr lang="en-GB"/>
            <a:t> networks using classifiers. Specifically, the study aims to:</a:t>
          </a:r>
          <a:endParaRPr lang="en-US"/>
        </a:p>
      </dgm:t>
    </dgm:pt>
    <dgm:pt modelId="{904363F4-473C-43B6-B1FD-9E537429F9B9}" type="parTrans" cxnId="{C5689E33-0FB3-450E-9EAC-2116C5D84B69}">
      <dgm:prSet/>
      <dgm:spPr/>
      <dgm:t>
        <a:bodyPr/>
        <a:lstStyle/>
        <a:p>
          <a:endParaRPr lang="en-US"/>
        </a:p>
      </dgm:t>
    </dgm:pt>
    <dgm:pt modelId="{67FEDC6A-12C2-4434-A0F8-86E00A0EBD15}" type="sibTrans" cxnId="{C5689E33-0FB3-450E-9EAC-2116C5D84B69}">
      <dgm:prSet/>
      <dgm:spPr/>
      <dgm:t>
        <a:bodyPr/>
        <a:lstStyle/>
        <a:p>
          <a:endParaRPr lang="en-US"/>
        </a:p>
      </dgm:t>
    </dgm:pt>
    <dgm:pt modelId="{00A1FE73-5F44-4C3E-B0CE-0883B43FB28D}">
      <dgm:prSet/>
      <dgm:spPr/>
      <dgm:t>
        <a:bodyPr/>
        <a:lstStyle/>
        <a:p>
          <a:r>
            <a:rPr lang="en-GB" b="1"/>
            <a:t>Implement Input Reconstruction</a:t>
          </a:r>
          <a:r>
            <a:rPr lang="en-GB"/>
            <a:t> using the </a:t>
          </a:r>
          <a:r>
            <a:rPr lang="en-GB" b="1"/>
            <a:t>IClassifier</a:t>
          </a:r>
          <a:r>
            <a:rPr lang="en-GB"/>
            <a:t> interface in HTM.</a:t>
          </a:r>
          <a:endParaRPr lang="en-US"/>
        </a:p>
      </dgm:t>
    </dgm:pt>
    <dgm:pt modelId="{242183CB-4B91-4D6E-B5D9-4FF3A9957715}" type="parTrans" cxnId="{BB2ABEFE-D29C-4131-A340-54FE1BC0D0FA}">
      <dgm:prSet/>
      <dgm:spPr/>
      <dgm:t>
        <a:bodyPr/>
        <a:lstStyle/>
        <a:p>
          <a:endParaRPr lang="en-US"/>
        </a:p>
      </dgm:t>
    </dgm:pt>
    <dgm:pt modelId="{4E106E1A-1C4D-45A6-8CAF-7DF4ED51AF39}" type="sibTrans" cxnId="{BB2ABEFE-D29C-4131-A340-54FE1BC0D0FA}">
      <dgm:prSet/>
      <dgm:spPr/>
      <dgm:t>
        <a:bodyPr/>
        <a:lstStyle/>
        <a:p>
          <a:endParaRPr lang="en-US"/>
        </a:p>
      </dgm:t>
    </dgm:pt>
    <dgm:pt modelId="{A8DD008A-9A50-41BD-AF26-98315739D16A}">
      <dgm:prSet/>
      <dgm:spPr/>
      <dgm:t>
        <a:bodyPr/>
        <a:lstStyle/>
        <a:p>
          <a:r>
            <a:rPr lang="en-GB" b="1"/>
            <a:t>Run and Extend the SpatialLearning Experiment</a:t>
          </a:r>
          <a:r>
            <a:rPr lang="en-GB"/>
            <a:t> to test input regeneration.</a:t>
          </a:r>
          <a:endParaRPr lang="en-US"/>
        </a:p>
      </dgm:t>
    </dgm:pt>
    <dgm:pt modelId="{5918BDDF-2219-4750-A6A2-2F84085ED2D2}" type="parTrans" cxnId="{14F46BA3-CF3F-4144-9B9B-AA37CE02E891}">
      <dgm:prSet/>
      <dgm:spPr/>
      <dgm:t>
        <a:bodyPr/>
        <a:lstStyle/>
        <a:p>
          <a:endParaRPr lang="en-US"/>
        </a:p>
      </dgm:t>
    </dgm:pt>
    <dgm:pt modelId="{45B5622C-037B-48CB-868C-3BD952CDEB5B}" type="sibTrans" cxnId="{14F46BA3-CF3F-4144-9B9B-AA37CE02E891}">
      <dgm:prSet/>
      <dgm:spPr/>
      <dgm:t>
        <a:bodyPr/>
        <a:lstStyle/>
        <a:p>
          <a:endParaRPr lang="en-US"/>
        </a:p>
      </dgm:t>
    </dgm:pt>
    <dgm:pt modelId="{C17F1D15-DF37-43BC-8EB3-CCE815763BC6}">
      <dgm:prSet/>
      <dgm:spPr/>
      <dgm:t>
        <a:bodyPr/>
        <a:lstStyle/>
        <a:p>
          <a:r>
            <a:rPr lang="en-GB" b="1"/>
            <a:t>Visualize Similarity Graphs</a:t>
          </a:r>
          <a:r>
            <a:rPr lang="en-GB"/>
            <a:t> comparing original inputs and reconstructed inputs for both </a:t>
          </a:r>
          <a:r>
            <a:rPr lang="en-GB" b="1"/>
            <a:t>HtmClassifier</a:t>
          </a:r>
          <a:r>
            <a:rPr lang="en-GB"/>
            <a:t> and </a:t>
          </a:r>
          <a:r>
            <a:rPr lang="en-GB" b="1"/>
            <a:t>KNN Classifier</a:t>
          </a:r>
          <a:r>
            <a:rPr lang="en-GB"/>
            <a:t>.</a:t>
          </a:r>
          <a:endParaRPr lang="en-US"/>
        </a:p>
      </dgm:t>
    </dgm:pt>
    <dgm:pt modelId="{95A6FC49-CCC9-49DE-B52D-A880F210667F}" type="parTrans" cxnId="{5D24909E-7B80-4A66-8A7E-EB61CAEA74F6}">
      <dgm:prSet/>
      <dgm:spPr/>
      <dgm:t>
        <a:bodyPr/>
        <a:lstStyle/>
        <a:p>
          <a:endParaRPr lang="en-US"/>
        </a:p>
      </dgm:t>
    </dgm:pt>
    <dgm:pt modelId="{B59CCB87-58A6-45FF-A4CA-C660DEF36F21}" type="sibTrans" cxnId="{5D24909E-7B80-4A66-8A7E-EB61CAEA74F6}">
      <dgm:prSet/>
      <dgm:spPr/>
      <dgm:t>
        <a:bodyPr/>
        <a:lstStyle/>
        <a:p>
          <a:endParaRPr lang="en-US"/>
        </a:p>
      </dgm:t>
    </dgm:pt>
    <dgm:pt modelId="{AFE0B4C8-3B63-4DC7-A904-D03381DD9858}">
      <dgm:prSet/>
      <dgm:spPr/>
      <dgm:t>
        <a:bodyPr/>
        <a:lstStyle/>
        <a:p>
          <a:r>
            <a:rPr lang="en-GB" b="1"/>
            <a:t>Calculate Similarity Metrics</a:t>
          </a:r>
          <a:r>
            <a:rPr lang="en-GB"/>
            <a:t> to assess the accuracy of the reconstructed inputs against the original encoded inputs.</a:t>
          </a:r>
          <a:endParaRPr lang="en-US"/>
        </a:p>
      </dgm:t>
    </dgm:pt>
    <dgm:pt modelId="{A5541D55-D810-48C6-BF63-9A170FF490D6}" type="parTrans" cxnId="{853C5627-11A4-42BB-B34F-813E76924BD4}">
      <dgm:prSet/>
      <dgm:spPr/>
      <dgm:t>
        <a:bodyPr/>
        <a:lstStyle/>
        <a:p>
          <a:endParaRPr lang="en-US"/>
        </a:p>
      </dgm:t>
    </dgm:pt>
    <dgm:pt modelId="{D66322B3-B020-49BA-8C51-49FE98650BE3}" type="sibTrans" cxnId="{853C5627-11A4-42BB-B34F-813E76924BD4}">
      <dgm:prSet/>
      <dgm:spPr/>
      <dgm:t>
        <a:bodyPr/>
        <a:lstStyle/>
        <a:p>
          <a:endParaRPr lang="en-US"/>
        </a:p>
      </dgm:t>
    </dgm:pt>
    <dgm:pt modelId="{16B7846C-5DC8-443F-BA21-40198781E0BC}" type="pres">
      <dgm:prSet presAssocID="{9F239F83-5D43-4B46-AABD-FD9F47976263}" presName="root" presStyleCnt="0">
        <dgm:presLayoutVars>
          <dgm:dir/>
          <dgm:resizeHandles val="exact"/>
        </dgm:presLayoutVars>
      </dgm:prSet>
      <dgm:spPr/>
    </dgm:pt>
    <dgm:pt modelId="{3C9F101A-5C23-4E5D-95BF-9AA5DA89591A}" type="pres">
      <dgm:prSet presAssocID="{9F239F83-5D43-4B46-AABD-FD9F47976263}" presName="container" presStyleCnt="0">
        <dgm:presLayoutVars>
          <dgm:dir/>
          <dgm:resizeHandles val="exact"/>
        </dgm:presLayoutVars>
      </dgm:prSet>
      <dgm:spPr/>
    </dgm:pt>
    <dgm:pt modelId="{9B41985C-D8F8-43EC-A2B6-33ED79D8D1E1}" type="pres">
      <dgm:prSet presAssocID="{10C0A95C-1BBF-44EA-9D88-55AC0A84BD1B}" presName="compNode" presStyleCnt="0"/>
      <dgm:spPr/>
    </dgm:pt>
    <dgm:pt modelId="{1D3079F1-892E-4548-9030-F7C65D71655C}" type="pres">
      <dgm:prSet presAssocID="{10C0A95C-1BBF-44EA-9D88-55AC0A84BD1B}" presName="iconBgRect" presStyleLbl="bgShp" presStyleIdx="0" presStyleCnt="5"/>
      <dgm:spPr/>
    </dgm:pt>
    <dgm:pt modelId="{DF31D96B-275A-41F7-A971-A7D51D391B25}" type="pres">
      <dgm:prSet presAssocID="{10C0A95C-1BBF-44EA-9D88-55AC0A84BD1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5C3F5ACC-E3A8-458D-B8AA-889CF77C5689}" type="pres">
      <dgm:prSet presAssocID="{10C0A95C-1BBF-44EA-9D88-55AC0A84BD1B}" presName="spaceRect" presStyleCnt="0"/>
      <dgm:spPr/>
    </dgm:pt>
    <dgm:pt modelId="{2831FB22-6CBF-47ED-AB0F-B78D77CDA5C3}" type="pres">
      <dgm:prSet presAssocID="{10C0A95C-1BBF-44EA-9D88-55AC0A84BD1B}" presName="textRect" presStyleLbl="revTx" presStyleIdx="0" presStyleCnt="5">
        <dgm:presLayoutVars>
          <dgm:chMax val="1"/>
          <dgm:chPref val="1"/>
        </dgm:presLayoutVars>
      </dgm:prSet>
      <dgm:spPr/>
    </dgm:pt>
    <dgm:pt modelId="{D04F571C-C7B5-42AE-87C3-A8EAE6A6147D}" type="pres">
      <dgm:prSet presAssocID="{67FEDC6A-12C2-4434-A0F8-86E00A0EBD15}" presName="sibTrans" presStyleLbl="sibTrans2D1" presStyleIdx="0" presStyleCnt="0"/>
      <dgm:spPr/>
    </dgm:pt>
    <dgm:pt modelId="{B0C941FA-5B59-4604-B996-AA05F04C8D4D}" type="pres">
      <dgm:prSet presAssocID="{00A1FE73-5F44-4C3E-B0CE-0883B43FB28D}" presName="compNode" presStyleCnt="0"/>
      <dgm:spPr/>
    </dgm:pt>
    <dgm:pt modelId="{82D3FD3F-5A11-43FD-9293-82B6415EFC0B}" type="pres">
      <dgm:prSet presAssocID="{00A1FE73-5F44-4C3E-B0CE-0883B43FB28D}" presName="iconBgRect" presStyleLbl="bgShp" presStyleIdx="1" presStyleCnt="5"/>
      <dgm:spPr/>
    </dgm:pt>
    <dgm:pt modelId="{66D1E378-5668-4DC2-BE9A-354CCB11833C}" type="pres">
      <dgm:prSet presAssocID="{00A1FE73-5F44-4C3E-B0CE-0883B43FB28D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E8A88AD9-EC32-48F5-BD02-D2845DD6FE20}" type="pres">
      <dgm:prSet presAssocID="{00A1FE73-5F44-4C3E-B0CE-0883B43FB28D}" presName="spaceRect" presStyleCnt="0"/>
      <dgm:spPr/>
    </dgm:pt>
    <dgm:pt modelId="{D8A07C9C-5CCE-4DF0-AF25-5BF956BD1053}" type="pres">
      <dgm:prSet presAssocID="{00A1FE73-5F44-4C3E-B0CE-0883B43FB28D}" presName="textRect" presStyleLbl="revTx" presStyleIdx="1" presStyleCnt="5">
        <dgm:presLayoutVars>
          <dgm:chMax val="1"/>
          <dgm:chPref val="1"/>
        </dgm:presLayoutVars>
      </dgm:prSet>
      <dgm:spPr/>
    </dgm:pt>
    <dgm:pt modelId="{E1DB070E-C50D-4C1A-A558-60395211A3FC}" type="pres">
      <dgm:prSet presAssocID="{4E106E1A-1C4D-45A6-8CAF-7DF4ED51AF39}" presName="sibTrans" presStyleLbl="sibTrans2D1" presStyleIdx="0" presStyleCnt="0"/>
      <dgm:spPr/>
    </dgm:pt>
    <dgm:pt modelId="{033F6B05-0116-4BD2-A345-E5B4ACB668AD}" type="pres">
      <dgm:prSet presAssocID="{A8DD008A-9A50-41BD-AF26-98315739D16A}" presName="compNode" presStyleCnt="0"/>
      <dgm:spPr/>
    </dgm:pt>
    <dgm:pt modelId="{4756A731-F3AB-464A-BDA2-4ED464865119}" type="pres">
      <dgm:prSet presAssocID="{A8DD008A-9A50-41BD-AF26-98315739D16A}" presName="iconBgRect" presStyleLbl="bgShp" presStyleIdx="2" presStyleCnt="5"/>
      <dgm:spPr/>
    </dgm:pt>
    <dgm:pt modelId="{51FF230D-58A4-42AE-886B-57126257F776}" type="pres">
      <dgm:prSet presAssocID="{A8DD008A-9A50-41BD-AF26-98315739D16A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awl"/>
        </a:ext>
      </dgm:extLst>
    </dgm:pt>
    <dgm:pt modelId="{CADB47C0-DD00-4814-BE05-DB0419D6224B}" type="pres">
      <dgm:prSet presAssocID="{A8DD008A-9A50-41BD-AF26-98315739D16A}" presName="spaceRect" presStyleCnt="0"/>
      <dgm:spPr/>
    </dgm:pt>
    <dgm:pt modelId="{D6E029EA-D13A-4902-8019-6BB945011DE9}" type="pres">
      <dgm:prSet presAssocID="{A8DD008A-9A50-41BD-AF26-98315739D16A}" presName="textRect" presStyleLbl="revTx" presStyleIdx="2" presStyleCnt="5">
        <dgm:presLayoutVars>
          <dgm:chMax val="1"/>
          <dgm:chPref val="1"/>
        </dgm:presLayoutVars>
      </dgm:prSet>
      <dgm:spPr/>
    </dgm:pt>
    <dgm:pt modelId="{AEBA008F-D6DD-4C45-B278-BB62BE11DB3D}" type="pres">
      <dgm:prSet presAssocID="{45B5622C-037B-48CB-868C-3BD952CDEB5B}" presName="sibTrans" presStyleLbl="sibTrans2D1" presStyleIdx="0" presStyleCnt="0"/>
      <dgm:spPr/>
    </dgm:pt>
    <dgm:pt modelId="{F0BCBB15-923B-4206-935C-DB231BE5CFBF}" type="pres">
      <dgm:prSet presAssocID="{C17F1D15-DF37-43BC-8EB3-CCE815763BC6}" presName="compNode" presStyleCnt="0"/>
      <dgm:spPr/>
    </dgm:pt>
    <dgm:pt modelId="{DF683A53-6133-4C25-9806-22A5A49FD6B6}" type="pres">
      <dgm:prSet presAssocID="{C17F1D15-DF37-43BC-8EB3-CCE815763BC6}" presName="iconBgRect" presStyleLbl="bgShp" presStyleIdx="3" presStyleCnt="5"/>
      <dgm:spPr/>
    </dgm:pt>
    <dgm:pt modelId="{568D791D-1E0E-41AB-AD90-A9E41671D04B}" type="pres">
      <dgm:prSet presAssocID="{C17F1D15-DF37-43BC-8EB3-CCE815763BC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B2895257-73C3-462F-A205-9B8A79535876}" type="pres">
      <dgm:prSet presAssocID="{C17F1D15-DF37-43BC-8EB3-CCE815763BC6}" presName="spaceRect" presStyleCnt="0"/>
      <dgm:spPr/>
    </dgm:pt>
    <dgm:pt modelId="{034F89D3-70B1-4D87-8D5C-E1DD9FA5E2F6}" type="pres">
      <dgm:prSet presAssocID="{C17F1D15-DF37-43BC-8EB3-CCE815763BC6}" presName="textRect" presStyleLbl="revTx" presStyleIdx="3" presStyleCnt="5">
        <dgm:presLayoutVars>
          <dgm:chMax val="1"/>
          <dgm:chPref val="1"/>
        </dgm:presLayoutVars>
      </dgm:prSet>
      <dgm:spPr/>
    </dgm:pt>
    <dgm:pt modelId="{A12818E1-28D9-4344-B14D-2A0AFE1F6E5A}" type="pres">
      <dgm:prSet presAssocID="{B59CCB87-58A6-45FF-A4CA-C660DEF36F21}" presName="sibTrans" presStyleLbl="sibTrans2D1" presStyleIdx="0" presStyleCnt="0"/>
      <dgm:spPr/>
    </dgm:pt>
    <dgm:pt modelId="{003CDCCF-F1F3-4F18-8E38-BCCF1A5BE227}" type="pres">
      <dgm:prSet presAssocID="{AFE0B4C8-3B63-4DC7-A904-D03381DD9858}" presName="compNode" presStyleCnt="0"/>
      <dgm:spPr/>
    </dgm:pt>
    <dgm:pt modelId="{0F5983A0-AB29-46AC-8EEE-FBCE57B6D86E}" type="pres">
      <dgm:prSet presAssocID="{AFE0B4C8-3B63-4DC7-A904-D03381DD9858}" presName="iconBgRect" presStyleLbl="bgShp" presStyleIdx="4" presStyleCnt="5"/>
      <dgm:spPr/>
    </dgm:pt>
    <dgm:pt modelId="{0768F773-54B3-4DD2-B6C7-7879830A2A26}" type="pres">
      <dgm:prSet presAssocID="{AFE0B4C8-3B63-4DC7-A904-D03381DD985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76D1BCF9-74F4-4D43-8448-6BADD1AFE31F}" type="pres">
      <dgm:prSet presAssocID="{AFE0B4C8-3B63-4DC7-A904-D03381DD9858}" presName="spaceRect" presStyleCnt="0"/>
      <dgm:spPr/>
    </dgm:pt>
    <dgm:pt modelId="{BD25B070-21A5-486D-8939-5303C4C11858}" type="pres">
      <dgm:prSet presAssocID="{AFE0B4C8-3B63-4DC7-A904-D03381DD9858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9E1D0604-7EB0-4981-AC8E-B3780176C7BE}" type="presOf" srcId="{10C0A95C-1BBF-44EA-9D88-55AC0A84BD1B}" destId="{2831FB22-6CBF-47ED-AB0F-B78D77CDA5C3}" srcOrd="0" destOrd="0" presId="urn:microsoft.com/office/officeart/2018/2/layout/IconCircleList"/>
    <dgm:cxn modelId="{B1BD4312-CFFE-4B03-9763-6D1C3CB624CD}" type="presOf" srcId="{A8DD008A-9A50-41BD-AF26-98315739D16A}" destId="{D6E029EA-D13A-4902-8019-6BB945011DE9}" srcOrd="0" destOrd="0" presId="urn:microsoft.com/office/officeart/2018/2/layout/IconCircleList"/>
    <dgm:cxn modelId="{C63DEF14-7DAB-483E-8965-3E3EB3B5B729}" type="presOf" srcId="{B59CCB87-58A6-45FF-A4CA-C660DEF36F21}" destId="{A12818E1-28D9-4344-B14D-2A0AFE1F6E5A}" srcOrd="0" destOrd="0" presId="urn:microsoft.com/office/officeart/2018/2/layout/IconCircleList"/>
    <dgm:cxn modelId="{C6DFCA19-7F9A-48F6-A317-4799303CAACF}" type="presOf" srcId="{45B5622C-037B-48CB-868C-3BD952CDEB5B}" destId="{AEBA008F-D6DD-4C45-B278-BB62BE11DB3D}" srcOrd="0" destOrd="0" presId="urn:microsoft.com/office/officeart/2018/2/layout/IconCircleList"/>
    <dgm:cxn modelId="{853C5627-11A4-42BB-B34F-813E76924BD4}" srcId="{9F239F83-5D43-4B46-AABD-FD9F47976263}" destId="{AFE0B4C8-3B63-4DC7-A904-D03381DD9858}" srcOrd="4" destOrd="0" parTransId="{A5541D55-D810-48C6-BF63-9A170FF490D6}" sibTransId="{D66322B3-B020-49BA-8C51-49FE98650BE3}"/>
    <dgm:cxn modelId="{C5689E33-0FB3-450E-9EAC-2116C5D84B69}" srcId="{9F239F83-5D43-4B46-AABD-FD9F47976263}" destId="{10C0A95C-1BBF-44EA-9D88-55AC0A84BD1B}" srcOrd="0" destOrd="0" parTransId="{904363F4-473C-43B6-B1FD-9E537429F9B9}" sibTransId="{67FEDC6A-12C2-4434-A0F8-86E00A0EBD15}"/>
    <dgm:cxn modelId="{3EE45653-7201-4B8A-A98B-BB926E036EBE}" type="presOf" srcId="{9F239F83-5D43-4B46-AABD-FD9F47976263}" destId="{16B7846C-5DC8-443F-BA21-40198781E0BC}" srcOrd="0" destOrd="0" presId="urn:microsoft.com/office/officeart/2018/2/layout/IconCircleList"/>
    <dgm:cxn modelId="{1BFE6961-3865-4E85-9797-19E44BF96360}" type="presOf" srcId="{4E106E1A-1C4D-45A6-8CAF-7DF4ED51AF39}" destId="{E1DB070E-C50D-4C1A-A558-60395211A3FC}" srcOrd="0" destOrd="0" presId="urn:microsoft.com/office/officeart/2018/2/layout/IconCircleList"/>
    <dgm:cxn modelId="{4A23BF72-D880-42A9-A058-CCFEC8310252}" type="presOf" srcId="{C17F1D15-DF37-43BC-8EB3-CCE815763BC6}" destId="{034F89D3-70B1-4D87-8D5C-E1DD9FA5E2F6}" srcOrd="0" destOrd="0" presId="urn:microsoft.com/office/officeart/2018/2/layout/IconCircleList"/>
    <dgm:cxn modelId="{5D24909E-7B80-4A66-8A7E-EB61CAEA74F6}" srcId="{9F239F83-5D43-4B46-AABD-FD9F47976263}" destId="{C17F1D15-DF37-43BC-8EB3-CCE815763BC6}" srcOrd="3" destOrd="0" parTransId="{95A6FC49-CCC9-49DE-B52D-A880F210667F}" sibTransId="{B59CCB87-58A6-45FF-A4CA-C660DEF36F21}"/>
    <dgm:cxn modelId="{14F46BA3-CF3F-4144-9B9B-AA37CE02E891}" srcId="{9F239F83-5D43-4B46-AABD-FD9F47976263}" destId="{A8DD008A-9A50-41BD-AF26-98315739D16A}" srcOrd="2" destOrd="0" parTransId="{5918BDDF-2219-4750-A6A2-2F84085ED2D2}" sibTransId="{45B5622C-037B-48CB-868C-3BD952CDEB5B}"/>
    <dgm:cxn modelId="{CCC3ECB0-7DC8-4589-ADA1-64889A08B699}" type="presOf" srcId="{AFE0B4C8-3B63-4DC7-A904-D03381DD9858}" destId="{BD25B070-21A5-486D-8939-5303C4C11858}" srcOrd="0" destOrd="0" presId="urn:microsoft.com/office/officeart/2018/2/layout/IconCircleList"/>
    <dgm:cxn modelId="{A1E111B7-65FC-4D89-91DC-6ABE8520E2A8}" type="presOf" srcId="{00A1FE73-5F44-4C3E-B0CE-0883B43FB28D}" destId="{D8A07C9C-5CCE-4DF0-AF25-5BF956BD1053}" srcOrd="0" destOrd="0" presId="urn:microsoft.com/office/officeart/2018/2/layout/IconCircleList"/>
    <dgm:cxn modelId="{219288EA-8DE9-476A-B82D-79B735A98E55}" type="presOf" srcId="{67FEDC6A-12C2-4434-A0F8-86E00A0EBD15}" destId="{D04F571C-C7B5-42AE-87C3-A8EAE6A6147D}" srcOrd="0" destOrd="0" presId="urn:microsoft.com/office/officeart/2018/2/layout/IconCircleList"/>
    <dgm:cxn modelId="{BB2ABEFE-D29C-4131-A340-54FE1BC0D0FA}" srcId="{9F239F83-5D43-4B46-AABD-FD9F47976263}" destId="{00A1FE73-5F44-4C3E-B0CE-0883B43FB28D}" srcOrd="1" destOrd="0" parTransId="{242183CB-4B91-4D6E-B5D9-4FF3A9957715}" sibTransId="{4E106E1A-1C4D-45A6-8CAF-7DF4ED51AF39}"/>
    <dgm:cxn modelId="{5C1570A7-53B6-4D41-A5C7-1A847A6AD2C0}" type="presParOf" srcId="{16B7846C-5DC8-443F-BA21-40198781E0BC}" destId="{3C9F101A-5C23-4E5D-95BF-9AA5DA89591A}" srcOrd="0" destOrd="0" presId="urn:microsoft.com/office/officeart/2018/2/layout/IconCircleList"/>
    <dgm:cxn modelId="{8E383B4A-6F58-4ADC-B26D-5E6E8C921841}" type="presParOf" srcId="{3C9F101A-5C23-4E5D-95BF-9AA5DA89591A}" destId="{9B41985C-D8F8-43EC-A2B6-33ED79D8D1E1}" srcOrd="0" destOrd="0" presId="urn:microsoft.com/office/officeart/2018/2/layout/IconCircleList"/>
    <dgm:cxn modelId="{19207ED4-709E-41A6-A9B9-07A685344385}" type="presParOf" srcId="{9B41985C-D8F8-43EC-A2B6-33ED79D8D1E1}" destId="{1D3079F1-892E-4548-9030-F7C65D71655C}" srcOrd="0" destOrd="0" presId="urn:microsoft.com/office/officeart/2018/2/layout/IconCircleList"/>
    <dgm:cxn modelId="{0A3ECC99-7EE9-479B-9888-2C0FF7975469}" type="presParOf" srcId="{9B41985C-D8F8-43EC-A2B6-33ED79D8D1E1}" destId="{DF31D96B-275A-41F7-A971-A7D51D391B25}" srcOrd="1" destOrd="0" presId="urn:microsoft.com/office/officeart/2018/2/layout/IconCircleList"/>
    <dgm:cxn modelId="{7B6CFEDF-4F83-4878-83A2-0F9137212623}" type="presParOf" srcId="{9B41985C-D8F8-43EC-A2B6-33ED79D8D1E1}" destId="{5C3F5ACC-E3A8-458D-B8AA-889CF77C5689}" srcOrd="2" destOrd="0" presId="urn:microsoft.com/office/officeart/2018/2/layout/IconCircleList"/>
    <dgm:cxn modelId="{30E518C8-C524-40EC-AC01-8A8F2C1FA6BB}" type="presParOf" srcId="{9B41985C-D8F8-43EC-A2B6-33ED79D8D1E1}" destId="{2831FB22-6CBF-47ED-AB0F-B78D77CDA5C3}" srcOrd="3" destOrd="0" presId="urn:microsoft.com/office/officeart/2018/2/layout/IconCircleList"/>
    <dgm:cxn modelId="{EDB27117-6BF3-4290-81A0-6EE3403B5342}" type="presParOf" srcId="{3C9F101A-5C23-4E5D-95BF-9AA5DA89591A}" destId="{D04F571C-C7B5-42AE-87C3-A8EAE6A6147D}" srcOrd="1" destOrd="0" presId="urn:microsoft.com/office/officeart/2018/2/layout/IconCircleList"/>
    <dgm:cxn modelId="{8EFD6C04-0ED8-4D6C-A7F8-3E481629D766}" type="presParOf" srcId="{3C9F101A-5C23-4E5D-95BF-9AA5DA89591A}" destId="{B0C941FA-5B59-4604-B996-AA05F04C8D4D}" srcOrd="2" destOrd="0" presId="urn:microsoft.com/office/officeart/2018/2/layout/IconCircleList"/>
    <dgm:cxn modelId="{F3DB337E-9DAE-4F85-8927-0F901FFF3466}" type="presParOf" srcId="{B0C941FA-5B59-4604-B996-AA05F04C8D4D}" destId="{82D3FD3F-5A11-43FD-9293-82B6415EFC0B}" srcOrd="0" destOrd="0" presId="urn:microsoft.com/office/officeart/2018/2/layout/IconCircleList"/>
    <dgm:cxn modelId="{82B3038A-BFAC-4435-82EA-2878392C0D60}" type="presParOf" srcId="{B0C941FA-5B59-4604-B996-AA05F04C8D4D}" destId="{66D1E378-5668-4DC2-BE9A-354CCB11833C}" srcOrd="1" destOrd="0" presId="urn:microsoft.com/office/officeart/2018/2/layout/IconCircleList"/>
    <dgm:cxn modelId="{17159AD8-0D76-4261-8928-46779E5DB9EF}" type="presParOf" srcId="{B0C941FA-5B59-4604-B996-AA05F04C8D4D}" destId="{E8A88AD9-EC32-48F5-BD02-D2845DD6FE20}" srcOrd="2" destOrd="0" presId="urn:microsoft.com/office/officeart/2018/2/layout/IconCircleList"/>
    <dgm:cxn modelId="{614E1B2A-17FC-4695-9371-C6C1E3119474}" type="presParOf" srcId="{B0C941FA-5B59-4604-B996-AA05F04C8D4D}" destId="{D8A07C9C-5CCE-4DF0-AF25-5BF956BD1053}" srcOrd="3" destOrd="0" presId="urn:microsoft.com/office/officeart/2018/2/layout/IconCircleList"/>
    <dgm:cxn modelId="{7156E69D-FF56-4562-99C1-BE6F8D2D2C40}" type="presParOf" srcId="{3C9F101A-5C23-4E5D-95BF-9AA5DA89591A}" destId="{E1DB070E-C50D-4C1A-A558-60395211A3FC}" srcOrd="3" destOrd="0" presId="urn:microsoft.com/office/officeart/2018/2/layout/IconCircleList"/>
    <dgm:cxn modelId="{638F6956-F7AA-42BD-8007-FF4FF8913C77}" type="presParOf" srcId="{3C9F101A-5C23-4E5D-95BF-9AA5DA89591A}" destId="{033F6B05-0116-4BD2-A345-E5B4ACB668AD}" srcOrd="4" destOrd="0" presId="urn:microsoft.com/office/officeart/2018/2/layout/IconCircleList"/>
    <dgm:cxn modelId="{2149E3EC-1A7F-492B-99CA-DBA4B22F5194}" type="presParOf" srcId="{033F6B05-0116-4BD2-A345-E5B4ACB668AD}" destId="{4756A731-F3AB-464A-BDA2-4ED464865119}" srcOrd="0" destOrd="0" presId="urn:microsoft.com/office/officeart/2018/2/layout/IconCircleList"/>
    <dgm:cxn modelId="{21497525-9B37-4EDF-92AD-3F77D4283A4A}" type="presParOf" srcId="{033F6B05-0116-4BD2-A345-E5B4ACB668AD}" destId="{51FF230D-58A4-42AE-886B-57126257F776}" srcOrd="1" destOrd="0" presId="urn:microsoft.com/office/officeart/2018/2/layout/IconCircleList"/>
    <dgm:cxn modelId="{A8D6353F-463B-4463-8FD9-8910939228D9}" type="presParOf" srcId="{033F6B05-0116-4BD2-A345-E5B4ACB668AD}" destId="{CADB47C0-DD00-4814-BE05-DB0419D6224B}" srcOrd="2" destOrd="0" presId="urn:microsoft.com/office/officeart/2018/2/layout/IconCircleList"/>
    <dgm:cxn modelId="{18A7A8B2-C94D-4B5F-83D0-9550FE06F64C}" type="presParOf" srcId="{033F6B05-0116-4BD2-A345-E5B4ACB668AD}" destId="{D6E029EA-D13A-4902-8019-6BB945011DE9}" srcOrd="3" destOrd="0" presId="urn:microsoft.com/office/officeart/2018/2/layout/IconCircleList"/>
    <dgm:cxn modelId="{01D82642-4E43-4DF8-8214-1763E3C4B0B2}" type="presParOf" srcId="{3C9F101A-5C23-4E5D-95BF-9AA5DA89591A}" destId="{AEBA008F-D6DD-4C45-B278-BB62BE11DB3D}" srcOrd="5" destOrd="0" presId="urn:microsoft.com/office/officeart/2018/2/layout/IconCircleList"/>
    <dgm:cxn modelId="{C18685D1-CCF3-4D6F-BD04-EE92C77A961F}" type="presParOf" srcId="{3C9F101A-5C23-4E5D-95BF-9AA5DA89591A}" destId="{F0BCBB15-923B-4206-935C-DB231BE5CFBF}" srcOrd="6" destOrd="0" presId="urn:microsoft.com/office/officeart/2018/2/layout/IconCircleList"/>
    <dgm:cxn modelId="{DC0FB08D-C864-47DB-9611-FC9427D91667}" type="presParOf" srcId="{F0BCBB15-923B-4206-935C-DB231BE5CFBF}" destId="{DF683A53-6133-4C25-9806-22A5A49FD6B6}" srcOrd="0" destOrd="0" presId="urn:microsoft.com/office/officeart/2018/2/layout/IconCircleList"/>
    <dgm:cxn modelId="{3228AFD8-9B33-4C42-8D1C-A5DE16F173F5}" type="presParOf" srcId="{F0BCBB15-923B-4206-935C-DB231BE5CFBF}" destId="{568D791D-1E0E-41AB-AD90-A9E41671D04B}" srcOrd="1" destOrd="0" presId="urn:microsoft.com/office/officeart/2018/2/layout/IconCircleList"/>
    <dgm:cxn modelId="{526251D1-0AFC-483D-8954-F5019C8BF93C}" type="presParOf" srcId="{F0BCBB15-923B-4206-935C-DB231BE5CFBF}" destId="{B2895257-73C3-462F-A205-9B8A79535876}" srcOrd="2" destOrd="0" presId="urn:microsoft.com/office/officeart/2018/2/layout/IconCircleList"/>
    <dgm:cxn modelId="{5961C2F4-FF98-483F-A8BA-7EFA0EADAB4E}" type="presParOf" srcId="{F0BCBB15-923B-4206-935C-DB231BE5CFBF}" destId="{034F89D3-70B1-4D87-8D5C-E1DD9FA5E2F6}" srcOrd="3" destOrd="0" presId="urn:microsoft.com/office/officeart/2018/2/layout/IconCircleList"/>
    <dgm:cxn modelId="{D32C97E0-29EE-4E0C-80F2-350796589163}" type="presParOf" srcId="{3C9F101A-5C23-4E5D-95BF-9AA5DA89591A}" destId="{A12818E1-28D9-4344-B14D-2A0AFE1F6E5A}" srcOrd="7" destOrd="0" presId="urn:microsoft.com/office/officeart/2018/2/layout/IconCircleList"/>
    <dgm:cxn modelId="{FE9DED40-599C-42C5-B13D-E3220EE65721}" type="presParOf" srcId="{3C9F101A-5C23-4E5D-95BF-9AA5DA89591A}" destId="{003CDCCF-F1F3-4F18-8E38-BCCF1A5BE227}" srcOrd="8" destOrd="0" presId="urn:microsoft.com/office/officeart/2018/2/layout/IconCircleList"/>
    <dgm:cxn modelId="{078F0620-8922-4315-B849-73366B56539E}" type="presParOf" srcId="{003CDCCF-F1F3-4F18-8E38-BCCF1A5BE227}" destId="{0F5983A0-AB29-46AC-8EEE-FBCE57B6D86E}" srcOrd="0" destOrd="0" presId="urn:microsoft.com/office/officeart/2018/2/layout/IconCircleList"/>
    <dgm:cxn modelId="{5CC37FFF-FD9A-4B8C-8D6F-B1220D3BED10}" type="presParOf" srcId="{003CDCCF-F1F3-4F18-8E38-BCCF1A5BE227}" destId="{0768F773-54B3-4DD2-B6C7-7879830A2A26}" srcOrd="1" destOrd="0" presId="urn:microsoft.com/office/officeart/2018/2/layout/IconCircleList"/>
    <dgm:cxn modelId="{401F9C7E-D76A-42C9-B3C7-18EC4BFDA1BC}" type="presParOf" srcId="{003CDCCF-F1F3-4F18-8E38-BCCF1A5BE227}" destId="{76D1BCF9-74F4-4D43-8448-6BADD1AFE31F}" srcOrd="2" destOrd="0" presId="urn:microsoft.com/office/officeart/2018/2/layout/IconCircleList"/>
    <dgm:cxn modelId="{D4E652EA-968B-421E-8CA8-1EF46C3CF0CA}" type="presParOf" srcId="{003CDCCF-F1F3-4F18-8E38-BCCF1A5BE227}" destId="{BD25B070-21A5-486D-8939-5303C4C1185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F08E182-213D-4506-A0EF-A95F7E9A80F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461F358-7AE2-4C1B-99A1-BCD0542F16EC}">
      <dgm:prSet/>
      <dgm:spPr/>
      <dgm:t>
        <a:bodyPr/>
        <a:lstStyle/>
        <a:p>
          <a:r>
            <a:rPr lang="en-GB" b="1"/>
            <a:t>HTM Classifier:</a:t>
          </a:r>
          <a:r>
            <a:rPr lang="en-GB"/>
            <a:t> Learns patterns from SDRs (Sparse Distributed Representations).</a:t>
          </a:r>
          <a:endParaRPr lang="en-US"/>
        </a:p>
      </dgm:t>
    </dgm:pt>
    <dgm:pt modelId="{17BDA26C-98AF-4A2E-9EBA-861B613FD08F}" type="parTrans" cxnId="{2E2ECD0A-A7A9-400F-8821-E34451E68FD7}">
      <dgm:prSet/>
      <dgm:spPr/>
      <dgm:t>
        <a:bodyPr/>
        <a:lstStyle/>
        <a:p>
          <a:endParaRPr lang="en-US"/>
        </a:p>
      </dgm:t>
    </dgm:pt>
    <dgm:pt modelId="{E0B59BD5-2BFC-44BE-B27D-A8FD6729CDA7}" type="sibTrans" cxnId="{2E2ECD0A-A7A9-400F-8821-E34451E68FD7}">
      <dgm:prSet/>
      <dgm:spPr/>
      <dgm:t>
        <a:bodyPr/>
        <a:lstStyle/>
        <a:p>
          <a:endParaRPr lang="en-US"/>
        </a:p>
      </dgm:t>
    </dgm:pt>
    <dgm:pt modelId="{21830E9D-963B-46A2-83E0-FB48CA4AE665}">
      <dgm:prSet/>
      <dgm:spPr/>
      <dgm:t>
        <a:bodyPr/>
        <a:lstStyle/>
        <a:p>
          <a:r>
            <a:rPr lang="en-GB" b="1"/>
            <a:t>KNN Classifier:</a:t>
          </a:r>
          <a:r>
            <a:rPr lang="en-GB"/>
            <a:t> Uses stored examples to classify new inputs based on nearest neighbors.</a:t>
          </a:r>
          <a:endParaRPr lang="en-US"/>
        </a:p>
      </dgm:t>
    </dgm:pt>
    <dgm:pt modelId="{E92A1F14-2BC0-4776-B046-8B47EEA865BC}" type="parTrans" cxnId="{42AA7F66-F1B1-49AA-BB4E-6FF84476CDE6}">
      <dgm:prSet/>
      <dgm:spPr/>
      <dgm:t>
        <a:bodyPr/>
        <a:lstStyle/>
        <a:p>
          <a:endParaRPr lang="en-US"/>
        </a:p>
      </dgm:t>
    </dgm:pt>
    <dgm:pt modelId="{BD3880C4-44AE-4A96-9BEA-1DD14D73594F}" type="sibTrans" cxnId="{42AA7F66-F1B1-49AA-BB4E-6FF84476CDE6}">
      <dgm:prSet/>
      <dgm:spPr/>
      <dgm:t>
        <a:bodyPr/>
        <a:lstStyle/>
        <a:p>
          <a:endParaRPr lang="en-US"/>
        </a:p>
      </dgm:t>
    </dgm:pt>
    <dgm:pt modelId="{F8E35E6A-55C9-41D8-85CB-E1541C09D1E9}">
      <dgm:prSet/>
      <dgm:spPr/>
      <dgm:t>
        <a:bodyPr/>
        <a:lstStyle/>
        <a:p>
          <a:r>
            <a:rPr lang="en-GB" b="1"/>
            <a:t>Why Classifiers?</a:t>
          </a:r>
          <a:r>
            <a:rPr lang="en-GB"/>
            <a:t> Used to reconstruct the original input from SDRs.</a:t>
          </a:r>
          <a:endParaRPr lang="en-US"/>
        </a:p>
      </dgm:t>
    </dgm:pt>
    <dgm:pt modelId="{D3E611E7-F7BC-4471-BAE8-FAF799981ED8}" type="parTrans" cxnId="{AE1B47D7-F797-4A3F-AB73-7DD985B4C700}">
      <dgm:prSet/>
      <dgm:spPr/>
      <dgm:t>
        <a:bodyPr/>
        <a:lstStyle/>
        <a:p>
          <a:endParaRPr lang="en-US"/>
        </a:p>
      </dgm:t>
    </dgm:pt>
    <dgm:pt modelId="{2B7D270F-3956-4FE0-9477-F7BECAE3D328}" type="sibTrans" cxnId="{AE1B47D7-F797-4A3F-AB73-7DD985B4C700}">
      <dgm:prSet/>
      <dgm:spPr/>
      <dgm:t>
        <a:bodyPr/>
        <a:lstStyle/>
        <a:p>
          <a:endParaRPr lang="en-US"/>
        </a:p>
      </dgm:t>
    </dgm:pt>
    <dgm:pt modelId="{5C1C285B-C9E2-4D7C-9A1E-BEBE6A1C8826}" type="pres">
      <dgm:prSet presAssocID="{7F08E182-213D-4506-A0EF-A95F7E9A80F6}" presName="root" presStyleCnt="0">
        <dgm:presLayoutVars>
          <dgm:dir/>
          <dgm:resizeHandles val="exact"/>
        </dgm:presLayoutVars>
      </dgm:prSet>
      <dgm:spPr/>
    </dgm:pt>
    <dgm:pt modelId="{5822EEBC-1B64-4157-A7C7-1CA6CBF5D10F}" type="pres">
      <dgm:prSet presAssocID="{5461F358-7AE2-4C1B-99A1-BCD0542F16EC}" presName="compNode" presStyleCnt="0"/>
      <dgm:spPr/>
    </dgm:pt>
    <dgm:pt modelId="{326DCCE4-B2C1-4968-BE36-A03E06E54FB9}" type="pres">
      <dgm:prSet presAssocID="{5461F358-7AE2-4C1B-99A1-BCD0542F16EC}" presName="bgRect" presStyleLbl="bgShp" presStyleIdx="0" presStyleCnt="3"/>
      <dgm:spPr/>
    </dgm:pt>
    <dgm:pt modelId="{5347E56A-71BB-4580-8D25-2D6CEC6A2FFD}" type="pres">
      <dgm:prSet presAssocID="{5461F358-7AE2-4C1B-99A1-BCD0542F16E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A82667B-F949-46C6-BB30-F0C907BF9884}" type="pres">
      <dgm:prSet presAssocID="{5461F358-7AE2-4C1B-99A1-BCD0542F16EC}" presName="spaceRect" presStyleCnt="0"/>
      <dgm:spPr/>
    </dgm:pt>
    <dgm:pt modelId="{361CA04A-C186-45D1-B68B-96014F191099}" type="pres">
      <dgm:prSet presAssocID="{5461F358-7AE2-4C1B-99A1-BCD0542F16EC}" presName="parTx" presStyleLbl="revTx" presStyleIdx="0" presStyleCnt="3">
        <dgm:presLayoutVars>
          <dgm:chMax val="0"/>
          <dgm:chPref val="0"/>
        </dgm:presLayoutVars>
      </dgm:prSet>
      <dgm:spPr/>
    </dgm:pt>
    <dgm:pt modelId="{EBC135D4-01EF-4C07-9D63-8C387DA287D6}" type="pres">
      <dgm:prSet presAssocID="{E0B59BD5-2BFC-44BE-B27D-A8FD6729CDA7}" presName="sibTrans" presStyleCnt="0"/>
      <dgm:spPr/>
    </dgm:pt>
    <dgm:pt modelId="{A2183297-7813-4983-909C-8A8E98ACC357}" type="pres">
      <dgm:prSet presAssocID="{21830E9D-963B-46A2-83E0-FB48CA4AE665}" presName="compNode" presStyleCnt="0"/>
      <dgm:spPr/>
    </dgm:pt>
    <dgm:pt modelId="{7B70C574-8017-4A0B-9262-CA8F1653A6C5}" type="pres">
      <dgm:prSet presAssocID="{21830E9D-963B-46A2-83E0-FB48CA4AE665}" presName="bgRect" presStyleLbl="bgShp" presStyleIdx="1" presStyleCnt="3"/>
      <dgm:spPr/>
    </dgm:pt>
    <dgm:pt modelId="{69A84A99-FB62-478F-8931-EE137927CAD3}" type="pres">
      <dgm:prSet presAssocID="{21830E9D-963B-46A2-83E0-FB48CA4AE66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201A879F-85CE-47A5-B305-15B05046A15F}" type="pres">
      <dgm:prSet presAssocID="{21830E9D-963B-46A2-83E0-FB48CA4AE665}" presName="spaceRect" presStyleCnt="0"/>
      <dgm:spPr/>
    </dgm:pt>
    <dgm:pt modelId="{4A6B5AC6-A9AD-4CD5-9AC9-C6E844BF8602}" type="pres">
      <dgm:prSet presAssocID="{21830E9D-963B-46A2-83E0-FB48CA4AE665}" presName="parTx" presStyleLbl="revTx" presStyleIdx="1" presStyleCnt="3">
        <dgm:presLayoutVars>
          <dgm:chMax val="0"/>
          <dgm:chPref val="0"/>
        </dgm:presLayoutVars>
      </dgm:prSet>
      <dgm:spPr/>
    </dgm:pt>
    <dgm:pt modelId="{9143E7C6-F186-4BFF-BA3B-3983B8A35AAD}" type="pres">
      <dgm:prSet presAssocID="{BD3880C4-44AE-4A96-9BEA-1DD14D73594F}" presName="sibTrans" presStyleCnt="0"/>
      <dgm:spPr/>
    </dgm:pt>
    <dgm:pt modelId="{78C678D5-5EC5-4D85-B94F-A33A451FE63A}" type="pres">
      <dgm:prSet presAssocID="{F8E35E6A-55C9-41D8-85CB-E1541C09D1E9}" presName="compNode" presStyleCnt="0"/>
      <dgm:spPr/>
    </dgm:pt>
    <dgm:pt modelId="{C2F76397-63A4-4672-AE7A-4B49CD6F58E6}" type="pres">
      <dgm:prSet presAssocID="{F8E35E6A-55C9-41D8-85CB-E1541C09D1E9}" presName="bgRect" presStyleLbl="bgShp" presStyleIdx="2" presStyleCnt="3"/>
      <dgm:spPr/>
    </dgm:pt>
    <dgm:pt modelId="{5475D4E3-89BD-4DBD-98BB-5F5CFA551E4D}" type="pres">
      <dgm:prSet presAssocID="{F8E35E6A-55C9-41D8-85CB-E1541C09D1E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789B75FB-34F5-455A-8C90-1610770BD98B}" type="pres">
      <dgm:prSet presAssocID="{F8E35E6A-55C9-41D8-85CB-E1541C09D1E9}" presName="spaceRect" presStyleCnt="0"/>
      <dgm:spPr/>
    </dgm:pt>
    <dgm:pt modelId="{1927BC3E-6BE9-4868-AAEC-D0BB21C622F9}" type="pres">
      <dgm:prSet presAssocID="{F8E35E6A-55C9-41D8-85CB-E1541C09D1E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B971410A-D3C4-4FED-BB42-E28B2D990192}" type="presOf" srcId="{21830E9D-963B-46A2-83E0-FB48CA4AE665}" destId="{4A6B5AC6-A9AD-4CD5-9AC9-C6E844BF8602}" srcOrd="0" destOrd="0" presId="urn:microsoft.com/office/officeart/2018/2/layout/IconVerticalSolidList"/>
    <dgm:cxn modelId="{2E2ECD0A-A7A9-400F-8821-E34451E68FD7}" srcId="{7F08E182-213D-4506-A0EF-A95F7E9A80F6}" destId="{5461F358-7AE2-4C1B-99A1-BCD0542F16EC}" srcOrd="0" destOrd="0" parTransId="{17BDA26C-98AF-4A2E-9EBA-861B613FD08F}" sibTransId="{E0B59BD5-2BFC-44BE-B27D-A8FD6729CDA7}"/>
    <dgm:cxn modelId="{42AA7F66-F1B1-49AA-BB4E-6FF84476CDE6}" srcId="{7F08E182-213D-4506-A0EF-A95F7E9A80F6}" destId="{21830E9D-963B-46A2-83E0-FB48CA4AE665}" srcOrd="1" destOrd="0" parTransId="{E92A1F14-2BC0-4776-B046-8B47EEA865BC}" sibTransId="{BD3880C4-44AE-4A96-9BEA-1DD14D73594F}"/>
    <dgm:cxn modelId="{246387B0-BF79-4686-91FC-75BE1D1167E3}" type="presOf" srcId="{5461F358-7AE2-4C1B-99A1-BCD0542F16EC}" destId="{361CA04A-C186-45D1-B68B-96014F191099}" srcOrd="0" destOrd="0" presId="urn:microsoft.com/office/officeart/2018/2/layout/IconVerticalSolidList"/>
    <dgm:cxn modelId="{AE1B47D7-F797-4A3F-AB73-7DD985B4C700}" srcId="{7F08E182-213D-4506-A0EF-A95F7E9A80F6}" destId="{F8E35E6A-55C9-41D8-85CB-E1541C09D1E9}" srcOrd="2" destOrd="0" parTransId="{D3E611E7-F7BC-4471-BAE8-FAF799981ED8}" sibTransId="{2B7D270F-3956-4FE0-9477-F7BECAE3D328}"/>
    <dgm:cxn modelId="{4B74DFF7-A32F-4941-B020-E6193D00473F}" type="presOf" srcId="{F8E35E6A-55C9-41D8-85CB-E1541C09D1E9}" destId="{1927BC3E-6BE9-4868-AAEC-D0BB21C622F9}" srcOrd="0" destOrd="0" presId="urn:microsoft.com/office/officeart/2018/2/layout/IconVerticalSolidList"/>
    <dgm:cxn modelId="{489309FE-F264-49D4-807F-A30A5904B0B9}" type="presOf" srcId="{7F08E182-213D-4506-A0EF-A95F7E9A80F6}" destId="{5C1C285B-C9E2-4D7C-9A1E-BEBE6A1C8826}" srcOrd="0" destOrd="0" presId="urn:microsoft.com/office/officeart/2018/2/layout/IconVerticalSolidList"/>
    <dgm:cxn modelId="{8F03C9C4-859B-429D-BD84-DD1A804EBC63}" type="presParOf" srcId="{5C1C285B-C9E2-4D7C-9A1E-BEBE6A1C8826}" destId="{5822EEBC-1B64-4157-A7C7-1CA6CBF5D10F}" srcOrd="0" destOrd="0" presId="urn:microsoft.com/office/officeart/2018/2/layout/IconVerticalSolidList"/>
    <dgm:cxn modelId="{1E86BA1B-A635-4DCA-BCFB-2753CD2E4DB1}" type="presParOf" srcId="{5822EEBC-1B64-4157-A7C7-1CA6CBF5D10F}" destId="{326DCCE4-B2C1-4968-BE36-A03E06E54FB9}" srcOrd="0" destOrd="0" presId="urn:microsoft.com/office/officeart/2018/2/layout/IconVerticalSolidList"/>
    <dgm:cxn modelId="{23F5A90E-6FBF-4ADE-B3F1-919B52A2BC90}" type="presParOf" srcId="{5822EEBC-1B64-4157-A7C7-1CA6CBF5D10F}" destId="{5347E56A-71BB-4580-8D25-2D6CEC6A2FFD}" srcOrd="1" destOrd="0" presId="urn:microsoft.com/office/officeart/2018/2/layout/IconVerticalSolidList"/>
    <dgm:cxn modelId="{20DA9357-4BDA-437A-B53D-4F5A586484B5}" type="presParOf" srcId="{5822EEBC-1B64-4157-A7C7-1CA6CBF5D10F}" destId="{EA82667B-F949-46C6-BB30-F0C907BF9884}" srcOrd="2" destOrd="0" presId="urn:microsoft.com/office/officeart/2018/2/layout/IconVerticalSolidList"/>
    <dgm:cxn modelId="{3C2BB288-11BB-4908-AEBF-AD7FBC0FF6CE}" type="presParOf" srcId="{5822EEBC-1B64-4157-A7C7-1CA6CBF5D10F}" destId="{361CA04A-C186-45D1-B68B-96014F191099}" srcOrd="3" destOrd="0" presId="urn:microsoft.com/office/officeart/2018/2/layout/IconVerticalSolidList"/>
    <dgm:cxn modelId="{03154AAC-D79D-4C64-BF10-08CB45C60FA7}" type="presParOf" srcId="{5C1C285B-C9E2-4D7C-9A1E-BEBE6A1C8826}" destId="{EBC135D4-01EF-4C07-9D63-8C387DA287D6}" srcOrd="1" destOrd="0" presId="urn:microsoft.com/office/officeart/2018/2/layout/IconVerticalSolidList"/>
    <dgm:cxn modelId="{A9AC6996-D8EC-4F32-BDDA-4CBD8A235778}" type="presParOf" srcId="{5C1C285B-C9E2-4D7C-9A1E-BEBE6A1C8826}" destId="{A2183297-7813-4983-909C-8A8E98ACC357}" srcOrd="2" destOrd="0" presId="urn:microsoft.com/office/officeart/2018/2/layout/IconVerticalSolidList"/>
    <dgm:cxn modelId="{810DB6B9-43BA-4571-9D52-3AE82FC3D36E}" type="presParOf" srcId="{A2183297-7813-4983-909C-8A8E98ACC357}" destId="{7B70C574-8017-4A0B-9262-CA8F1653A6C5}" srcOrd="0" destOrd="0" presId="urn:microsoft.com/office/officeart/2018/2/layout/IconVerticalSolidList"/>
    <dgm:cxn modelId="{963D8C93-4539-4FE9-95A5-B8A4118C9FA6}" type="presParOf" srcId="{A2183297-7813-4983-909C-8A8E98ACC357}" destId="{69A84A99-FB62-478F-8931-EE137927CAD3}" srcOrd="1" destOrd="0" presId="urn:microsoft.com/office/officeart/2018/2/layout/IconVerticalSolidList"/>
    <dgm:cxn modelId="{42D9DD29-838D-4515-A81B-E0A660FA1F35}" type="presParOf" srcId="{A2183297-7813-4983-909C-8A8E98ACC357}" destId="{201A879F-85CE-47A5-B305-15B05046A15F}" srcOrd="2" destOrd="0" presId="urn:microsoft.com/office/officeart/2018/2/layout/IconVerticalSolidList"/>
    <dgm:cxn modelId="{6A8D4651-5E33-4D6E-84DD-B08F30DDE700}" type="presParOf" srcId="{A2183297-7813-4983-909C-8A8E98ACC357}" destId="{4A6B5AC6-A9AD-4CD5-9AC9-C6E844BF8602}" srcOrd="3" destOrd="0" presId="urn:microsoft.com/office/officeart/2018/2/layout/IconVerticalSolidList"/>
    <dgm:cxn modelId="{08CE71DB-572D-4ACB-8DAE-49DF0EDB2A42}" type="presParOf" srcId="{5C1C285B-C9E2-4D7C-9A1E-BEBE6A1C8826}" destId="{9143E7C6-F186-4BFF-BA3B-3983B8A35AAD}" srcOrd="3" destOrd="0" presId="urn:microsoft.com/office/officeart/2018/2/layout/IconVerticalSolidList"/>
    <dgm:cxn modelId="{3D87E4E7-09E0-434B-B2CF-4F8CF858FF70}" type="presParOf" srcId="{5C1C285B-C9E2-4D7C-9A1E-BEBE6A1C8826}" destId="{78C678D5-5EC5-4D85-B94F-A33A451FE63A}" srcOrd="4" destOrd="0" presId="urn:microsoft.com/office/officeart/2018/2/layout/IconVerticalSolidList"/>
    <dgm:cxn modelId="{0421ABD4-8B46-4A62-8C17-2AD635A21691}" type="presParOf" srcId="{78C678D5-5EC5-4D85-B94F-A33A451FE63A}" destId="{C2F76397-63A4-4672-AE7A-4B49CD6F58E6}" srcOrd="0" destOrd="0" presId="urn:microsoft.com/office/officeart/2018/2/layout/IconVerticalSolidList"/>
    <dgm:cxn modelId="{3B1EF74D-9240-49C7-8691-BA8C18F9621A}" type="presParOf" srcId="{78C678D5-5EC5-4D85-B94F-A33A451FE63A}" destId="{5475D4E3-89BD-4DBD-98BB-5F5CFA551E4D}" srcOrd="1" destOrd="0" presId="urn:microsoft.com/office/officeart/2018/2/layout/IconVerticalSolidList"/>
    <dgm:cxn modelId="{B59A996E-0B10-4A46-B807-521EC4949B59}" type="presParOf" srcId="{78C678D5-5EC5-4D85-B94F-A33A451FE63A}" destId="{789B75FB-34F5-455A-8C90-1610770BD98B}" srcOrd="2" destOrd="0" presId="urn:microsoft.com/office/officeart/2018/2/layout/IconVerticalSolidList"/>
    <dgm:cxn modelId="{017EA057-AA7C-4DFE-B17A-FE38D9B2AB4A}" type="presParOf" srcId="{78C678D5-5EC5-4D85-B94F-A33A451FE63A}" destId="{1927BC3E-6BE9-4868-AAEC-D0BB21C622F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3079F1-892E-4548-9030-F7C65D71655C}">
      <dsp:nvSpPr>
        <dsp:cNvPr id="0" name=""/>
        <dsp:cNvSpPr/>
      </dsp:nvSpPr>
      <dsp:spPr>
        <a:xfrm>
          <a:off x="257251" y="650883"/>
          <a:ext cx="917748" cy="91774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31D96B-275A-41F7-A971-A7D51D391B25}">
      <dsp:nvSpPr>
        <dsp:cNvPr id="0" name=""/>
        <dsp:cNvSpPr/>
      </dsp:nvSpPr>
      <dsp:spPr>
        <a:xfrm>
          <a:off x="449978" y="843610"/>
          <a:ext cx="532294" cy="53229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31FB22-6CBF-47ED-AB0F-B78D77CDA5C3}">
      <dsp:nvSpPr>
        <dsp:cNvPr id="0" name=""/>
        <dsp:cNvSpPr/>
      </dsp:nvSpPr>
      <dsp:spPr>
        <a:xfrm>
          <a:off x="1371660" y="650883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The objective of this study is to investigate the reconstruction of inputs in </a:t>
          </a:r>
          <a:r>
            <a:rPr lang="en-GB" sz="1100" b="1" kern="1200"/>
            <a:t>Hierarchical Temporal Memory (HTM)</a:t>
          </a:r>
          <a:r>
            <a:rPr lang="en-GB" sz="1100" kern="1200"/>
            <a:t> networks using classifiers. Specifically, the study aims to:</a:t>
          </a:r>
          <a:endParaRPr lang="en-US" sz="1100" kern="1200"/>
        </a:p>
      </dsp:txBody>
      <dsp:txXfrm>
        <a:off x="1371660" y="650883"/>
        <a:ext cx="2163264" cy="917748"/>
      </dsp:txXfrm>
    </dsp:sp>
    <dsp:sp modelId="{82D3FD3F-5A11-43FD-9293-82B6415EFC0B}">
      <dsp:nvSpPr>
        <dsp:cNvPr id="0" name=""/>
        <dsp:cNvSpPr/>
      </dsp:nvSpPr>
      <dsp:spPr>
        <a:xfrm>
          <a:off x="3911857" y="650883"/>
          <a:ext cx="917748" cy="91774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D1E378-5668-4DC2-BE9A-354CCB11833C}">
      <dsp:nvSpPr>
        <dsp:cNvPr id="0" name=""/>
        <dsp:cNvSpPr/>
      </dsp:nvSpPr>
      <dsp:spPr>
        <a:xfrm>
          <a:off x="4104584" y="843610"/>
          <a:ext cx="532294" cy="53229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A07C9C-5CCE-4DF0-AF25-5BF956BD1053}">
      <dsp:nvSpPr>
        <dsp:cNvPr id="0" name=""/>
        <dsp:cNvSpPr/>
      </dsp:nvSpPr>
      <dsp:spPr>
        <a:xfrm>
          <a:off x="5026266" y="650883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Implement Input Reconstruction</a:t>
          </a:r>
          <a:r>
            <a:rPr lang="en-GB" sz="1100" kern="1200"/>
            <a:t> using the </a:t>
          </a:r>
          <a:r>
            <a:rPr lang="en-GB" sz="1100" b="1" kern="1200"/>
            <a:t>IClassifier</a:t>
          </a:r>
          <a:r>
            <a:rPr lang="en-GB" sz="1100" kern="1200"/>
            <a:t> interface in HTM.</a:t>
          </a:r>
          <a:endParaRPr lang="en-US" sz="1100" kern="1200"/>
        </a:p>
      </dsp:txBody>
      <dsp:txXfrm>
        <a:off x="5026266" y="650883"/>
        <a:ext cx="2163264" cy="917748"/>
      </dsp:txXfrm>
    </dsp:sp>
    <dsp:sp modelId="{4756A731-F3AB-464A-BDA2-4ED464865119}">
      <dsp:nvSpPr>
        <dsp:cNvPr id="0" name=""/>
        <dsp:cNvSpPr/>
      </dsp:nvSpPr>
      <dsp:spPr>
        <a:xfrm>
          <a:off x="7566463" y="650883"/>
          <a:ext cx="917748" cy="91774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FF230D-58A4-42AE-886B-57126257F776}">
      <dsp:nvSpPr>
        <dsp:cNvPr id="0" name=""/>
        <dsp:cNvSpPr/>
      </dsp:nvSpPr>
      <dsp:spPr>
        <a:xfrm>
          <a:off x="7759190" y="843610"/>
          <a:ext cx="532294" cy="53229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E029EA-D13A-4902-8019-6BB945011DE9}">
      <dsp:nvSpPr>
        <dsp:cNvPr id="0" name=""/>
        <dsp:cNvSpPr/>
      </dsp:nvSpPr>
      <dsp:spPr>
        <a:xfrm>
          <a:off x="8680872" y="650883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Run and Extend the SpatialLearning Experiment</a:t>
          </a:r>
          <a:r>
            <a:rPr lang="en-GB" sz="1100" kern="1200"/>
            <a:t> to test input regeneration.</a:t>
          </a:r>
          <a:endParaRPr lang="en-US" sz="1100" kern="1200"/>
        </a:p>
      </dsp:txBody>
      <dsp:txXfrm>
        <a:off x="8680872" y="650883"/>
        <a:ext cx="2163264" cy="917748"/>
      </dsp:txXfrm>
    </dsp:sp>
    <dsp:sp modelId="{DF683A53-6133-4C25-9806-22A5A49FD6B6}">
      <dsp:nvSpPr>
        <dsp:cNvPr id="0" name=""/>
        <dsp:cNvSpPr/>
      </dsp:nvSpPr>
      <dsp:spPr>
        <a:xfrm>
          <a:off x="257251" y="2211204"/>
          <a:ext cx="917748" cy="9177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8D791D-1E0E-41AB-AD90-A9E41671D04B}">
      <dsp:nvSpPr>
        <dsp:cNvPr id="0" name=""/>
        <dsp:cNvSpPr/>
      </dsp:nvSpPr>
      <dsp:spPr>
        <a:xfrm>
          <a:off x="449978" y="2403931"/>
          <a:ext cx="532294" cy="53229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4F89D3-70B1-4D87-8D5C-E1DD9FA5E2F6}">
      <dsp:nvSpPr>
        <dsp:cNvPr id="0" name=""/>
        <dsp:cNvSpPr/>
      </dsp:nvSpPr>
      <dsp:spPr>
        <a:xfrm>
          <a:off x="1371660" y="2211204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Visualize Similarity Graphs</a:t>
          </a:r>
          <a:r>
            <a:rPr lang="en-GB" sz="1100" kern="1200"/>
            <a:t> comparing original inputs and reconstructed inputs for both </a:t>
          </a:r>
          <a:r>
            <a:rPr lang="en-GB" sz="1100" b="1" kern="1200"/>
            <a:t>HtmClassifier</a:t>
          </a:r>
          <a:r>
            <a:rPr lang="en-GB" sz="1100" kern="1200"/>
            <a:t> and </a:t>
          </a:r>
          <a:r>
            <a:rPr lang="en-GB" sz="1100" b="1" kern="1200"/>
            <a:t>KNN Classifier</a:t>
          </a:r>
          <a:r>
            <a:rPr lang="en-GB" sz="1100" kern="1200"/>
            <a:t>.</a:t>
          </a:r>
          <a:endParaRPr lang="en-US" sz="1100" kern="1200"/>
        </a:p>
      </dsp:txBody>
      <dsp:txXfrm>
        <a:off x="1371660" y="2211204"/>
        <a:ext cx="2163264" cy="917748"/>
      </dsp:txXfrm>
    </dsp:sp>
    <dsp:sp modelId="{0F5983A0-AB29-46AC-8EEE-FBCE57B6D86E}">
      <dsp:nvSpPr>
        <dsp:cNvPr id="0" name=""/>
        <dsp:cNvSpPr/>
      </dsp:nvSpPr>
      <dsp:spPr>
        <a:xfrm>
          <a:off x="3911857" y="2211204"/>
          <a:ext cx="917748" cy="917748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68F773-54B3-4DD2-B6C7-7879830A2A26}">
      <dsp:nvSpPr>
        <dsp:cNvPr id="0" name=""/>
        <dsp:cNvSpPr/>
      </dsp:nvSpPr>
      <dsp:spPr>
        <a:xfrm>
          <a:off x="4104584" y="2403931"/>
          <a:ext cx="532294" cy="53229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25B070-21A5-486D-8939-5303C4C11858}">
      <dsp:nvSpPr>
        <dsp:cNvPr id="0" name=""/>
        <dsp:cNvSpPr/>
      </dsp:nvSpPr>
      <dsp:spPr>
        <a:xfrm>
          <a:off x="5026266" y="2211204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Calculate Similarity Metrics</a:t>
          </a:r>
          <a:r>
            <a:rPr lang="en-GB" sz="1100" kern="1200"/>
            <a:t> to assess the accuracy of the reconstructed inputs against the original encoded inputs.</a:t>
          </a:r>
          <a:endParaRPr lang="en-US" sz="1100" kern="1200"/>
        </a:p>
      </dsp:txBody>
      <dsp:txXfrm>
        <a:off x="5026266" y="2211204"/>
        <a:ext cx="2163264" cy="9177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6DCCE4-B2C1-4968-BE36-A03E06E54FB9}">
      <dsp:nvSpPr>
        <dsp:cNvPr id="0" name=""/>
        <dsp:cNvSpPr/>
      </dsp:nvSpPr>
      <dsp:spPr>
        <a:xfrm>
          <a:off x="0" y="698"/>
          <a:ext cx="6408738" cy="163416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47E56A-71BB-4580-8D25-2D6CEC6A2FFD}">
      <dsp:nvSpPr>
        <dsp:cNvPr id="0" name=""/>
        <dsp:cNvSpPr/>
      </dsp:nvSpPr>
      <dsp:spPr>
        <a:xfrm>
          <a:off x="494334" y="368384"/>
          <a:ext cx="898789" cy="89878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1CA04A-C186-45D1-B68B-96014F191099}">
      <dsp:nvSpPr>
        <dsp:cNvPr id="0" name=""/>
        <dsp:cNvSpPr/>
      </dsp:nvSpPr>
      <dsp:spPr>
        <a:xfrm>
          <a:off x="1887457" y="698"/>
          <a:ext cx="4521280" cy="1634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949" tIns="172949" rIns="172949" bIns="172949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HTM Classifier:</a:t>
          </a:r>
          <a:r>
            <a:rPr lang="en-GB" sz="2300" kern="1200"/>
            <a:t> Learns patterns from SDRs (Sparse Distributed Representations).</a:t>
          </a:r>
          <a:endParaRPr lang="en-US" sz="2300" kern="1200"/>
        </a:p>
      </dsp:txBody>
      <dsp:txXfrm>
        <a:off x="1887457" y="698"/>
        <a:ext cx="4521280" cy="1634162"/>
      </dsp:txXfrm>
    </dsp:sp>
    <dsp:sp modelId="{7B70C574-8017-4A0B-9262-CA8F1653A6C5}">
      <dsp:nvSpPr>
        <dsp:cNvPr id="0" name=""/>
        <dsp:cNvSpPr/>
      </dsp:nvSpPr>
      <dsp:spPr>
        <a:xfrm>
          <a:off x="0" y="2043401"/>
          <a:ext cx="6408738" cy="163416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A84A99-FB62-478F-8931-EE137927CAD3}">
      <dsp:nvSpPr>
        <dsp:cNvPr id="0" name=""/>
        <dsp:cNvSpPr/>
      </dsp:nvSpPr>
      <dsp:spPr>
        <a:xfrm>
          <a:off x="494334" y="2411088"/>
          <a:ext cx="898789" cy="89878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6B5AC6-A9AD-4CD5-9AC9-C6E844BF8602}">
      <dsp:nvSpPr>
        <dsp:cNvPr id="0" name=""/>
        <dsp:cNvSpPr/>
      </dsp:nvSpPr>
      <dsp:spPr>
        <a:xfrm>
          <a:off x="1887457" y="2043401"/>
          <a:ext cx="4521280" cy="1634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949" tIns="172949" rIns="172949" bIns="172949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KNN Classifier:</a:t>
          </a:r>
          <a:r>
            <a:rPr lang="en-GB" sz="2300" kern="1200"/>
            <a:t> Uses stored examples to classify new inputs based on nearest neighbors.</a:t>
          </a:r>
          <a:endParaRPr lang="en-US" sz="2300" kern="1200"/>
        </a:p>
      </dsp:txBody>
      <dsp:txXfrm>
        <a:off x="1887457" y="2043401"/>
        <a:ext cx="4521280" cy="1634162"/>
      </dsp:txXfrm>
    </dsp:sp>
    <dsp:sp modelId="{C2F76397-63A4-4672-AE7A-4B49CD6F58E6}">
      <dsp:nvSpPr>
        <dsp:cNvPr id="0" name=""/>
        <dsp:cNvSpPr/>
      </dsp:nvSpPr>
      <dsp:spPr>
        <a:xfrm>
          <a:off x="0" y="4086104"/>
          <a:ext cx="6408738" cy="163416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75D4E3-89BD-4DBD-98BB-5F5CFA551E4D}">
      <dsp:nvSpPr>
        <dsp:cNvPr id="0" name=""/>
        <dsp:cNvSpPr/>
      </dsp:nvSpPr>
      <dsp:spPr>
        <a:xfrm>
          <a:off x="494334" y="4453791"/>
          <a:ext cx="898789" cy="89878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27BC3E-6BE9-4868-AAEC-D0BB21C622F9}">
      <dsp:nvSpPr>
        <dsp:cNvPr id="0" name=""/>
        <dsp:cNvSpPr/>
      </dsp:nvSpPr>
      <dsp:spPr>
        <a:xfrm>
          <a:off x="1887457" y="4086104"/>
          <a:ext cx="4521280" cy="1634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949" tIns="172949" rIns="172949" bIns="172949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Why Classifiers?</a:t>
          </a:r>
          <a:r>
            <a:rPr lang="en-GB" sz="2300" kern="1200"/>
            <a:t> Used to reconstruct the original input from SDRs.</a:t>
          </a:r>
          <a:endParaRPr lang="en-US" sz="2300" kern="1200"/>
        </a:p>
      </dsp:txBody>
      <dsp:txXfrm>
        <a:off x="1887457" y="4086104"/>
        <a:ext cx="4521280" cy="16341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F4E480B-94D6-46F9-A2B6-B98D311FDC19}"/>
              </a:ext>
            </a:extLst>
          </p:cNvPr>
          <p:cNvGrpSpPr/>
          <p:nvPr/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183CDE-91A1-40C3-8E80-66F89E1C2D53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6756515-F9AA-46BD-8DD2-AA15BA492A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BA365E2-8B71-408B-9092-0104216AC7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DB8D7A-1BF6-4CDB-B93A-7736955F504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AACD774-5167-46C7-8A62-6E2FE4BE9469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E0F2D8-452E-48F9-9912-C47EAEAE1802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1FBBF95-430B-427C-A6E8-DB899217FC0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EE64698-3ED2-4395-B7FC-65248E437E0A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E20B1E1-CE09-4C2A-A3FB-DB8026C54E98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CB2405B-A907-48B3-906A-FB3573C0B282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6DC8E2D9-6729-4614-8667-C1016D3182E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CEEBB1-1A1F-4A2C-B805-719CF98F68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000" y="540000"/>
            <a:ext cx="11090273" cy="3798000"/>
          </a:xfrm>
        </p:spPr>
        <p:txBody>
          <a:bodyPr anchor="b"/>
          <a:lstStyle>
            <a:lvl1pPr algn="l"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6CC87B-ED2D-4303-BD40-E7AF14C03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4508500"/>
            <a:ext cx="7345362" cy="1800224"/>
          </a:xfrm>
        </p:spPr>
        <p:txBody>
          <a:bodyPr/>
          <a:lstStyle>
            <a:lvl1pPr marL="0" indent="0" algn="l">
              <a:buNone/>
              <a:defRPr sz="16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880B4-5679-491C-963F-EC47B048C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65D6D-3F98-4BE8-A069-B96409902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D51D-8E06-4959-88C9-647415079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87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67416F32-9D98-4340-82E8-E90CE00AD2AC}"/>
              </a:ext>
            </a:extLst>
          </p:cNvPr>
          <p:cNvGrpSpPr/>
          <p:nvPr/>
        </p:nvGrpSpPr>
        <p:grpSpPr>
          <a:xfrm flipV="1">
            <a:off x="0" y="-1"/>
            <a:ext cx="12191999" cy="6861601"/>
            <a:chOff x="0" y="-1"/>
            <a:chExt cx="12191999" cy="686160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375AB4-82BB-418F-A50F-6180F68724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0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FDD54B2-4A3F-4BFE-8FF0-82CA73F4AE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0280" y="2148106"/>
              <a:ext cx="4320000" cy="4320000"/>
            </a:xfrm>
            <a:prstGeom prst="ellipse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0876F96-77AB-4E72-B1D2-FA45F4E3C0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0"/>
              <a:ext cx="6347046" cy="6347046"/>
            </a:xfrm>
            <a:prstGeom prst="ellipse">
              <a:avLst/>
            </a:prstGeom>
            <a:solidFill>
              <a:schemeClr val="accent3">
                <a:alpha val="2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B08A2E9-6518-449E-940B-8518A1D850BB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0" y="-1"/>
              <a:ext cx="10800000" cy="6858000"/>
              <a:chOff x="2328000" y="0"/>
              <a:chExt cx="2880000" cy="1440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0A86BE0-76B3-4EA0-BA2D-05266013A814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BA13564-810C-4398-AA63-67B020811FCB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555E1EF-6216-47FA-BBCA-7C0C8C2DAB8C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6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D8D85657-6A77-4466-887F-EE948B9CD2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35498-B0C3-40BD-9407-6D0C0587E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2F85E-0893-4D8C-816A-5193CC6DC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0000">
              <a:defRPr/>
            </a:lvl1pPr>
            <a:lvl2pPr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46A9C-9655-49F5-85B3-A8A37F4F5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F896C-71D7-487F-A1B9-CBBE6DF4D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228E8-7B8A-4153-BEB2-BD5A69F2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80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1E54407D-DBA4-414C-ACA5-30D7B87C652B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BD518BC-8E44-4DAA-A8B9-2CFBD91DCDCD}"/>
                </a:ext>
              </a:extLst>
            </p:cNvPr>
            <p:cNvSpPr/>
            <p:nvPr/>
          </p:nvSpPr>
          <p:spPr>
            <a:xfrm rot="10800000" flipH="1">
              <a:off x="0" y="2019649"/>
              <a:ext cx="4838350" cy="4838350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67C3660-39CD-431D-8E64-37508FFEAC9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03875" y="0"/>
              <a:ext cx="6521820" cy="3260910"/>
              <a:chOff x="0" y="0"/>
              <a:chExt cx="2880000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4CCE569-E461-438A-A235-B96A542AF82F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3F9DF1F-1F74-476C-AD41-22AC3F8A65A0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BE49ED5-9713-43D1-AE9E-3F9FE557407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21A2854-1482-4441-85EA-D7B9F3EF56D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4887" y="2538000"/>
              <a:ext cx="4320000" cy="4320000"/>
            </a:xfrm>
            <a:prstGeom prst="ellipse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ED36A6D-894D-44DA-851C-345A414F3F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36F1DF-CD42-4695-A7D0-2F5B19305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7345362" cy="5768725"/>
          </a:xfrm>
        </p:spPr>
        <p:txBody>
          <a:bodyPr anchor="t"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549160-0F86-4FCA-8718-6980E99C7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75612" y="540000"/>
            <a:ext cx="3565523" cy="5768725"/>
          </a:xfrm>
        </p:spPr>
        <p:txBody>
          <a:bodyPr anchor="t"/>
          <a:lstStyle>
            <a:lvl1pPr marL="0" indent="0">
              <a:buNone/>
              <a:defRPr sz="18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C6CBB-DABA-4F2E-8574-46747E15E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F86BC-9ECC-439C-BF2E-F0B7EF193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42552-C4C9-44EE-B7CB-5A652393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452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5774299-531D-4CAC-881D-7EB68BC99FCC}"/>
              </a:ext>
            </a:extLst>
          </p:cNvPr>
          <p:cNvGrpSpPr/>
          <p:nvPr/>
        </p:nvGrpSpPr>
        <p:grpSpPr>
          <a:xfrm>
            <a:off x="0" y="-3"/>
            <a:ext cx="12192000" cy="6858003"/>
            <a:chOff x="0" y="-3"/>
            <a:chExt cx="12192000" cy="6858003"/>
          </a:xfrm>
        </p:grpSpPr>
        <p:sp useBgFill="1">
          <p:nvSpPr>
            <p:cNvPr id="9" name="Rectangle 8">
              <a:extLst>
                <a:ext uri="{FF2B5EF4-FFF2-40B4-BE49-F238E27FC236}">
                  <a16:creationId xmlns:a16="http://schemas.microsoft.com/office/drawing/2014/main" id="{A17676CF-DDCC-48C1-AC68-CDA0B9E47FD8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052D363-F6F5-455B-A2F2-A12B30CEE52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72000" y="-3"/>
              <a:ext cx="11520000" cy="5760000"/>
              <a:chOff x="5981700" y="-1"/>
              <a:chExt cx="6042660" cy="302133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0C396B8-00CA-4AE9-A0A5-B4E2B2A2AC07}"/>
                  </a:ext>
                </a:extLst>
              </p:cNvPr>
              <p:cNvSpPr/>
              <p:nvPr/>
            </p:nvSpPr>
            <p:spPr>
              <a:xfrm>
                <a:off x="900303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660166-3107-4058-A259-59B0527306BD}"/>
                  </a:ext>
                </a:extLst>
              </p:cNvPr>
              <p:cNvSpPr/>
              <p:nvPr/>
            </p:nvSpPr>
            <p:spPr>
              <a:xfrm flipH="1">
                <a:off x="598170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2BE934E-3063-4D0F-AFDE-68D58D336CBE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39660FA-744A-4CB3-9BED-C59793E3BF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538000"/>
              <a:ext cx="4320000" cy="4320000"/>
            </a:xfrm>
            <a:prstGeom prst="ellipse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E313EEC-733B-4019-8A0B-3FA768B8DB7A}"/>
                </a:ext>
              </a:extLst>
            </p:cNvPr>
            <p:cNvGrpSpPr/>
            <p:nvPr/>
          </p:nvGrpSpPr>
          <p:grpSpPr>
            <a:xfrm rot="10800000">
              <a:off x="1" y="2948940"/>
              <a:ext cx="7818118" cy="3909059"/>
              <a:chOff x="0" y="0"/>
              <a:chExt cx="2880000" cy="144000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21FE91F-780C-4ABD-ADE8-0EFDB7196A10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109EA389-EE78-4475-A390-5EDED23C2D68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E492A94-8867-4C62-9D40-4023C41E0AF8}"/>
                </a:ext>
              </a:extLst>
            </p:cNvPr>
            <p:cNvSpPr>
              <a:spLocks noChangeAspect="1"/>
            </p:cNvSpPr>
            <p:nvPr/>
          </p:nvSpPr>
          <p:spPr>
            <a:xfrm rot="10800000" flipH="1">
              <a:off x="0" y="521786"/>
              <a:ext cx="6336213" cy="6336213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A3DAD7C5-BA12-4557-8BC4-72C69B0D59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4412EC-56C0-4009-B2E3-D63F9EECB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39999"/>
            <a:ext cx="11090275" cy="12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0C84F-F3B7-4BF4-A328-BCF5ADD329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0000" y="1929600"/>
            <a:ext cx="5437186" cy="438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919CD5-DBB4-4749-980D-B5B40ECB67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929600"/>
            <a:ext cx="5437186" cy="438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CFC378-6572-43DF-8344-59DE8122C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967A14-246A-4DDF-865C-68F6E169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74B6D-E110-478C-94B9-2F8199E58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733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130F7E5-A40E-4C9C-8E4F-3935B9182C4A}"/>
              </a:ext>
            </a:extLst>
          </p:cNvPr>
          <p:cNvGrpSpPr/>
          <p:nvPr/>
        </p:nvGrpSpPr>
        <p:grpSpPr>
          <a:xfrm>
            <a:off x="0" y="-2"/>
            <a:ext cx="12191999" cy="6858001"/>
            <a:chOff x="0" y="-2"/>
            <a:chExt cx="12191999" cy="685800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67B504-02A7-4203-87D0-07D333D71917}"/>
                </a:ext>
              </a:extLst>
            </p:cNvPr>
            <p:cNvSpPr/>
            <p:nvPr/>
          </p:nvSpPr>
          <p:spPr>
            <a:xfrm>
              <a:off x="7995665" y="2562224"/>
              <a:ext cx="4196334" cy="4295775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40000"/>
                  </a:schemeClr>
                </a:gs>
                <a:gs pos="34000">
                  <a:schemeClr val="accent3">
                    <a:alpha val="20000"/>
                  </a:schemeClr>
                </a:gs>
                <a:gs pos="65000">
                  <a:schemeClr val="accent3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A1158F3-E1C3-400D-8505-628DB94365CE}"/>
                </a:ext>
              </a:extLst>
            </p:cNvPr>
            <p:cNvGrpSpPr/>
            <p:nvPr/>
          </p:nvGrpSpPr>
          <p:grpSpPr>
            <a:xfrm rot="16200000">
              <a:off x="2295528" y="-2295528"/>
              <a:ext cx="6858000" cy="11449051"/>
              <a:chOff x="0" y="2333625"/>
              <a:chExt cx="9515474" cy="376610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AEADDCE-3295-4F24-8700-C93B5457C2B7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F95C76A-5429-458C-BC9D-E1053EF7B84F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D0E8A42-259A-43FA-B284-B459D736409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583369" y="-3583369"/>
              <a:ext cx="4713262" cy="11880000"/>
              <a:chOff x="1" y="0"/>
              <a:chExt cx="8305797" cy="685800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900B4F1-619C-4C0E-B749-1843F22C946A}"/>
                  </a:ext>
                </a:extLst>
              </p:cNvPr>
              <p:cNvSpPr/>
              <p:nvPr/>
            </p:nvSpPr>
            <p:spPr>
              <a:xfrm>
                <a:off x="931" y="342900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E6F70BB-DCCC-4CF0-B5BB-95A965A99947}"/>
                  </a:ext>
                </a:extLst>
              </p:cNvPr>
              <p:cNvSpPr/>
              <p:nvPr/>
            </p:nvSpPr>
            <p:spPr>
              <a:xfrm flipV="1">
                <a:off x="1" y="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3E6C50C-C1DA-44E1-B254-3B7228879DCD}"/>
                </a:ext>
              </a:extLst>
            </p:cNvPr>
            <p:cNvGrpSpPr/>
            <p:nvPr/>
          </p:nvGrpSpPr>
          <p:grpSpPr>
            <a:xfrm>
              <a:off x="2676525" y="0"/>
              <a:ext cx="9515473" cy="3766109"/>
              <a:chOff x="2333625" y="2433367"/>
              <a:chExt cx="9897159" cy="3766109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C6EEED-A40A-4D1C-BE6B-11DD62770607}"/>
                  </a:ext>
                </a:extLst>
              </p:cNvPr>
              <p:cNvSpPr/>
              <p:nvPr/>
            </p:nvSpPr>
            <p:spPr>
              <a:xfrm>
                <a:off x="728220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27FF3FB-FDFC-4659-A7D6-ABED74010E82}"/>
                  </a:ext>
                </a:extLst>
              </p:cNvPr>
              <p:cNvSpPr/>
              <p:nvPr/>
            </p:nvSpPr>
            <p:spPr>
              <a:xfrm flipH="1">
                <a:off x="233362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1548ED5-6668-4672-88DC-40E92508ACA2}"/>
                </a:ext>
              </a:extLst>
            </p:cNvPr>
            <p:cNvGrpSpPr/>
            <p:nvPr/>
          </p:nvGrpSpPr>
          <p:grpSpPr>
            <a:xfrm>
              <a:off x="0" y="0"/>
              <a:ext cx="9515473" cy="3766109"/>
              <a:chOff x="0" y="2333625"/>
              <a:chExt cx="9515473" cy="3766109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AE1B2-E73F-4E6E-AAFB-FB1C02684D32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750F2D6-C0E1-4AFE-AB87-083292737609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4ECC0D66-F2BE-4BF4-87F6-CE618B5C891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0BCA11-08C2-4C9A-B0A3-31C9051CD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39999"/>
            <a:ext cx="11090273" cy="1210396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2CEB0-C969-40EA-A5E2-8D875E28A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1929783"/>
            <a:ext cx="5448052" cy="792161"/>
          </a:xfrm>
        </p:spPr>
        <p:txBody>
          <a:bodyPr anchor="b"/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0F41A6-112E-4305-A0BA-6E119A77AC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0000" y="2937844"/>
            <a:ext cx="5437186" cy="3376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C672C5-31B9-443B-8DEE-5523646891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03949" y="1929782"/>
            <a:ext cx="5437187" cy="792000"/>
          </a:xfrm>
        </p:spPr>
        <p:txBody>
          <a:bodyPr anchor="b"/>
          <a:lstStyle>
            <a:lvl1pPr marL="0" indent="0">
              <a:buNone/>
              <a:defRPr sz="1600" b="0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D18B9D-8B21-4249-A3AD-8FBE48F0F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03950" y="2937844"/>
            <a:ext cx="5437186" cy="3376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B60881-13B2-4064-84FB-6D071F36C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9FCE5D-D5EF-485D-97FA-2614FF964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F204FC-4F66-417C-8E4B-74772ED05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259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521FD20-B9D4-4FD1-9AAD-F4157555AD62}"/>
              </a:ext>
            </a:extLst>
          </p:cNvPr>
          <p:cNvGrpSpPr/>
          <p:nvPr/>
        </p:nvGrpSpPr>
        <p:grpSpPr>
          <a:xfrm rot="10800000">
            <a:off x="1392000" y="0"/>
            <a:ext cx="10800000" cy="6858000"/>
            <a:chOff x="0" y="0"/>
            <a:chExt cx="10800000" cy="6858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7477A35-8424-45D6-A66E-8ACFA6C405B5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BFBA1CE-E9AC-40C0-A7F9-E5671F5FEF9C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0C2729A-59F8-46A4-9AAA-7665E5966E2D}"/>
              </a:ext>
            </a:extLst>
          </p:cNvPr>
          <p:cNvGrpSpPr>
            <a:grpSpLocks noChangeAspect="1"/>
          </p:cNvGrpSpPr>
          <p:nvPr/>
        </p:nvGrpSpPr>
        <p:grpSpPr>
          <a:xfrm rot="16200000" flipH="1">
            <a:off x="-1714500" y="1714500"/>
            <a:ext cx="6858000" cy="3429000"/>
            <a:chOff x="0" y="0"/>
            <a:chExt cx="2880000" cy="1440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3EBBB96-590D-4704-87AD-A00AE2424DE8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89BAB7D-5298-40B9-910B-136D0C6A9934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F323EA00-E168-4864-883B-358A7CDF9153}"/>
              </a:ext>
            </a:extLst>
          </p:cNvPr>
          <p:cNvSpPr>
            <a:spLocks noChangeAspect="1"/>
          </p:cNvSpPr>
          <p:nvPr/>
        </p:nvSpPr>
        <p:spPr>
          <a:xfrm rot="10800000">
            <a:off x="5602287" y="268286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4F2DFA-2F27-43FB-B08C-0787FA44B0D1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D750354-CD8D-4A3B-A7AC-04622BCB049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3ED3C6-DA43-4D1C-9056-407A4FB1C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6"/>
            <a:ext cx="11090275" cy="5759450"/>
          </a:xfrm>
        </p:spPr>
        <p:txBody>
          <a:bodyPr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0CEB41-E921-45ED-951A-861E31E0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B422D-769C-4E63-8763-ABBB88500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8FB6F-2D68-40C0-B628-142011F34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482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ED88E92-14F3-4B58-9E48-1D79E139A89E}"/>
              </a:ext>
            </a:extLst>
          </p:cNvPr>
          <p:cNvGrpSpPr/>
          <p:nvPr/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466AE7-32B6-4334-AF41-B9387E6726C5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59C09F8-90CD-443F-9AA1-D08C56A605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C7304AB-BE7D-45AC-A876-4A24543AE5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E11922B-DDB3-46D7-B1BD-C1CCDB3C42E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580F8F6-E662-4BCD-AC9C-7E5DDBD5A773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A333FE5-ADB0-48EE-A1A6-9AA36DA343A2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B09CD4F-6DF4-48AA-BD35-23E3F2A643F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2223219-ACCC-42F2-A1B4-E3C8C8AB12A4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510B0E9-9BA0-4357-9E04-554C19BAAC89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06DA80-525A-4C9E-A441-50630AA772A4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841E027-8E53-4FEB-8605-2124D85731C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D871A2-AE80-4408-AA95-DC60D132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D122A1-7B97-4979-B319-1CE0A4A49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09A76-7DCD-477A-A6BA-EEA63FF9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6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5C0F5C-A529-490C-8941-78F10C6A00D3}"/>
              </a:ext>
            </a:extLst>
          </p:cNvPr>
          <p:cNvGrpSpPr/>
          <p:nvPr/>
        </p:nvGrpSpPr>
        <p:grpSpPr>
          <a:xfrm flipH="1">
            <a:off x="0" y="0"/>
            <a:ext cx="12191999" cy="6858001"/>
            <a:chOff x="0" y="-2"/>
            <a:chExt cx="12191999" cy="68580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A8D739-B942-4545-9459-A6CAF0444D1F}"/>
                </a:ext>
              </a:extLst>
            </p:cNvPr>
            <p:cNvSpPr/>
            <p:nvPr/>
          </p:nvSpPr>
          <p:spPr>
            <a:xfrm>
              <a:off x="7995665" y="2562224"/>
              <a:ext cx="4196334" cy="4295775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40000"/>
                  </a:schemeClr>
                </a:gs>
                <a:gs pos="34000">
                  <a:schemeClr val="accent3">
                    <a:alpha val="20000"/>
                  </a:schemeClr>
                </a:gs>
                <a:gs pos="65000">
                  <a:schemeClr val="accent3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BB38CCA-110B-4404-9363-BFFA76C096D2}"/>
                </a:ext>
              </a:extLst>
            </p:cNvPr>
            <p:cNvGrpSpPr/>
            <p:nvPr/>
          </p:nvGrpSpPr>
          <p:grpSpPr>
            <a:xfrm rot="16200000">
              <a:off x="2295528" y="-2295528"/>
              <a:ext cx="6858000" cy="11449051"/>
              <a:chOff x="0" y="2333625"/>
              <a:chExt cx="9515474" cy="3766109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223FE99-C58F-4A56-8F8E-2942FF74E4BD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BD4511-8AB6-4BD3-8410-7FB3EC8D42B2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A8CA067-2248-4BD3-B56E-2C014AEB2273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583369" y="-3583369"/>
              <a:ext cx="4713262" cy="11880000"/>
              <a:chOff x="1" y="0"/>
              <a:chExt cx="8305797" cy="6858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C017B9B-2727-4255-8F80-9D4C2A5AE297}"/>
                  </a:ext>
                </a:extLst>
              </p:cNvPr>
              <p:cNvSpPr/>
              <p:nvPr/>
            </p:nvSpPr>
            <p:spPr>
              <a:xfrm>
                <a:off x="931" y="342900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3C5F16-BC47-4707-B6B7-DC5262ACDC51}"/>
                  </a:ext>
                </a:extLst>
              </p:cNvPr>
              <p:cNvSpPr/>
              <p:nvPr/>
            </p:nvSpPr>
            <p:spPr>
              <a:xfrm flipV="1">
                <a:off x="1" y="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E88FE13-0734-4BB3-B4D1-7C53A194DA84}"/>
                </a:ext>
              </a:extLst>
            </p:cNvPr>
            <p:cNvGrpSpPr/>
            <p:nvPr/>
          </p:nvGrpSpPr>
          <p:grpSpPr>
            <a:xfrm>
              <a:off x="2676525" y="0"/>
              <a:ext cx="9515473" cy="3766109"/>
              <a:chOff x="2333625" y="2433367"/>
              <a:chExt cx="9897159" cy="3766109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9B7EF7-1EDF-4AC7-8E40-C2801783AC85}"/>
                  </a:ext>
                </a:extLst>
              </p:cNvPr>
              <p:cNvSpPr/>
              <p:nvPr/>
            </p:nvSpPr>
            <p:spPr>
              <a:xfrm>
                <a:off x="728220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25CA0A0-9A3F-498E-983D-B3285EF5AD9A}"/>
                  </a:ext>
                </a:extLst>
              </p:cNvPr>
              <p:cNvSpPr/>
              <p:nvPr/>
            </p:nvSpPr>
            <p:spPr>
              <a:xfrm flipH="1">
                <a:off x="233362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171814-E4F0-44B5-BC3F-588512210991}"/>
                </a:ext>
              </a:extLst>
            </p:cNvPr>
            <p:cNvGrpSpPr/>
            <p:nvPr/>
          </p:nvGrpSpPr>
          <p:grpSpPr>
            <a:xfrm>
              <a:off x="0" y="0"/>
              <a:ext cx="9515473" cy="3766109"/>
              <a:chOff x="0" y="2333625"/>
              <a:chExt cx="9515473" cy="3766109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E666ACD-EB1C-4732-971B-C3B26061DB82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A4E213B-7F96-44C1-90B3-B72E9387BF73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FE392AA-35E5-40E5-9309-284A0C5410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A8188C-9713-46E1-AA5C-C84FE515F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99" y="540000"/>
            <a:ext cx="4511425" cy="2771774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192CC-893A-4A84-A7E9-F389D83F0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2400" y="540000"/>
            <a:ext cx="6408736" cy="5759450"/>
          </a:xfrm>
        </p:spPr>
        <p:txBody>
          <a:bodyPr/>
          <a:lstStyle>
            <a:lvl1pPr>
              <a:defRPr sz="3200"/>
            </a:lvl1pPr>
            <a:lvl2pPr>
              <a:defRPr sz="24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CC7765-7D44-43DD-A1DF-419D3E1C6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0000" y="3536950"/>
            <a:ext cx="4511426" cy="2771775"/>
          </a:xfrm>
        </p:spPr>
        <p:txBody>
          <a:bodyPr/>
          <a:lstStyle>
            <a:lvl1pPr marL="0" indent="0">
              <a:buNone/>
              <a:defRPr sz="1600" cap="all" spc="3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D36875-AFB0-4905-8C9E-A72B4F597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437ABF-7E70-4E45-A67B-C503BF182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8016CA-2983-47BF-BA09-2130A40C8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53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97E00A2-2906-4C97-9D1F-C789D3ADD373}"/>
              </a:ext>
            </a:extLst>
          </p:cNvPr>
          <p:cNvGrpSpPr/>
          <p:nvPr/>
        </p:nvGrpSpPr>
        <p:grpSpPr>
          <a:xfrm rot="10800000">
            <a:off x="1392000" y="0"/>
            <a:ext cx="10800000" cy="6858000"/>
            <a:chOff x="0" y="0"/>
            <a:chExt cx="10800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CE8EF9-87D6-47FD-B7D3-2D48D8E48AC3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84998E-9D37-4D0D-889A-C67531E5295C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B575B0B-C502-438E-967C-64D268031426}"/>
              </a:ext>
            </a:extLst>
          </p:cNvPr>
          <p:cNvGrpSpPr>
            <a:grpSpLocks noChangeAspect="1"/>
          </p:cNvGrpSpPr>
          <p:nvPr/>
        </p:nvGrpSpPr>
        <p:grpSpPr>
          <a:xfrm rot="16200000" flipH="1">
            <a:off x="-1714500" y="1714500"/>
            <a:ext cx="6858000" cy="3429000"/>
            <a:chOff x="0" y="0"/>
            <a:chExt cx="2880000" cy="1440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FC29931-00EB-4F74-BE4C-172A4C282A26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9B4C87-FDD3-406D-BE06-3ABF69905E03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D817A89-A0E1-4190-90AE-0571E6CE8FC6}"/>
              </a:ext>
            </a:extLst>
          </p:cNvPr>
          <p:cNvSpPr>
            <a:spLocks noChangeAspect="1"/>
          </p:cNvSpPr>
          <p:nvPr/>
        </p:nvSpPr>
        <p:spPr>
          <a:xfrm rot="10800000">
            <a:off x="5602287" y="268286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FD20388-C666-4992-920D-5F034214950C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AB0CC3-A07E-43B8-9B34-0A67C1806D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1800A6-9706-4B81-B957-C950A5F7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99" y="540000"/>
            <a:ext cx="4511425" cy="2771774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17652B-AA0D-4574-AF1D-7F7442D84B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32400" y="549275"/>
            <a:ext cx="6408736" cy="57594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A19547-D24B-4BD1-8C26-318450B17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9999" y="3536950"/>
            <a:ext cx="4511425" cy="2771774"/>
          </a:xfrm>
        </p:spPr>
        <p:txBody>
          <a:bodyPr/>
          <a:lstStyle>
            <a:lvl1pPr marL="0" indent="0">
              <a:buNone/>
              <a:defRPr sz="1600" cap="all" spc="3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A22E6-7E01-4547-8555-B2C197543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0F6BEC-98F3-43FE-BA9B-B046D8917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FAF54-57F0-46F9-A1BA-B554E1401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25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C461672-F18A-4768-9850-0531FD3720BA}"/>
              </a:ext>
            </a:extLst>
          </p:cNvPr>
          <p:cNvGrpSpPr/>
          <p:nvPr/>
        </p:nvGrpSpPr>
        <p:grpSpPr>
          <a:xfrm rot="10800000">
            <a:off x="5921828" y="2876440"/>
            <a:ext cx="6270171" cy="3981559"/>
            <a:chOff x="0" y="0"/>
            <a:chExt cx="10800000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FA73898-D78C-45F9-AFC1-2AB16F6725C2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C423E3-700B-43D6-A2CB-F3C871632C20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F05B2A-1EC7-4131-B899-C7ECB9A502EB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0" y="-1"/>
            <a:ext cx="9361714" cy="4680857"/>
            <a:chOff x="0" y="0"/>
            <a:chExt cx="2880000" cy="144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711D4C-4FFE-4151-B53D-60890F0F5827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69D6393-413D-4151-BC2C-43161BE4A799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96370B9-6459-4B05-9A8B-A9E7FA8966CD}"/>
              </a:ext>
            </a:extLst>
          </p:cNvPr>
          <p:cNvSpPr>
            <a:spLocks noChangeAspect="1"/>
          </p:cNvSpPr>
          <p:nvPr/>
        </p:nvSpPr>
        <p:spPr>
          <a:xfrm rot="10800000">
            <a:off x="8430794" y="3096793"/>
            <a:ext cx="3761205" cy="37612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4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AC0C6-74C3-4E55-AA42-A9F1A4B1B210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2C27A4-86D3-4C83-8022-E37A8672A9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F1FF59-E1BE-4475-953B-5BF6FBC1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090273" cy="180022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F1F045-44C5-4165-A640-4E4D33A59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40000" y="2528887"/>
            <a:ext cx="11090276" cy="377983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7047A-D05B-44E9-A240-BDB881C42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CB2E8-A68D-478D-A728-C9612848C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E4F1D-3280-4DB5-B2E0-DA7F1071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98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C627D45-FE54-49FF-A37F-6206993AEFD8}"/>
              </a:ext>
            </a:extLst>
          </p:cNvPr>
          <p:cNvGrpSpPr/>
          <p:nvPr/>
        </p:nvGrpSpPr>
        <p:grpSpPr>
          <a:xfrm>
            <a:off x="0" y="-3"/>
            <a:ext cx="12192000" cy="6858003"/>
            <a:chOff x="0" y="-3"/>
            <a:chExt cx="12192000" cy="6858003"/>
          </a:xfrm>
        </p:grpSpPr>
        <p:sp useBgFill="1">
          <p:nvSpPr>
            <p:cNvPr id="8" name="Rectangle 7">
              <a:extLst>
                <a:ext uri="{FF2B5EF4-FFF2-40B4-BE49-F238E27FC236}">
                  <a16:creationId xmlns:a16="http://schemas.microsoft.com/office/drawing/2014/main" id="{879CEFA6-CCA5-4FEF-B53D-E74B1E67E9C7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CFCD768-2100-4B20-87EF-9F92EFBD8FA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72000" y="-3"/>
              <a:ext cx="11520000" cy="5760000"/>
              <a:chOff x="5981700" y="-1"/>
              <a:chExt cx="6042660" cy="302133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0D1B599-DFF1-4E00-9EAE-EE32BD7B4860}"/>
                  </a:ext>
                </a:extLst>
              </p:cNvPr>
              <p:cNvSpPr/>
              <p:nvPr/>
            </p:nvSpPr>
            <p:spPr>
              <a:xfrm>
                <a:off x="900303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0FCF7F6-290B-4DE7-BA60-863CBF95C2AF}"/>
                  </a:ext>
                </a:extLst>
              </p:cNvPr>
              <p:cNvSpPr/>
              <p:nvPr/>
            </p:nvSpPr>
            <p:spPr>
              <a:xfrm flipH="1">
                <a:off x="598170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59358AB-E1C9-402B-9F3F-28B4F50DAC6F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78C24EC-8C5D-4A7E-9D57-C752E0DC94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538000"/>
              <a:ext cx="4320000" cy="4320000"/>
            </a:xfrm>
            <a:prstGeom prst="ellipse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C0B30A-4855-4424-B3A8-AC110CA8356F}"/>
                </a:ext>
              </a:extLst>
            </p:cNvPr>
            <p:cNvGrpSpPr/>
            <p:nvPr/>
          </p:nvGrpSpPr>
          <p:grpSpPr>
            <a:xfrm rot="10800000">
              <a:off x="1" y="2948940"/>
              <a:ext cx="7818118" cy="3909059"/>
              <a:chOff x="0" y="0"/>
              <a:chExt cx="2880000" cy="144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C119EB9-1A9A-45A4-AE16-9968A70C5C35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A5B7B85-4DC3-4343-B734-4852DD5DF033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F3733E-DBA5-4A25-9315-B7A1A5E7A1FF}"/>
                </a:ext>
              </a:extLst>
            </p:cNvPr>
            <p:cNvSpPr>
              <a:spLocks noChangeAspect="1"/>
            </p:cNvSpPr>
            <p:nvPr/>
          </p:nvSpPr>
          <p:spPr>
            <a:xfrm rot="10800000" flipH="1">
              <a:off x="0" y="521786"/>
              <a:ext cx="6336213" cy="6336213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AAB30D07-BE85-45CD-8055-8C57B00E295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7FFCCA-9DBF-4E0A-BDC6-F7B8F39BD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12238" y="539999"/>
            <a:ext cx="2628900" cy="576872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1F1B23-21CD-4A3B-938B-5502019A1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50863" y="539999"/>
            <a:ext cx="8245475" cy="57687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9C884-5A98-4C01-BB89-098AC6966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4D22-9CD7-4FC6-9444-21948246C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ECC14-D66C-401A-A0C9-DFCA5533A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17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749C77-AA3A-4DA0-9E20-32FCD2B8B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8DC81A-9B5E-4A92-AA7B-3D750F95F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2528887"/>
            <a:ext cx="11101136" cy="3779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B8083-48FB-4D6A-B77A-262FE3E23D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314400"/>
            <a:ext cx="7350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100" baseline="0">
                <a:solidFill>
                  <a:schemeClr val="tx1"/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DA5BD-F7C8-4883-81D1-EF1F6F00E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75613" y="6314400"/>
            <a:ext cx="26234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none" spc="100" baseline="0">
                <a:solidFill>
                  <a:schemeClr val="tx1"/>
                </a:solidFill>
              </a:defRPr>
            </a:lvl1pPr>
          </a:lstStyle>
          <a:p>
            <a:pPr algn="r"/>
            <a:fld id="{7CF0BCE0-945C-4FDF-95A1-2149B1FF5B83}" type="datetimeFigureOut">
              <a:rPr lang="en-US" smtClean="0"/>
              <a:pPr algn="r"/>
              <a:t>3/7/25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8FEDB-2614-400B-9C19-0F4D448D98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83899" y="6314400"/>
            <a:ext cx="7572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4CD77608-3819-479B-BB98-C216BA724EFE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521775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63" r:id="rId5"/>
    <p:sldLayoutId id="2147483868" r:id="rId6"/>
    <p:sldLayoutId id="2147483864" r:id="rId7"/>
    <p:sldLayoutId id="2147483865" r:id="rId8"/>
    <p:sldLayoutId id="2147483866" r:id="rId9"/>
    <p:sldLayoutId id="2147483867" r:id="rId10"/>
    <p:sldLayoutId id="214748386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C51935E-4A08-4AE4-8E13-F40CD3C4F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0000" y="540000"/>
            <a:ext cx="5437187" cy="47920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500"/>
              <a:t>ML 24/2502 Investigate Input reconstruction by using Classifiers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0864" y="5516562"/>
            <a:ext cx="4500562" cy="79631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5000"/>
              </a:lnSpc>
            </a:pPr>
            <a:endParaRPr lang="en-US"/>
          </a:p>
          <a:p>
            <a:pPr>
              <a:lnSpc>
                <a:spcPct val="115000"/>
              </a:lnSpc>
            </a:pPr>
            <a:r>
              <a:rPr lang="en-US"/>
              <a:t> 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7014575-F0CE-4EAB-917E-3325411BA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25125" y="3600"/>
            <a:ext cx="7266875" cy="6854400"/>
            <a:chOff x="4925125" y="3600"/>
            <a:chExt cx="7266875" cy="6854400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2DB3702B-264B-4A16-B3FF-E2B1366D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25125" y="1098000"/>
              <a:ext cx="5760000" cy="5760000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2A33E2F-6DB3-47D1-B577-F0D4289E8A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05686" y="65314"/>
              <a:ext cx="4320000" cy="4320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A4F24FF8-D392-412B-AB34-A7D89311B0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37600" y="360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C6CDA467-8731-7374-36C5-33CFC5B479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672" r="6351" b="4"/>
          <a:stretch/>
        </p:blipFill>
        <p:spPr>
          <a:xfrm>
            <a:off x="4896763" y="-1"/>
            <a:ext cx="6858000" cy="6858000"/>
          </a:xfrm>
          <a:custGeom>
            <a:avLst/>
            <a:gdLst/>
            <a:ahLst/>
            <a:cxnLst/>
            <a:rect l="l" t="t" r="r" b="b"/>
            <a:pathLst>
              <a:path w="6858000" h="6858000">
                <a:moveTo>
                  <a:pt x="3429001" y="0"/>
                </a:moveTo>
                <a:cubicBezTo>
                  <a:pt x="5322784" y="0"/>
                  <a:pt x="6858000" y="1535216"/>
                  <a:pt x="6858000" y="3429001"/>
                </a:cubicBezTo>
                <a:cubicBezTo>
                  <a:pt x="6858000" y="5322785"/>
                  <a:pt x="5322784" y="6858000"/>
                  <a:pt x="3429001" y="6858000"/>
                </a:cubicBezTo>
                <a:cubicBezTo>
                  <a:pt x="1535216" y="6858000"/>
                  <a:pt x="0" y="5322785"/>
                  <a:pt x="0" y="3429001"/>
                </a:cubicBezTo>
                <a:cubicBezTo>
                  <a:pt x="0" y="1535216"/>
                  <a:pt x="1535216" y="0"/>
                  <a:pt x="3429001" y="0"/>
                </a:cubicBezTo>
                <a:close/>
              </a:path>
            </a:pathLst>
          </a:custGeom>
          <a:effectLst>
            <a:softEdge rad="10160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FF807-331D-E1D9-5C25-E0D57AE6C39C}"/>
              </a:ext>
            </a:extLst>
          </p:cNvPr>
          <p:cNvSpPr txBox="1"/>
          <p:nvPr/>
        </p:nvSpPr>
        <p:spPr>
          <a:xfrm>
            <a:off x="398971" y="4879744"/>
            <a:ext cx="4685368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Team </a:t>
            </a:r>
            <a:r>
              <a:rPr lang="en-GB" dirty="0" err="1"/>
              <a:t>Untilted</a:t>
            </a:r>
            <a:endParaRPr lang="en-US" dirty="0" err="1"/>
          </a:p>
          <a:p>
            <a:pPr>
              <a:spcAft>
                <a:spcPts val="600"/>
              </a:spcAft>
            </a:pPr>
            <a:br>
              <a:rPr lang="en-GB" dirty="0"/>
            </a:br>
            <a:r>
              <a:rPr lang="en-GB" dirty="0"/>
              <a:t>~Priyanshu</a:t>
            </a:r>
            <a:br>
              <a:rPr lang="en-GB" dirty="0"/>
            </a:br>
            <a:r>
              <a:rPr lang="en-GB" dirty="0"/>
              <a:t>~Manoj</a:t>
            </a:r>
          </a:p>
          <a:p>
            <a:pPr>
              <a:spcAft>
                <a:spcPts val="600"/>
              </a:spcAft>
            </a:pPr>
            <a:r>
              <a:rPr lang="en-GB" dirty="0"/>
              <a:t>~Akshay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7D2FD795-8DF5-44F0-8664-4D8F626DD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C6B683D-13FA-4605-8648-01FC9C82F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52A959-AA36-4E4C-940B-F33A7BE0A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FFC38A9-EA65-4BD6-A6E1-CAD07CCB8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9E36CA9-9013-4306-B36F-2E349B6FED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E8D3FFE-4362-43F6-99D3-1B83F7AD59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7AA39D6-8796-468A-8C18-D17C0BBF21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5967788-298A-4B75-B02F-0625E5F84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D0FB4E1-29BE-427B-9999-B25351A07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9914662-C165-4AD1-89C0-F6C47C1090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84C8199-BC83-4D02-8937-CF9AB0F4CF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28F3F3-1D22-45C2-8627-C7E4E74BD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9D8267F7-1115-4F9A-BEF5-BB6664BCF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12B66-D523-FB46-68B8-568571D8F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315" y="545126"/>
            <a:ext cx="4554821" cy="2186096"/>
          </a:xfrm>
        </p:spPr>
        <p:txBody>
          <a:bodyPr anchor="t">
            <a:normAutofit/>
          </a:bodyPr>
          <a:lstStyle/>
          <a:p>
            <a:r>
              <a:rPr lang="en-GB" b="1">
                <a:ea typeface="+mj-lt"/>
                <a:cs typeface="+mj-lt"/>
              </a:rPr>
              <a:t>Objective</a:t>
            </a:r>
            <a:r>
              <a:rPr lang="en-GB"/>
              <a:t> </a:t>
            </a:r>
            <a:endParaRPr lang="en-US"/>
          </a:p>
        </p:txBody>
      </p:sp>
      <p:pic>
        <p:nvPicPr>
          <p:cNvPr id="42" name="Graphic 41" descr="Group Brainstorm">
            <a:extLst>
              <a:ext uri="{FF2B5EF4-FFF2-40B4-BE49-F238E27FC236}">
                <a16:creationId xmlns:a16="http://schemas.microsoft.com/office/drawing/2014/main" id="{E2311EFB-690D-456D-2FBD-1B5124E8C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0494" y="540000"/>
            <a:ext cx="5768725" cy="576872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B056-E99F-3B42-4BB0-1BCDDF6EA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6367" y="1646334"/>
            <a:ext cx="4544769" cy="466239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Explore how classifiers can reverse-engineer inputs in the HTM (Hierarchical Temporal Memory) framework. We'll focus on two classifiers — </a:t>
            </a:r>
            <a:r>
              <a:rPr lang="en-GB" sz="1100" b="1" err="1">
                <a:ea typeface="+mn-lt"/>
                <a:cs typeface="+mn-lt"/>
              </a:rPr>
              <a:t>HtmClassifier</a:t>
            </a:r>
            <a:r>
              <a:rPr lang="en-GB" sz="1100">
                <a:ea typeface="+mn-lt"/>
                <a:cs typeface="+mn-lt"/>
              </a:rPr>
              <a:t> and </a:t>
            </a:r>
            <a:r>
              <a:rPr lang="en-GB" sz="1100" b="1">
                <a:ea typeface="+mn-lt"/>
                <a:cs typeface="+mn-lt"/>
              </a:rPr>
              <a:t>KNN Classifier</a:t>
            </a:r>
            <a:r>
              <a:rPr lang="en-GB" sz="1100">
                <a:ea typeface="+mn-lt"/>
                <a:cs typeface="+mn-lt"/>
              </a:rPr>
              <a:t> — to reconstruct inputs from SDRs (Sparse Distributed Representations).</a:t>
            </a:r>
          </a:p>
          <a:p>
            <a:pPr marL="269875" indent="-269875">
              <a:lnSpc>
                <a:spcPct val="115000"/>
              </a:lnSpc>
            </a:pPr>
            <a:r>
              <a:rPr lang="en-GB" sz="1100" b="1">
                <a:ea typeface="+mn-lt"/>
                <a:cs typeface="+mn-lt"/>
              </a:rPr>
              <a:t>Key Goals: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Run an extended </a:t>
            </a:r>
            <a:r>
              <a:rPr lang="en-GB" sz="1100" b="1" err="1">
                <a:ea typeface="+mn-lt"/>
                <a:cs typeface="+mn-lt"/>
              </a:rPr>
              <a:t>SpatialLearning</a:t>
            </a:r>
            <a:r>
              <a:rPr lang="en-GB" sz="1100">
                <a:ea typeface="+mn-lt"/>
                <a:cs typeface="+mn-lt"/>
              </a:rPr>
              <a:t> experiment.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Reconstruct inputs using the </a:t>
            </a:r>
            <a:r>
              <a:rPr lang="en-GB" sz="1100" b="1" err="1">
                <a:ea typeface="+mn-lt"/>
                <a:cs typeface="+mn-lt"/>
              </a:rPr>
              <a:t>IClassifier</a:t>
            </a:r>
            <a:r>
              <a:rPr lang="en-GB" sz="1100">
                <a:ea typeface="+mn-lt"/>
                <a:cs typeface="+mn-lt"/>
              </a:rPr>
              <a:t> interface.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Compare reconstructed inputs with original ones using similarity metrics.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Visualize results with </a:t>
            </a:r>
            <a:r>
              <a:rPr lang="en-GB" sz="1100" b="1">
                <a:ea typeface="+mn-lt"/>
                <a:cs typeface="+mn-lt"/>
              </a:rPr>
              <a:t>similarity graphs</a:t>
            </a:r>
            <a:r>
              <a:rPr lang="en-GB" sz="1100">
                <a:ea typeface="+mn-lt"/>
                <a:cs typeface="+mn-lt"/>
              </a:rPr>
              <a:t> for both classifiers.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 err="1">
                <a:ea typeface="+mn-lt"/>
                <a:cs typeface="+mn-lt"/>
              </a:rPr>
              <a:t>Analyze</a:t>
            </a:r>
            <a:r>
              <a:rPr lang="en-GB" sz="1100">
                <a:ea typeface="+mn-lt"/>
                <a:cs typeface="+mn-lt"/>
              </a:rPr>
              <a:t> and compare the performance of </a:t>
            </a:r>
            <a:r>
              <a:rPr lang="en-GB" sz="1100" b="1" err="1">
                <a:ea typeface="+mn-lt"/>
                <a:cs typeface="+mn-lt"/>
              </a:rPr>
              <a:t>HtmClassifier</a:t>
            </a:r>
            <a:r>
              <a:rPr lang="en-GB" sz="1100" b="1">
                <a:ea typeface="+mn-lt"/>
                <a:cs typeface="+mn-lt"/>
              </a:rPr>
              <a:t> vs. KNN</a:t>
            </a:r>
            <a:r>
              <a:rPr lang="en-GB" sz="1100">
                <a:ea typeface="+mn-lt"/>
                <a:cs typeface="+mn-lt"/>
              </a:rPr>
              <a:t>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200" b="1">
                <a:ea typeface="+mn-lt"/>
                <a:cs typeface="+mn-lt"/>
              </a:rPr>
              <a:t>Outcome:</a:t>
            </a:r>
            <a:br>
              <a:rPr lang="en-GB" sz="1100" b="1">
                <a:ea typeface="+mn-lt"/>
                <a:cs typeface="+mn-lt"/>
              </a:rPr>
            </a:br>
            <a:r>
              <a:rPr lang="en-GB" sz="1100" b="1">
                <a:ea typeface="+mn-lt"/>
                <a:cs typeface="+mn-lt"/>
              </a:rPr>
              <a:t>Understand which classifier better preserves original inputs, offering insights for improved input reconstruction in HTM systems. 🚀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1901418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807C163-87AF-4BC4-ADE2-4E5EAFEEE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696E8E-5A50-4F12-9E0B-502F85061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B8A07F7-656D-4B06-860B-429032521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D932A44-B2F8-4EA5-A529-D1EF350CB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211287-5AF6-4DE8-9550-CE2475D62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35D3D5B-2BDE-4FFA-AD19-2A6FA11B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5141913-6183-49C2-BACE-61AF50181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CBF2F32-98FF-4601-8322-C5E0724D9D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AF3E2D8-35DA-4B2D-891A-A1594F7DB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4543934E-E678-45FF-8C62-1EF71BABE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9B54ED7-1C7F-4C59-B1CB-84D3D9C21C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BFC7E0-9992-4076-88C6-3354EB12EB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9C03209-5BD8-4B0B-847E-430FFF592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FBFE0A-72CB-FD82-287D-1F451B31E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/>
              <a:t>Objective ( content which is good ?)</a:t>
            </a:r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5EFD7C19-AC47-CAE2-0BC2-A9A5A7D626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2358446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85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BCFFAB-27E4-BD8D-C303-F61F7037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CB80451-1196-1C3A-D117-DE2515FA1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94140D9-4B1D-B6AB-62B2-649B6D003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7266875" cy="6858000"/>
            <a:chOff x="0" y="0"/>
            <a:chExt cx="7266875" cy="6858000"/>
          </a:xfrm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C2C57EA-229D-CD1A-848C-56C00019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600"/>
              <a:ext cx="7266875" cy="6854400"/>
            </a:xfrm>
            <a:custGeom>
              <a:avLst/>
              <a:gdLst>
                <a:gd name="connsiteX0" fmla="*/ 3839675 w 7266875"/>
                <a:gd name="connsiteY0" fmla="*/ 0 h 6854400"/>
                <a:gd name="connsiteX1" fmla="*/ 7266875 w 7266875"/>
                <a:gd name="connsiteY1" fmla="*/ 3427200 h 6854400"/>
                <a:gd name="connsiteX2" fmla="*/ 3839675 w 7266875"/>
                <a:gd name="connsiteY2" fmla="*/ 6854400 h 6854400"/>
                <a:gd name="connsiteX3" fmla="*/ 3489264 w 7266875"/>
                <a:gd name="connsiteY3" fmla="*/ 6836706 h 6854400"/>
                <a:gd name="connsiteX4" fmla="*/ 3327588 w 7266875"/>
                <a:gd name="connsiteY4" fmla="*/ 6816161 h 6854400"/>
                <a:gd name="connsiteX5" fmla="*/ 3174464 w 7266875"/>
                <a:gd name="connsiteY5" fmla="*/ 6839531 h 6854400"/>
                <a:gd name="connsiteX6" fmla="*/ 2880000 w 7266875"/>
                <a:gd name="connsiteY6" fmla="*/ 6854400 h 6854400"/>
                <a:gd name="connsiteX7" fmla="*/ 0 w 7266875"/>
                <a:gd name="connsiteY7" fmla="*/ 3974400 h 6854400"/>
                <a:gd name="connsiteX8" fmla="*/ 226325 w 7266875"/>
                <a:gd name="connsiteY8" fmla="*/ 2853374 h 6854400"/>
                <a:gd name="connsiteX9" fmla="*/ 258015 w 7266875"/>
                <a:gd name="connsiteY9" fmla="*/ 2787590 h 6854400"/>
                <a:gd name="connsiteX10" fmla="*/ 224445 w 7266875"/>
                <a:gd name="connsiteY10" fmla="*/ 2657030 h 6854400"/>
                <a:gd name="connsiteX11" fmla="*/ 180561 w 7266875"/>
                <a:gd name="connsiteY11" fmla="*/ 2221714 h 6854400"/>
                <a:gd name="connsiteX12" fmla="*/ 2340561 w 7266875"/>
                <a:gd name="connsiteY12" fmla="*/ 61714 h 6854400"/>
                <a:gd name="connsiteX13" fmla="*/ 2828370 w 7266875"/>
                <a:gd name="connsiteY13" fmla="*/ 117025 h 6854400"/>
                <a:gd name="connsiteX14" fmla="*/ 2891183 w 7266875"/>
                <a:gd name="connsiteY14" fmla="*/ 134017 h 6854400"/>
                <a:gd name="connsiteX15" fmla="*/ 2983165 w 7266875"/>
                <a:gd name="connsiteY15" fmla="*/ 107897 h 6854400"/>
                <a:gd name="connsiteX16" fmla="*/ 3839675 w 7266875"/>
                <a:gd name="connsiteY16" fmla="*/ 0 h 6854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66875" h="6854400">
                  <a:moveTo>
                    <a:pt x="3839675" y="0"/>
                  </a:moveTo>
                  <a:cubicBezTo>
                    <a:pt x="5732465" y="0"/>
                    <a:pt x="7266875" y="1534410"/>
                    <a:pt x="7266875" y="3427200"/>
                  </a:cubicBezTo>
                  <a:cubicBezTo>
                    <a:pt x="7266875" y="5319990"/>
                    <a:pt x="5732465" y="6854400"/>
                    <a:pt x="3839675" y="6854400"/>
                  </a:cubicBezTo>
                  <a:cubicBezTo>
                    <a:pt x="3721376" y="6854400"/>
                    <a:pt x="3604476" y="6848406"/>
                    <a:pt x="3489264" y="6836706"/>
                  </a:cubicBezTo>
                  <a:lnTo>
                    <a:pt x="3327588" y="6816161"/>
                  </a:lnTo>
                  <a:lnTo>
                    <a:pt x="3174464" y="6839531"/>
                  </a:lnTo>
                  <a:cubicBezTo>
                    <a:pt x="3077646" y="6849363"/>
                    <a:pt x="2979412" y="6854400"/>
                    <a:pt x="2880000" y="6854400"/>
                  </a:cubicBezTo>
                  <a:cubicBezTo>
                    <a:pt x="1289420" y="6854400"/>
                    <a:pt x="0" y="5564980"/>
                    <a:pt x="0" y="3974400"/>
                  </a:cubicBezTo>
                  <a:cubicBezTo>
                    <a:pt x="0" y="3576755"/>
                    <a:pt x="80589" y="3197933"/>
                    <a:pt x="226325" y="2853374"/>
                  </a:cubicBezTo>
                  <a:lnTo>
                    <a:pt x="258015" y="2787590"/>
                  </a:lnTo>
                  <a:lnTo>
                    <a:pt x="224445" y="2657030"/>
                  </a:lnTo>
                  <a:cubicBezTo>
                    <a:pt x="195672" y="2516419"/>
                    <a:pt x="180561" y="2370831"/>
                    <a:pt x="180561" y="2221714"/>
                  </a:cubicBezTo>
                  <a:cubicBezTo>
                    <a:pt x="180561" y="1028779"/>
                    <a:pt x="1147626" y="61714"/>
                    <a:pt x="2340561" y="61714"/>
                  </a:cubicBezTo>
                  <a:cubicBezTo>
                    <a:pt x="2508318" y="61714"/>
                    <a:pt x="2671608" y="80838"/>
                    <a:pt x="2828370" y="117025"/>
                  </a:cubicBezTo>
                  <a:lnTo>
                    <a:pt x="2891183" y="134017"/>
                  </a:lnTo>
                  <a:lnTo>
                    <a:pt x="2983165" y="107897"/>
                  </a:lnTo>
                  <a:cubicBezTo>
                    <a:pt x="3256928" y="37461"/>
                    <a:pt x="3543927" y="0"/>
                    <a:pt x="3839675" y="0"/>
                  </a:cubicBezTo>
                  <a:close/>
                </a:path>
              </a:pathLst>
            </a:custGeom>
            <a:solidFill>
              <a:schemeClr val="bg2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405D270-373D-AAC6-EFB4-D73C691FA2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094400"/>
              <a:ext cx="5760000" cy="5760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0E6C8C09-D87F-89DD-C5F3-C7B31C66E8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0561" y="61714"/>
              <a:ext cx="4320000" cy="4320000"/>
            </a:xfrm>
            <a:prstGeom prst="ellipse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D2694D1-0EA1-3E18-EE42-4855117116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2475" y="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680FF7C-6865-E3FC-2CEF-50E658472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833015"/>
            <a:ext cx="5958000" cy="5202026"/>
          </a:xfrm>
        </p:spPr>
        <p:txBody>
          <a:bodyPr anchor="ctr">
            <a:normAutofit/>
          </a:bodyPr>
          <a:lstStyle/>
          <a:p>
            <a:pPr algn="ctr"/>
            <a:r>
              <a:rPr lang="en-GB" sz="880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F9BE3-F37B-A398-3DB8-989081707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2" y="540347"/>
            <a:ext cx="4537075" cy="5760000"/>
          </a:xfrm>
        </p:spPr>
        <p:txBody>
          <a:bodyPr anchor="ctr">
            <a:normAutofit/>
          </a:bodyPr>
          <a:lstStyle/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Classifiers</a:t>
            </a:r>
            <a:r>
              <a:rPr lang="en-GB">
                <a:ea typeface="+mn-lt"/>
                <a:cs typeface="+mn-lt"/>
              </a:rPr>
              <a:t> are models that categorize data into different classes.</a:t>
            </a:r>
            <a:endParaRPr lang="en-US"/>
          </a:p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HTM (Hierarchical Temporal Memory)</a:t>
            </a:r>
            <a:r>
              <a:rPr lang="en-GB">
                <a:ea typeface="+mn-lt"/>
                <a:cs typeface="+mn-lt"/>
              </a:rPr>
              <a:t> mimics the neocortex for learning patterns.</a:t>
            </a:r>
            <a:endParaRPr lang="en-GB"/>
          </a:p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KNN (K-Nearest Neighbors)</a:t>
            </a:r>
            <a:r>
              <a:rPr lang="en-GB">
                <a:ea typeface="+mn-lt"/>
                <a:cs typeface="+mn-lt"/>
              </a:rPr>
              <a:t> uses distance-based similarity for classification.</a:t>
            </a:r>
            <a:endParaRPr lang="en-GB"/>
          </a:p>
          <a:p>
            <a:pPr marL="269875" indent="-269875">
              <a:buFont typeface="Arial"/>
              <a:buChar char="•"/>
            </a:pPr>
            <a:r>
              <a:rPr lang="en-GB">
                <a:ea typeface="+mn-lt"/>
                <a:cs typeface="+mn-lt"/>
              </a:rPr>
              <a:t>Goal: Understand how HTM and KNN can reconstruct inputs from encoded representations.</a:t>
            </a:r>
          </a:p>
          <a:p>
            <a:pPr marL="228600" indent="-228600">
              <a:buFont typeface=""/>
              <a:buChar char="•"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489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03467A-2AA2-C160-3B75-F1C51E32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81C8C0F4-5C44-4C3F-B321-5CB3E2BA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87A62DB-71D7-497D-BE1C-933ECB515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25125" y="3600"/>
            <a:ext cx="7266875" cy="6854400"/>
            <a:chOff x="4925125" y="3600"/>
            <a:chExt cx="7266875" cy="68544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DAC2767-A7E3-4697-90F6-443A583140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25125" y="1098000"/>
              <a:ext cx="5760000" cy="5760000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B23E396-A746-411A-8709-32ABC4DDE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05686" y="65314"/>
              <a:ext cx="4320000" cy="4320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135C986-CB82-4211-A910-D232B9BCA1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37600" y="360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60" name="Freeform: Shape 59">
            <a:extLst>
              <a:ext uri="{FF2B5EF4-FFF2-40B4-BE49-F238E27FC236}">
                <a16:creationId xmlns:a16="http://schemas.microsoft.com/office/drawing/2014/main" id="{837F2C8F-CC11-4A18-AA7E-AE8C022CD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6000" y="1"/>
            <a:ext cx="6858000" cy="6857999"/>
          </a:xfrm>
          <a:custGeom>
            <a:avLst/>
            <a:gdLst>
              <a:gd name="connsiteX0" fmla="*/ 3428961 w 6858000"/>
              <a:gd name="connsiteY0" fmla="*/ 0 h 6857999"/>
              <a:gd name="connsiteX1" fmla="*/ 3429042 w 6858000"/>
              <a:gd name="connsiteY1" fmla="*/ 0 h 6857999"/>
              <a:gd name="connsiteX2" fmla="*/ 3605457 w 6858000"/>
              <a:gd name="connsiteY2" fmla="*/ 4461 h 6857999"/>
              <a:gd name="connsiteX3" fmla="*/ 6858000 w 6858000"/>
              <a:gd name="connsiteY3" fmla="*/ 3429000 h 6857999"/>
              <a:gd name="connsiteX4" fmla="*/ 3429001 w 6858000"/>
              <a:gd name="connsiteY4" fmla="*/ 6857999 h 6857999"/>
              <a:gd name="connsiteX5" fmla="*/ 0 w 6858000"/>
              <a:gd name="connsiteY5" fmla="*/ 3429000 h 6857999"/>
              <a:gd name="connsiteX6" fmla="*/ 3252545 w 6858000"/>
              <a:gd name="connsiteY6" fmla="*/ 446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8000" h="6857999">
                <a:moveTo>
                  <a:pt x="3428961" y="0"/>
                </a:moveTo>
                <a:lnTo>
                  <a:pt x="3429042" y="0"/>
                </a:lnTo>
                <a:lnTo>
                  <a:pt x="3605457" y="4461"/>
                </a:lnTo>
                <a:cubicBezTo>
                  <a:pt x="5417236" y="96300"/>
                  <a:pt x="6858000" y="1594396"/>
                  <a:pt x="6858000" y="3429000"/>
                </a:cubicBezTo>
                <a:cubicBezTo>
                  <a:pt x="6858000" y="5322784"/>
                  <a:pt x="5322784" y="6857999"/>
                  <a:pt x="3429001" y="6857999"/>
                </a:cubicBezTo>
                <a:cubicBezTo>
                  <a:pt x="1535216" y="6857999"/>
                  <a:pt x="0" y="5322784"/>
                  <a:pt x="0" y="3429000"/>
                </a:cubicBezTo>
                <a:cubicBezTo>
                  <a:pt x="0" y="1594396"/>
                  <a:pt x="1440765" y="96300"/>
                  <a:pt x="3252545" y="4461"/>
                </a:cubicBezTo>
                <a:close/>
              </a:path>
            </a:pathLst>
          </a:custGeom>
          <a:effectLst>
            <a:softEdge rad="1016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33CE5-33BC-6E18-0C8A-44D06766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2181946"/>
          </a:xfrm>
        </p:spPr>
        <p:txBody>
          <a:bodyPr anchor="t">
            <a:normAutofit/>
          </a:bodyPr>
          <a:lstStyle/>
          <a:p>
            <a:r>
              <a:rPr lang="en-GB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D9852-958E-ECC0-8FEE-04BB1B69F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947121"/>
            <a:ext cx="4500562" cy="3361604"/>
          </a:xfrm>
        </p:spPr>
        <p:txBody>
          <a:bodyPr anchor="t">
            <a:normAutofit/>
          </a:bodyPr>
          <a:lstStyle/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 b="1">
                <a:ea typeface="+mn-lt"/>
                <a:cs typeface="+mn-lt"/>
              </a:rPr>
              <a:t>Classifiers</a:t>
            </a:r>
            <a:r>
              <a:rPr lang="en-GB" sz="1500">
                <a:ea typeface="+mn-lt"/>
                <a:cs typeface="+mn-lt"/>
              </a:rPr>
              <a:t> are models that categorize data into different classes.</a:t>
            </a:r>
            <a:endParaRPr lang="en-US" sz="1500"/>
          </a:p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 b="1">
                <a:ea typeface="+mn-lt"/>
                <a:cs typeface="+mn-lt"/>
              </a:rPr>
              <a:t>HTM (Hierarchical Temporal Memory)</a:t>
            </a:r>
            <a:r>
              <a:rPr lang="en-GB" sz="1500">
                <a:ea typeface="+mn-lt"/>
                <a:cs typeface="+mn-lt"/>
              </a:rPr>
              <a:t> mimics the neocortex for learning patterns.</a:t>
            </a:r>
            <a:endParaRPr lang="en-GB" sz="1500"/>
          </a:p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 b="1">
                <a:ea typeface="+mn-lt"/>
                <a:cs typeface="+mn-lt"/>
              </a:rPr>
              <a:t>KNN (K-Nearest Neighbors)</a:t>
            </a:r>
            <a:r>
              <a:rPr lang="en-GB" sz="1500">
                <a:ea typeface="+mn-lt"/>
                <a:cs typeface="+mn-lt"/>
              </a:rPr>
              <a:t> uses distance-based similarity for classification.</a:t>
            </a:r>
            <a:endParaRPr lang="en-GB" sz="1500"/>
          </a:p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>
                <a:ea typeface="+mn-lt"/>
                <a:cs typeface="+mn-lt"/>
              </a:rPr>
              <a:t>Goal: Understand how HTM and KNN can reconstruct inputs from encoded representations.</a:t>
            </a:r>
          </a:p>
          <a:p>
            <a:pPr marL="228600" indent="-228600">
              <a:lnSpc>
                <a:spcPct val="115000"/>
              </a:lnSpc>
              <a:buFont typeface=""/>
              <a:buChar char="•"/>
            </a:pPr>
            <a:endParaRPr lang="en-GB" sz="1500"/>
          </a:p>
        </p:txBody>
      </p:sp>
      <p:pic>
        <p:nvPicPr>
          <p:cNvPr id="50" name="Graphic 49" descr="Database">
            <a:extLst>
              <a:ext uri="{FF2B5EF4-FFF2-40B4-BE49-F238E27FC236}">
                <a16:creationId xmlns:a16="http://schemas.microsoft.com/office/drawing/2014/main" id="{BAD61A94-F07A-1517-3AC8-BE1E3A5D5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5000" y="1629000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8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C8C0F4-5C44-4C3F-B321-5CB3E2BA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DC992-8A38-5A23-0B91-D3CB8D9B9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7500" b="1"/>
              <a:t>Overview of HTM &amp; Classifiers</a:t>
            </a:r>
            <a:endParaRPr lang="en-US" sz="7500"/>
          </a:p>
          <a:p>
            <a:endParaRPr lang="en-GB" sz="750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7CDD10-20DC-098C-F646-B6EEBF8A69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8303997"/>
              </p:ext>
            </p:extLst>
          </p:nvPr>
        </p:nvGraphicFramePr>
        <p:xfrm>
          <a:off x="5232400" y="540000"/>
          <a:ext cx="6408738" cy="57209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860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theme/theme1.xml><?xml version="1.0" encoding="utf-8"?>
<a:theme xmlns:a="http://schemas.openxmlformats.org/drawingml/2006/main" name="GlowVTI">
  <a:themeElements>
    <a:clrScheme name="Glow">
      <a:dk1>
        <a:sysClr val="windowText" lastClr="000000"/>
      </a:dk1>
      <a:lt1>
        <a:sysClr val="window" lastClr="FFFFFF"/>
      </a:lt1>
      <a:dk2>
        <a:srgbClr val="000000"/>
      </a:dk2>
      <a:lt2>
        <a:srgbClr val="F2F2F2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Blur">
      <a:majorFont>
        <a:latin typeface="Bell M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owVTI" id="{D5B5AA20-F6D3-43B8-AF6B-ECAF69256418}" vid="{93025AB5-1D44-4CD3-9BC3-729F6E11E040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1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5869D46-89D1-4E02-80B9-54410B8CE584}">
  <we:reference id="wa200005566" version="1.0.0.0" store="en-US" storeType="omex"/>
  <we:alternateReferences>
    <we:reference id="wa200005566" version="1.0.0.0" store="omex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F8E11DAD-8A6E-4576-9BCA-8E684D6B93F7}">
  <we:reference id="wa200005669" version="2.0.0.0" store="en-US" storeType="omex"/>
  <we:alternateReferences>
    <we:reference id="wa200005669" version="2.0.0.0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358</Words>
  <Application>Microsoft Macintosh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Avenir Next LT Pro</vt:lpstr>
      <vt:lpstr>Bell MT</vt:lpstr>
      <vt:lpstr>GlowVTI</vt:lpstr>
      <vt:lpstr>ML 24/2502 Investigate Input reconstruction by using Classifiers</vt:lpstr>
      <vt:lpstr>Objective </vt:lpstr>
      <vt:lpstr>Objective ( content which is good ?)</vt:lpstr>
      <vt:lpstr>Introduction</vt:lpstr>
      <vt:lpstr>Introduction</vt:lpstr>
      <vt:lpstr>Overview of HTM &amp; Classifiers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24/2502 Investigate Input reconstruction by using Classifiers</dc:title>
  <dc:creator/>
  <cp:lastModifiedBy>Microsoft Office User</cp:lastModifiedBy>
  <cp:revision>88</cp:revision>
  <dcterms:created xsi:type="dcterms:W3CDTF">2025-03-05T23:38:40Z</dcterms:created>
  <dcterms:modified xsi:type="dcterms:W3CDTF">2025-03-07T21:09:18Z</dcterms:modified>
</cp:coreProperties>
</file>