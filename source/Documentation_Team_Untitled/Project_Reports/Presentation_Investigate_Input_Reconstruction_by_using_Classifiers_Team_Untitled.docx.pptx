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94" r:id="rId3"/>
    <p:sldId id="295" r:id="rId4"/>
    <p:sldId id="303" r:id="rId5"/>
    <p:sldId id="304" r:id="rId6"/>
    <p:sldId id="296" r:id="rId7"/>
    <p:sldId id="297" r:id="rId8"/>
    <p:sldId id="299" r:id="rId9"/>
    <p:sldId id="301" r:id="rId10"/>
    <p:sldId id="302" r:id="rId11"/>
    <p:sldId id="305" r:id="rId12"/>
    <p:sldId id="307" r:id="rId13"/>
    <p:sldId id="266" r:id="rId14"/>
    <p:sldId id="310" r:id="rId15"/>
    <p:sldId id="308" r:id="rId16"/>
    <p:sldId id="313" r:id="rId17"/>
    <p:sldId id="311" r:id="rId18"/>
    <p:sldId id="312" r:id="rId19"/>
  </p:sldIdLst>
  <p:sldSz cx="9144000" cy="5143500" type="screen16x9"/>
  <p:notesSz cx="6858000" cy="9144000"/>
  <p:embeddedFontLst>
    <p:embeddedFont>
      <p:font typeface="Nunito" pitchFamily="2" charset="0"/>
      <p:regular r:id="rId21"/>
      <p:bold r:id="rId22"/>
      <p:italic r:id="rId23"/>
      <p:boldItalic r:id="rId24"/>
    </p:embeddedFont>
    <p:embeddedFont>
      <p:font typeface="Roboto" panose="02000000000000000000" pitchFamily="2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D0B856-9C14-481D-80A2-1C56FE75090B}" v="1105" dt="2025-03-23T18:37:56.495"/>
    <p1510:client id="{3B9EE217-F53C-DC28-144C-29062C5C2490}" v="1" dt="2025-03-23T15:00:57.118"/>
    <p1510:client id="{6DF716FC-08CD-CCD5-E4E5-DF45CACB68DC}" v="522" dt="2025-03-24T20:09:36.054"/>
    <p1510:client id="{7056928C-C4BD-1AF9-2F2E-4692366D7A21}" v="2083" dt="2025-03-22T22:33:20.6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>
          <a:extLst>
            <a:ext uri="{FF2B5EF4-FFF2-40B4-BE49-F238E27FC236}">
              <a16:creationId xmlns:a16="http://schemas.microsoft.com/office/drawing/2014/main" id="{2AFC1816-2749-1AC1-8160-38BB48442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6dcb676a29_0_268:notes">
            <a:extLst>
              <a:ext uri="{FF2B5EF4-FFF2-40B4-BE49-F238E27FC236}">
                <a16:creationId xmlns:a16="http://schemas.microsoft.com/office/drawing/2014/main" id="{AB16A2AF-4AD7-6185-EAE5-8DED6EB1D6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6dcb676a29_0_268:notes">
            <a:extLst>
              <a:ext uri="{FF2B5EF4-FFF2-40B4-BE49-F238E27FC236}">
                <a16:creationId xmlns:a16="http://schemas.microsoft.com/office/drawing/2014/main" id="{656C2671-49B5-691A-BEB7-671012243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44086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>
          <a:extLst>
            <a:ext uri="{FF2B5EF4-FFF2-40B4-BE49-F238E27FC236}">
              <a16:creationId xmlns:a16="http://schemas.microsoft.com/office/drawing/2014/main" id="{6740919F-7A92-781D-1B57-AA47D7293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6dcb676a29_0_268:notes">
            <a:extLst>
              <a:ext uri="{FF2B5EF4-FFF2-40B4-BE49-F238E27FC236}">
                <a16:creationId xmlns:a16="http://schemas.microsoft.com/office/drawing/2014/main" id="{0A1A4DAC-14F0-63CD-FCD8-5E1C1FB678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6dcb676a29_0_268:notes">
            <a:extLst>
              <a:ext uri="{FF2B5EF4-FFF2-40B4-BE49-F238E27FC236}">
                <a16:creationId xmlns:a16="http://schemas.microsoft.com/office/drawing/2014/main" id="{60E887A4-4579-5740-3929-AF3C2A0F12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67072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>
          <a:extLst>
            <a:ext uri="{FF2B5EF4-FFF2-40B4-BE49-F238E27FC236}">
              <a16:creationId xmlns:a16="http://schemas.microsoft.com/office/drawing/2014/main" id="{2F088770-0322-7AA6-9AE9-05179320D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6dcb676a29_0_268:notes">
            <a:extLst>
              <a:ext uri="{FF2B5EF4-FFF2-40B4-BE49-F238E27FC236}">
                <a16:creationId xmlns:a16="http://schemas.microsoft.com/office/drawing/2014/main" id="{D0DABA39-B3A0-DFB4-2A70-17B2D46BD8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6dcb676a29_0_268:notes">
            <a:extLst>
              <a:ext uri="{FF2B5EF4-FFF2-40B4-BE49-F238E27FC236}">
                <a16:creationId xmlns:a16="http://schemas.microsoft.com/office/drawing/2014/main" id="{C4F836CA-D0D3-80CC-9D91-6C2E3FF757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36740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>
          <a:extLst>
            <a:ext uri="{FF2B5EF4-FFF2-40B4-BE49-F238E27FC236}">
              <a16:creationId xmlns:a16="http://schemas.microsoft.com/office/drawing/2014/main" id="{701B6786-8257-D701-D93C-669AA797B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6dcb676a29_0_268:notes">
            <a:extLst>
              <a:ext uri="{FF2B5EF4-FFF2-40B4-BE49-F238E27FC236}">
                <a16:creationId xmlns:a16="http://schemas.microsoft.com/office/drawing/2014/main" id="{E21ED009-35C0-65E6-06CB-B9FA6988AF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6dcb676a29_0_268:notes">
            <a:extLst>
              <a:ext uri="{FF2B5EF4-FFF2-40B4-BE49-F238E27FC236}">
                <a16:creationId xmlns:a16="http://schemas.microsoft.com/office/drawing/2014/main" id="{5BAF7E80-FC20-B3D0-C7FD-8579EE7490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73199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>
          <a:extLst>
            <a:ext uri="{FF2B5EF4-FFF2-40B4-BE49-F238E27FC236}">
              <a16:creationId xmlns:a16="http://schemas.microsoft.com/office/drawing/2014/main" id="{64695C1C-6221-C6F1-6EFB-1C039F67B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6dcb676a29_0_268:notes">
            <a:extLst>
              <a:ext uri="{FF2B5EF4-FFF2-40B4-BE49-F238E27FC236}">
                <a16:creationId xmlns:a16="http://schemas.microsoft.com/office/drawing/2014/main" id="{1AE7073F-B95E-085F-70BA-8450E74389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6dcb676a29_0_268:notes">
            <a:extLst>
              <a:ext uri="{FF2B5EF4-FFF2-40B4-BE49-F238E27FC236}">
                <a16:creationId xmlns:a16="http://schemas.microsoft.com/office/drawing/2014/main" id="{86C1E1E8-7817-61F6-8A06-197BE433E1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22173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>
          <a:extLst>
            <a:ext uri="{FF2B5EF4-FFF2-40B4-BE49-F238E27FC236}">
              <a16:creationId xmlns:a16="http://schemas.microsoft.com/office/drawing/2014/main" id="{86E542D9-4339-145E-82E2-F54051EE1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6dcb676a29_0_268:notes">
            <a:extLst>
              <a:ext uri="{FF2B5EF4-FFF2-40B4-BE49-F238E27FC236}">
                <a16:creationId xmlns:a16="http://schemas.microsoft.com/office/drawing/2014/main" id="{E2C8007E-56CA-5A5B-1FBB-6155C11ED6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6dcb676a29_0_268:notes">
            <a:extLst>
              <a:ext uri="{FF2B5EF4-FFF2-40B4-BE49-F238E27FC236}">
                <a16:creationId xmlns:a16="http://schemas.microsoft.com/office/drawing/2014/main" id="{D81F7455-743C-363A-781B-63087EA3E3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90520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>
          <a:extLst>
            <a:ext uri="{FF2B5EF4-FFF2-40B4-BE49-F238E27FC236}">
              <a16:creationId xmlns:a16="http://schemas.microsoft.com/office/drawing/2014/main" id="{5EC37A83-8D9B-3CF6-BDB0-14E8E86A3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6dcb676a29_0_268:notes">
            <a:extLst>
              <a:ext uri="{FF2B5EF4-FFF2-40B4-BE49-F238E27FC236}">
                <a16:creationId xmlns:a16="http://schemas.microsoft.com/office/drawing/2014/main" id="{7A328ABC-94DE-EF9D-7379-374F680BA1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6dcb676a29_0_268:notes">
            <a:extLst>
              <a:ext uri="{FF2B5EF4-FFF2-40B4-BE49-F238E27FC236}">
                <a16:creationId xmlns:a16="http://schemas.microsoft.com/office/drawing/2014/main" id="{18F07C18-55B2-522B-4F88-A2131ED435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70963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>
          <a:extLst>
            <a:ext uri="{FF2B5EF4-FFF2-40B4-BE49-F238E27FC236}">
              <a16:creationId xmlns:a16="http://schemas.microsoft.com/office/drawing/2014/main" id="{B9B6C15C-3E53-1173-4A11-61CD44932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6dcb676a29_0_268:notes">
            <a:extLst>
              <a:ext uri="{FF2B5EF4-FFF2-40B4-BE49-F238E27FC236}">
                <a16:creationId xmlns:a16="http://schemas.microsoft.com/office/drawing/2014/main" id="{91BDD049-E797-A31F-16CA-E5C3BF6399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6dcb676a29_0_268:notes">
            <a:extLst>
              <a:ext uri="{FF2B5EF4-FFF2-40B4-BE49-F238E27FC236}">
                <a16:creationId xmlns:a16="http://schemas.microsoft.com/office/drawing/2014/main" id="{FC115967-10A5-2C5B-D301-DAB0B9183B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0961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>
          <a:extLst>
            <a:ext uri="{FF2B5EF4-FFF2-40B4-BE49-F238E27FC236}">
              <a16:creationId xmlns:a16="http://schemas.microsoft.com/office/drawing/2014/main" id="{E765D071-64E7-119D-CB56-7ADAFB864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6dcb676a29_0_268:notes">
            <a:extLst>
              <a:ext uri="{FF2B5EF4-FFF2-40B4-BE49-F238E27FC236}">
                <a16:creationId xmlns:a16="http://schemas.microsoft.com/office/drawing/2014/main" id="{E784575E-DA62-95FF-CEF8-0C46CB6C25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6dcb676a29_0_268:notes">
            <a:extLst>
              <a:ext uri="{FF2B5EF4-FFF2-40B4-BE49-F238E27FC236}">
                <a16:creationId xmlns:a16="http://schemas.microsoft.com/office/drawing/2014/main" id="{4B858296-D40B-36B9-0444-D4F084905B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16856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>
          <a:extLst>
            <a:ext uri="{FF2B5EF4-FFF2-40B4-BE49-F238E27FC236}">
              <a16:creationId xmlns:a16="http://schemas.microsoft.com/office/drawing/2014/main" id="{46D02A2B-7772-2589-5A75-42D0F40C7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6dcb676a29_0_268:notes">
            <a:extLst>
              <a:ext uri="{FF2B5EF4-FFF2-40B4-BE49-F238E27FC236}">
                <a16:creationId xmlns:a16="http://schemas.microsoft.com/office/drawing/2014/main" id="{A22F4FFF-9C15-7A30-6C23-5BE4D44D75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6dcb676a29_0_268:notes">
            <a:extLst>
              <a:ext uri="{FF2B5EF4-FFF2-40B4-BE49-F238E27FC236}">
                <a16:creationId xmlns:a16="http://schemas.microsoft.com/office/drawing/2014/main" id="{86AD6D7B-E5E9-6D3F-33FF-7D231ACF0A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03438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6dcb676a29_1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6dcb676a29_1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>
          <a:extLst>
            <a:ext uri="{FF2B5EF4-FFF2-40B4-BE49-F238E27FC236}">
              <a16:creationId xmlns:a16="http://schemas.microsoft.com/office/drawing/2014/main" id="{7A069B0D-323D-E333-E796-5CF8DCF2A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6dcb676a29_0_268:notes">
            <a:extLst>
              <a:ext uri="{FF2B5EF4-FFF2-40B4-BE49-F238E27FC236}">
                <a16:creationId xmlns:a16="http://schemas.microsoft.com/office/drawing/2014/main" id="{5D689075-B81B-DD24-C716-C2FB3640FA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6dcb676a29_0_268:notes">
            <a:extLst>
              <a:ext uri="{FF2B5EF4-FFF2-40B4-BE49-F238E27FC236}">
                <a16:creationId xmlns:a16="http://schemas.microsoft.com/office/drawing/2014/main" id="{EA5BFD85-EEA0-1816-E08B-82700382D1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2037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>
          <a:extLst>
            <a:ext uri="{FF2B5EF4-FFF2-40B4-BE49-F238E27FC236}">
              <a16:creationId xmlns:a16="http://schemas.microsoft.com/office/drawing/2014/main" id="{779ADC8E-04A1-0AE3-EDB0-EDF2D68C5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6dcb676a29_1_68:notes">
            <a:extLst>
              <a:ext uri="{FF2B5EF4-FFF2-40B4-BE49-F238E27FC236}">
                <a16:creationId xmlns:a16="http://schemas.microsoft.com/office/drawing/2014/main" id="{BA480705-B2AC-E477-7C9E-78493C1611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6dcb676a29_1_68:notes">
            <a:extLst>
              <a:ext uri="{FF2B5EF4-FFF2-40B4-BE49-F238E27FC236}">
                <a16:creationId xmlns:a16="http://schemas.microsoft.com/office/drawing/2014/main" id="{0B905597-2C5F-052E-BE3A-C9B31813EC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34999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aticon.com/" TargetMode="External"/><Relationship Id="rId2" Type="http://schemas.openxmlformats.org/officeDocument/2006/relationships/hyperlink" Target="https://slidesgo.com/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freepik.com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3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name="adj1" fmla="val 8244818"/>
                  <a:gd name="adj2" fmla="val 16246175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name="adj1" fmla="val 1937684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name="adj1" fmla="val 19376841"/>
                  <a:gd name="adj2" fmla="val 12313574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name="adj1" fmla="val 8801158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name="adj1" fmla="val 1255410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name="adj1" fmla="val 1937684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" name="Google Shape;46;p2"/>
          <p:cNvSpPr txBox="1">
            <a:spLocks noGrp="1"/>
          </p:cNvSpPr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2"/>
          <p:cNvSpPr txBox="1">
            <a:spLocks noGrp="1"/>
          </p:cNvSpPr>
          <p:nvPr>
            <p:ph type="subTitle" idx="1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2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2" name="Google Shape;82;p3"/>
          <p:cNvSpPr txBox="1">
            <a:spLocks noGrp="1"/>
          </p:cNvSpPr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3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" name="Google Shape;88;p4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4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0" name="Google Shape;90;p4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5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5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7" name="Google Shape;97;p5"/>
          <p:cNvSpPr txBox="1">
            <a:spLocks noGrp="1"/>
          </p:cNvSpPr>
          <p:nvPr>
            <p:ph type="body" idx="2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5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6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6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9" name="Google Shape;109;p7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7"/>
          <p:cNvSpPr txBox="1">
            <a:spLocks noGrp="1"/>
          </p:cNvSpPr>
          <p:nvPr>
            <p:ph type="body" idx="1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11" name="Google Shape;111;p7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dk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name="adj1" fmla="val 19376841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name="adj1" fmla="val 5699893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name="adj1" fmla="val 5699893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25" name="Google Shape;125;p8"/>
          <p:cNvSpPr txBox="1">
            <a:spLocks noGrp="1"/>
          </p:cNvSpPr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6" name="Google Shape;126;p8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1" name="Google Shape;131;p9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9"/>
          <p:cNvSpPr txBox="1">
            <a:spLocks noGrp="1"/>
          </p:cNvSpPr>
          <p:nvPr>
            <p:ph type="subTitle" idx="1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33" name="Google Shape;133;p9"/>
          <p:cNvSpPr txBox="1">
            <a:spLocks noGrp="1"/>
          </p:cNvSpPr>
          <p:nvPr>
            <p:ph type="body" idx="2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34" name="Google Shape;134;p9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9" name="Google Shape;139;p10"/>
          <p:cNvSpPr txBox="1">
            <a:spLocks noGrp="1"/>
          </p:cNvSpPr>
          <p:nvPr>
            <p:ph type="body" idx="1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40" name="Google Shape;140;p10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68" name="Google Shape;268;p11"/>
          <p:cNvSpPr txBox="1">
            <a:spLocks noGrp="1"/>
          </p:cNvSpPr>
          <p:nvPr>
            <p:ph type="title" hasCustomPrompt="1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>
            <a:spLocks noGrp="1"/>
          </p:cNvSpPr>
          <p:nvPr>
            <p:ph type="body" idx="1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0" name="Google Shape;270;p11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D3E9E-A95C-48F2-B4BF-A71542E0BE9A}" type="datetimeFigureOut">
              <a:rPr lang="en-US" dirty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3532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7"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0" name="Google Shape;310;p22"/>
          <p:cNvGrpSpPr/>
          <p:nvPr/>
        </p:nvGrpSpPr>
        <p:grpSpPr>
          <a:xfrm>
            <a:off x="-9" y="1669058"/>
            <a:ext cx="2781383" cy="1805382"/>
            <a:chOff x="8024127" y="984378"/>
            <a:chExt cx="2502369" cy="1624275"/>
          </a:xfrm>
        </p:grpSpPr>
        <p:sp>
          <p:nvSpPr>
            <p:cNvPr id="311" name="Google Shape;311;p22"/>
            <p:cNvSpPr/>
            <p:nvPr/>
          </p:nvSpPr>
          <p:spPr>
            <a:xfrm>
              <a:off x="8647339" y="2562003"/>
              <a:ext cx="65709" cy="30106"/>
            </a:xfrm>
            <a:custGeom>
              <a:avLst/>
              <a:gdLst/>
              <a:ahLst/>
              <a:cxnLst/>
              <a:rect l="l" t="t" r="r" b="b"/>
              <a:pathLst>
                <a:path w="2259" h="1035" extrusionOk="0">
                  <a:moveTo>
                    <a:pt x="125" y="899"/>
                  </a:moveTo>
                  <a:lnTo>
                    <a:pt x="125" y="899"/>
                  </a:lnTo>
                  <a:cubicBezTo>
                    <a:pt x="132" y="943"/>
                    <a:pt x="142" y="989"/>
                    <a:pt x="157" y="1035"/>
                  </a:cubicBezTo>
                  <a:cubicBezTo>
                    <a:pt x="157" y="1001"/>
                    <a:pt x="157" y="1001"/>
                    <a:pt x="157" y="1001"/>
                  </a:cubicBezTo>
                  <a:cubicBezTo>
                    <a:pt x="144" y="967"/>
                    <a:pt x="133" y="933"/>
                    <a:pt x="125" y="899"/>
                  </a:cubicBezTo>
                  <a:close/>
                  <a:moveTo>
                    <a:pt x="891" y="1"/>
                  </a:moveTo>
                  <a:cubicBezTo>
                    <a:pt x="329" y="1"/>
                    <a:pt x="1" y="409"/>
                    <a:pt x="125" y="899"/>
                  </a:cubicBezTo>
                  <a:lnTo>
                    <a:pt x="125" y="899"/>
                  </a:lnTo>
                  <a:cubicBezTo>
                    <a:pt x="49" y="429"/>
                    <a:pt x="373" y="67"/>
                    <a:pt x="891" y="67"/>
                  </a:cubicBezTo>
                  <a:cubicBezTo>
                    <a:pt x="1491" y="67"/>
                    <a:pt x="2091" y="501"/>
                    <a:pt x="2258" y="1035"/>
                  </a:cubicBezTo>
                  <a:cubicBezTo>
                    <a:pt x="2258" y="1001"/>
                    <a:pt x="2258" y="1001"/>
                    <a:pt x="2258" y="1001"/>
                  </a:cubicBezTo>
                  <a:cubicBezTo>
                    <a:pt x="2091" y="468"/>
                    <a:pt x="1458" y="1"/>
                    <a:pt x="891" y="1"/>
                  </a:cubicBezTo>
                  <a:close/>
                </a:path>
              </a:pathLst>
            </a:custGeom>
            <a:solidFill>
              <a:srgbClr val="FFFF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22"/>
            <p:cNvSpPr/>
            <p:nvPr/>
          </p:nvSpPr>
          <p:spPr>
            <a:xfrm>
              <a:off x="8759904" y="2562003"/>
              <a:ext cx="65680" cy="30106"/>
            </a:xfrm>
            <a:custGeom>
              <a:avLst/>
              <a:gdLst/>
              <a:ahLst/>
              <a:cxnLst/>
              <a:rect l="l" t="t" r="r" b="b"/>
              <a:pathLst>
                <a:path w="2258" h="1035" extrusionOk="0">
                  <a:moveTo>
                    <a:pt x="124" y="899"/>
                  </a:moveTo>
                  <a:cubicBezTo>
                    <a:pt x="131" y="943"/>
                    <a:pt x="142" y="989"/>
                    <a:pt x="156" y="1035"/>
                  </a:cubicBezTo>
                  <a:cubicBezTo>
                    <a:pt x="156" y="1001"/>
                    <a:pt x="156" y="1001"/>
                    <a:pt x="156" y="1001"/>
                  </a:cubicBezTo>
                  <a:cubicBezTo>
                    <a:pt x="143" y="967"/>
                    <a:pt x="133" y="933"/>
                    <a:pt x="124" y="899"/>
                  </a:cubicBezTo>
                  <a:close/>
                  <a:moveTo>
                    <a:pt x="890" y="1"/>
                  </a:moveTo>
                  <a:cubicBezTo>
                    <a:pt x="328" y="1"/>
                    <a:pt x="0" y="409"/>
                    <a:pt x="124" y="899"/>
                  </a:cubicBezTo>
                  <a:lnTo>
                    <a:pt x="124" y="899"/>
                  </a:lnTo>
                  <a:cubicBezTo>
                    <a:pt x="49" y="429"/>
                    <a:pt x="372" y="67"/>
                    <a:pt x="890" y="67"/>
                  </a:cubicBezTo>
                  <a:cubicBezTo>
                    <a:pt x="1490" y="67"/>
                    <a:pt x="2091" y="501"/>
                    <a:pt x="2258" y="1035"/>
                  </a:cubicBezTo>
                  <a:cubicBezTo>
                    <a:pt x="2258" y="1001"/>
                    <a:pt x="2258" y="1001"/>
                    <a:pt x="2258" y="1001"/>
                  </a:cubicBezTo>
                  <a:cubicBezTo>
                    <a:pt x="2091" y="468"/>
                    <a:pt x="1457" y="1"/>
                    <a:pt x="890" y="1"/>
                  </a:cubicBezTo>
                  <a:close/>
                </a:path>
              </a:pathLst>
            </a:custGeom>
            <a:solidFill>
              <a:srgbClr val="FF52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22"/>
            <p:cNvSpPr/>
            <p:nvPr/>
          </p:nvSpPr>
          <p:spPr>
            <a:xfrm>
              <a:off x="8872440" y="2562003"/>
              <a:ext cx="65709" cy="30106"/>
            </a:xfrm>
            <a:custGeom>
              <a:avLst/>
              <a:gdLst/>
              <a:ahLst/>
              <a:cxnLst/>
              <a:rect l="l" t="t" r="r" b="b"/>
              <a:pathLst>
                <a:path w="2259" h="1035" extrusionOk="0">
                  <a:moveTo>
                    <a:pt x="124" y="899"/>
                  </a:moveTo>
                  <a:cubicBezTo>
                    <a:pt x="131" y="943"/>
                    <a:pt x="142" y="989"/>
                    <a:pt x="157" y="1035"/>
                  </a:cubicBezTo>
                  <a:cubicBezTo>
                    <a:pt x="157" y="1001"/>
                    <a:pt x="157" y="1001"/>
                    <a:pt x="157" y="1001"/>
                  </a:cubicBezTo>
                  <a:cubicBezTo>
                    <a:pt x="144" y="967"/>
                    <a:pt x="133" y="933"/>
                    <a:pt x="124" y="899"/>
                  </a:cubicBezTo>
                  <a:close/>
                  <a:moveTo>
                    <a:pt x="890" y="1"/>
                  </a:moveTo>
                  <a:cubicBezTo>
                    <a:pt x="329" y="1"/>
                    <a:pt x="1" y="409"/>
                    <a:pt x="124" y="899"/>
                  </a:cubicBezTo>
                  <a:lnTo>
                    <a:pt x="124" y="899"/>
                  </a:lnTo>
                  <a:cubicBezTo>
                    <a:pt x="49" y="429"/>
                    <a:pt x="372" y="67"/>
                    <a:pt x="890" y="67"/>
                  </a:cubicBezTo>
                  <a:cubicBezTo>
                    <a:pt x="1491" y="67"/>
                    <a:pt x="2091" y="501"/>
                    <a:pt x="2258" y="1035"/>
                  </a:cubicBezTo>
                  <a:cubicBezTo>
                    <a:pt x="2258" y="1001"/>
                    <a:pt x="2258" y="1001"/>
                    <a:pt x="2258" y="1001"/>
                  </a:cubicBezTo>
                  <a:cubicBezTo>
                    <a:pt x="2091" y="468"/>
                    <a:pt x="1491" y="1"/>
                    <a:pt x="890" y="1"/>
                  </a:cubicBezTo>
                  <a:close/>
                </a:path>
              </a:pathLst>
            </a:custGeom>
            <a:solidFill>
              <a:srgbClr val="45FF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22"/>
            <p:cNvSpPr/>
            <p:nvPr/>
          </p:nvSpPr>
          <p:spPr>
            <a:xfrm>
              <a:off x="10089400" y="2205025"/>
              <a:ext cx="25" cy="50050"/>
            </a:xfrm>
            <a:custGeom>
              <a:avLst/>
              <a:gdLst/>
              <a:ahLst/>
              <a:cxnLst/>
              <a:rect l="l" t="t" r="r" b="b"/>
              <a:pathLst>
                <a:path w="1" h="2002" extrusionOk="0">
                  <a:moveTo>
                    <a:pt x="0" y="2002"/>
                  </a:moveTo>
                  <a:lnTo>
                    <a:pt x="0" y="0"/>
                  </a:lnTo>
                </a:path>
              </a:pathLst>
            </a:custGeom>
            <a:solidFill>
              <a:srgbClr val="1FFF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22"/>
            <p:cNvSpPr/>
            <p:nvPr/>
          </p:nvSpPr>
          <p:spPr>
            <a:xfrm>
              <a:off x="8024127" y="984378"/>
              <a:ext cx="2502369" cy="1624275"/>
            </a:xfrm>
            <a:custGeom>
              <a:avLst/>
              <a:gdLst/>
              <a:ahLst/>
              <a:cxnLst/>
              <a:rect l="l" t="t" r="r" b="b"/>
              <a:pathLst>
                <a:path w="86029" h="55841" extrusionOk="0">
                  <a:moveTo>
                    <a:pt x="2102" y="1"/>
                  </a:moveTo>
                  <a:cubicBezTo>
                    <a:pt x="935" y="1"/>
                    <a:pt x="1" y="935"/>
                    <a:pt x="1" y="2102"/>
                  </a:cubicBezTo>
                  <a:lnTo>
                    <a:pt x="1" y="53739"/>
                  </a:lnTo>
                  <a:cubicBezTo>
                    <a:pt x="1" y="54907"/>
                    <a:pt x="935" y="55841"/>
                    <a:pt x="2102" y="55841"/>
                  </a:cubicBezTo>
                  <a:lnTo>
                    <a:pt x="83894" y="55841"/>
                  </a:lnTo>
                  <a:cubicBezTo>
                    <a:pt x="85062" y="55841"/>
                    <a:pt x="86029" y="54907"/>
                    <a:pt x="86029" y="53739"/>
                  </a:cubicBezTo>
                  <a:lnTo>
                    <a:pt x="86029" y="2102"/>
                  </a:lnTo>
                  <a:cubicBezTo>
                    <a:pt x="86029" y="935"/>
                    <a:pt x="85062" y="1"/>
                    <a:pt x="83894" y="1"/>
                  </a:cubicBezTo>
                  <a:close/>
                </a:path>
              </a:pathLst>
            </a:custGeom>
            <a:solidFill>
              <a:srgbClr val="B8BD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22"/>
            <p:cNvSpPr/>
            <p:nvPr/>
          </p:nvSpPr>
          <p:spPr>
            <a:xfrm>
              <a:off x="8024127" y="984378"/>
              <a:ext cx="2502369" cy="262020"/>
            </a:xfrm>
            <a:custGeom>
              <a:avLst/>
              <a:gdLst/>
              <a:ahLst/>
              <a:cxnLst/>
              <a:rect l="l" t="t" r="r" b="b"/>
              <a:pathLst>
                <a:path w="86029" h="9008" extrusionOk="0">
                  <a:moveTo>
                    <a:pt x="2436" y="1"/>
                  </a:moveTo>
                  <a:cubicBezTo>
                    <a:pt x="1102" y="1"/>
                    <a:pt x="1" y="1068"/>
                    <a:pt x="1" y="2436"/>
                  </a:cubicBezTo>
                  <a:lnTo>
                    <a:pt x="1" y="9007"/>
                  </a:lnTo>
                  <a:lnTo>
                    <a:pt x="86029" y="9007"/>
                  </a:lnTo>
                  <a:lnTo>
                    <a:pt x="86029" y="2436"/>
                  </a:lnTo>
                  <a:cubicBezTo>
                    <a:pt x="86029" y="1102"/>
                    <a:pt x="84928" y="1"/>
                    <a:pt x="8359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22"/>
            <p:cNvSpPr/>
            <p:nvPr/>
          </p:nvSpPr>
          <p:spPr>
            <a:xfrm>
              <a:off x="8125057" y="1324952"/>
              <a:ext cx="2305388" cy="1198318"/>
            </a:xfrm>
            <a:custGeom>
              <a:avLst/>
              <a:gdLst/>
              <a:ahLst/>
              <a:cxnLst/>
              <a:rect l="l" t="t" r="r" b="b"/>
              <a:pathLst>
                <a:path w="79257" h="41197" extrusionOk="0">
                  <a:moveTo>
                    <a:pt x="77522" y="41196"/>
                  </a:moveTo>
                  <a:lnTo>
                    <a:pt x="1735" y="41196"/>
                  </a:lnTo>
                  <a:cubicBezTo>
                    <a:pt x="767" y="41196"/>
                    <a:pt x="0" y="40429"/>
                    <a:pt x="0" y="39462"/>
                  </a:cubicBezTo>
                  <a:lnTo>
                    <a:pt x="0" y="1735"/>
                  </a:lnTo>
                  <a:cubicBezTo>
                    <a:pt x="0" y="768"/>
                    <a:pt x="767" y="0"/>
                    <a:pt x="1735" y="0"/>
                  </a:cubicBezTo>
                  <a:lnTo>
                    <a:pt x="77522" y="0"/>
                  </a:lnTo>
                  <a:cubicBezTo>
                    <a:pt x="78489" y="0"/>
                    <a:pt x="79257" y="768"/>
                    <a:pt x="79257" y="1735"/>
                  </a:cubicBezTo>
                  <a:lnTo>
                    <a:pt x="79257" y="39462"/>
                  </a:lnTo>
                  <a:cubicBezTo>
                    <a:pt x="79257" y="40429"/>
                    <a:pt x="78489" y="41196"/>
                    <a:pt x="77522" y="41196"/>
                  </a:cubicBezTo>
                  <a:close/>
                </a:path>
              </a:pathLst>
            </a:custGeom>
            <a:solidFill>
              <a:srgbClr val="240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22"/>
            <p:cNvSpPr/>
            <p:nvPr/>
          </p:nvSpPr>
          <p:spPr>
            <a:xfrm>
              <a:off x="8191986" y="1394818"/>
              <a:ext cx="54365" cy="110620"/>
            </a:xfrm>
            <a:custGeom>
              <a:avLst/>
              <a:gdLst/>
              <a:ahLst/>
              <a:cxnLst/>
              <a:rect l="l" t="t" r="r" b="b"/>
              <a:pathLst>
                <a:path w="1869" h="3803" fill="none" extrusionOk="0">
                  <a:moveTo>
                    <a:pt x="1869" y="0"/>
                  </a:moveTo>
                  <a:lnTo>
                    <a:pt x="1" y="1901"/>
                  </a:lnTo>
                  <a:lnTo>
                    <a:pt x="1869" y="3803"/>
                  </a:lnTo>
                </a:path>
              </a:pathLst>
            </a:custGeom>
            <a:noFill/>
            <a:ln w="20850" cap="rnd" cmpd="sng">
              <a:solidFill>
                <a:srgbClr val="12D77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22"/>
            <p:cNvSpPr/>
            <p:nvPr/>
          </p:nvSpPr>
          <p:spPr>
            <a:xfrm>
              <a:off x="8385062" y="1394818"/>
              <a:ext cx="55354" cy="110620"/>
            </a:xfrm>
            <a:custGeom>
              <a:avLst/>
              <a:gdLst/>
              <a:ahLst/>
              <a:cxnLst/>
              <a:rect l="l" t="t" r="r" b="b"/>
              <a:pathLst>
                <a:path w="1903" h="3803" fill="none" extrusionOk="0">
                  <a:moveTo>
                    <a:pt x="1" y="0"/>
                  </a:moveTo>
                  <a:lnTo>
                    <a:pt x="1902" y="1901"/>
                  </a:lnTo>
                  <a:lnTo>
                    <a:pt x="1" y="3803"/>
                  </a:lnTo>
                </a:path>
              </a:pathLst>
            </a:custGeom>
            <a:noFill/>
            <a:ln w="20850" cap="rnd" cmpd="sng">
              <a:solidFill>
                <a:srgbClr val="12D77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22"/>
            <p:cNvSpPr/>
            <p:nvPr/>
          </p:nvSpPr>
          <p:spPr>
            <a:xfrm>
              <a:off x="8292887" y="1394818"/>
              <a:ext cx="43689" cy="120335"/>
            </a:xfrm>
            <a:custGeom>
              <a:avLst/>
              <a:gdLst/>
              <a:ahLst/>
              <a:cxnLst/>
              <a:rect l="l" t="t" r="r" b="b"/>
              <a:pathLst>
                <a:path w="1502" h="4137" fill="none" extrusionOk="0">
                  <a:moveTo>
                    <a:pt x="1" y="4136"/>
                  </a:moveTo>
                  <a:lnTo>
                    <a:pt x="1502" y="0"/>
                  </a:lnTo>
                </a:path>
              </a:pathLst>
            </a:custGeom>
            <a:noFill/>
            <a:ln w="20850" cap="rnd" cmpd="sng">
              <a:solidFill>
                <a:srgbClr val="12D77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22"/>
            <p:cNvSpPr/>
            <p:nvPr/>
          </p:nvSpPr>
          <p:spPr>
            <a:xfrm>
              <a:off x="8483055" y="1500548"/>
              <a:ext cx="31095" cy="31095"/>
            </a:xfrm>
            <a:custGeom>
              <a:avLst/>
              <a:gdLst/>
              <a:ahLst/>
              <a:cxnLst/>
              <a:rect l="l" t="t" r="r" b="b"/>
              <a:pathLst>
                <a:path w="1069" h="1069" extrusionOk="0">
                  <a:moveTo>
                    <a:pt x="535" y="1"/>
                  </a:moveTo>
                  <a:cubicBezTo>
                    <a:pt x="234" y="1"/>
                    <a:pt x="1" y="234"/>
                    <a:pt x="1" y="535"/>
                  </a:cubicBezTo>
                  <a:cubicBezTo>
                    <a:pt x="1" y="802"/>
                    <a:pt x="234" y="1068"/>
                    <a:pt x="535" y="1068"/>
                  </a:cubicBezTo>
                  <a:cubicBezTo>
                    <a:pt x="835" y="1068"/>
                    <a:pt x="1068" y="802"/>
                    <a:pt x="1068" y="535"/>
                  </a:cubicBezTo>
                  <a:cubicBezTo>
                    <a:pt x="1068" y="234"/>
                    <a:pt x="835" y="1"/>
                    <a:pt x="535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22"/>
            <p:cNvSpPr/>
            <p:nvPr/>
          </p:nvSpPr>
          <p:spPr>
            <a:xfrm>
              <a:off x="8528666" y="1500548"/>
              <a:ext cx="31065" cy="31095"/>
            </a:xfrm>
            <a:custGeom>
              <a:avLst/>
              <a:gdLst/>
              <a:ahLst/>
              <a:cxnLst/>
              <a:rect l="l" t="t" r="r" b="b"/>
              <a:pathLst>
                <a:path w="1068" h="1069" extrusionOk="0">
                  <a:moveTo>
                    <a:pt x="534" y="1"/>
                  </a:moveTo>
                  <a:cubicBezTo>
                    <a:pt x="267" y="1"/>
                    <a:pt x="0" y="234"/>
                    <a:pt x="0" y="535"/>
                  </a:cubicBezTo>
                  <a:cubicBezTo>
                    <a:pt x="0" y="802"/>
                    <a:pt x="267" y="1068"/>
                    <a:pt x="534" y="1068"/>
                  </a:cubicBezTo>
                  <a:cubicBezTo>
                    <a:pt x="834" y="1068"/>
                    <a:pt x="1068" y="802"/>
                    <a:pt x="1068" y="535"/>
                  </a:cubicBezTo>
                  <a:cubicBezTo>
                    <a:pt x="1068" y="234"/>
                    <a:pt x="834" y="1"/>
                    <a:pt x="534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22"/>
            <p:cNvSpPr/>
            <p:nvPr/>
          </p:nvSpPr>
          <p:spPr>
            <a:xfrm>
              <a:off x="8593674" y="1500548"/>
              <a:ext cx="31065" cy="31095"/>
            </a:xfrm>
            <a:custGeom>
              <a:avLst/>
              <a:gdLst/>
              <a:ahLst/>
              <a:cxnLst/>
              <a:rect l="l" t="t" r="r" b="b"/>
              <a:pathLst>
                <a:path w="1068" h="1069" extrusionOk="0">
                  <a:moveTo>
                    <a:pt x="534" y="1"/>
                  </a:moveTo>
                  <a:cubicBezTo>
                    <a:pt x="234" y="1"/>
                    <a:pt x="0" y="234"/>
                    <a:pt x="0" y="535"/>
                  </a:cubicBezTo>
                  <a:cubicBezTo>
                    <a:pt x="0" y="802"/>
                    <a:pt x="234" y="1068"/>
                    <a:pt x="534" y="1068"/>
                  </a:cubicBezTo>
                  <a:cubicBezTo>
                    <a:pt x="834" y="1068"/>
                    <a:pt x="1068" y="802"/>
                    <a:pt x="1068" y="535"/>
                  </a:cubicBezTo>
                  <a:cubicBezTo>
                    <a:pt x="1068" y="234"/>
                    <a:pt x="834" y="1"/>
                    <a:pt x="534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22"/>
            <p:cNvSpPr/>
            <p:nvPr/>
          </p:nvSpPr>
          <p:spPr>
            <a:xfrm>
              <a:off x="8219152" y="1627656"/>
              <a:ext cx="1656300" cy="29"/>
            </a:xfrm>
            <a:custGeom>
              <a:avLst/>
              <a:gdLst/>
              <a:ahLst/>
              <a:cxnLst/>
              <a:rect l="l" t="t" r="r" b="b"/>
              <a:pathLst>
                <a:path w="56942" h="1" fill="none" extrusionOk="0">
                  <a:moveTo>
                    <a:pt x="1" y="1"/>
                  </a:moveTo>
                  <a:lnTo>
                    <a:pt x="56941" y="1"/>
                  </a:lnTo>
                </a:path>
              </a:pathLst>
            </a:custGeom>
            <a:noFill/>
            <a:ln w="20850" cap="rnd" cmpd="sng">
              <a:solidFill>
                <a:srgbClr val="12D77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22"/>
            <p:cNvSpPr/>
            <p:nvPr/>
          </p:nvSpPr>
          <p:spPr>
            <a:xfrm>
              <a:off x="9975312" y="1627656"/>
              <a:ext cx="128101" cy="29"/>
            </a:xfrm>
            <a:custGeom>
              <a:avLst/>
              <a:gdLst/>
              <a:ahLst/>
              <a:cxnLst/>
              <a:rect l="l" t="t" r="r" b="b"/>
              <a:pathLst>
                <a:path w="4404" h="1" fill="none" extrusionOk="0">
                  <a:moveTo>
                    <a:pt x="0" y="1"/>
                  </a:moveTo>
                  <a:lnTo>
                    <a:pt x="4403" y="1"/>
                  </a:lnTo>
                </a:path>
              </a:pathLst>
            </a:custGeom>
            <a:noFill/>
            <a:ln w="20850" cap="rnd" cmpd="sng">
              <a:solidFill>
                <a:srgbClr val="12D77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22"/>
            <p:cNvSpPr/>
            <p:nvPr/>
          </p:nvSpPr>
          <p:spPr>
            <a:xfrm>
              <a:off x="10174205" y="1627656"/>
              <a:ext cx="163035" cy="29"/>
            </a:xfrm>
            <a:custGeom>
              <a:avLst/>
              <a:gdLst/>
              <a:ahLst/>
              <a:cxnLst/>
              <a:rect l="l" t="t" r="r" b="b"/>
              <a:pathLst>
                <a:path w="5605" h="1" fill="none" extrusionOk="0">
                  <a:moveTo>
                    <a:pt x="0" y="1"/>
                  </a:moveTo>
                  <a:lnTo>
                    <a:pt x="5604" y="1"/>
                  </a:lnTo>
                </a:path>
              </a:pathLst>
            </a:custGeom>
            <a:noFill/>
            <a:ln w="20850" cap="rnd" cmpd="sng">
              <a:solidFill>
                <a:srgbClr val="12D77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22"/>
            <p:cNvSpPr/>
            <p:nvPr/>
          </p:nvSpPr>
          <p:spPr>
            <a:xfrm>
              <a:off x="8219152" y="1757673"/>
              <a:ext cx="1036300" cy="29"/>
            </a:xfrm>
            <a:custGeom>
              <a:avLst/>
              <a:gdLst/>
              <a:ahLst/>
              <a:cxnLst/>
              <a:rect l="l" t="t" r="r" b="b"/>
              <a:pathLst>
                <a:path w="35627" h="1" fill="none" extrusionOk="0">
                  <a:moveTo>
                    <a:pt x="1" y="1"/>
                  </a:moveTo>
                  <a:lnTo>
                    <a:pt x="35626" y="1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22"/>
            <p:cNvSpPr/>
            <p:nvPr/>
          </p:nvSpPr>
          <p:spPr>
            <a:xfrm>
              <a:off x="9408676" y="1757673"/>
              <a:ext cx="186335" cy="29"/>
            </a:xfrm>
            <a:custGeom>
              <a:avLst/>
              <a:gdLst/>
              <a:ahLst/>
              <a:cxnLst/>
              <a:rect l="l" t="t" r="r" b="b"/>
              <a:pathLst>
                <a:path w="6406" h="1" fill="none" extrusionOk="0">
                  <a:moveTo>
                    <a:pt x="1" y="1"/>
                  </a:moveTo>
                  <a:lnTo>
                    <a:pt x="6405" y="1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22"/>
            <p:cNvSpPr/>
            <p:nvPr/>
          </p:nvSpPr>
          <p:spPr>
            <a:xfrm>
              <a:off x="9090440" y="1832396"/>
              <a:ext cx="504581" cy="29"/>
            </a:xfrm>
            <a:custGeom>
              <a:avLst/>
              <a:gdLst/>
              <a:ahLst/>
              <a:cxnLst/>
              <a:rect l="l" t="t" r="r" b="b"/>
              <a:pathLst>
                <a:path w="17347" h="1" fill="none" extrusionOk="0">
                  <a:moveTo>
                    <a:pt x="17346" y="0"/>
                  </a:moveTo>
                  <a:lnTo>
                    <a:pt x="0" y="0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22"/>
            <p:cNvSpPr/>
            <p:nvPr/>
          </p:nvSpPr>
          <p:spPr>
            <a:xfrm>
              <a:off x="8919673" y="1832396"/>
              <a:ext cx="101923" cy="29"/>
            </a:xfrm>
            <a:custGeom>
              <a:avLst/>
              <a:gdLst/>
              <a:ahLst/>
              <a:cxnLst/>
              <a:rect l="l" t="t" r="r" b="b"/>
              <a:pathLst>
                <a:path w="3504" h="1" fill="none" extrusionOk="0">
                  <a:moveTo>
                    <a:pt x="3503" y="0"/>
                  </a:moveTo>
                  <a:lnTo>
                    <a:pt x="1" y="0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2"/>
            <p:cNvSpPr/>
            <p:nvPr/>
          </p:nvSpPr>
          <p:spPr>
            <a:xfrm>
              <a:off x="8737271" y="1832396"/>
              <a:ext cx="101894" cy="29"/>
            </a:xfrm>
            <a:custGeom>
              <a:avLst/>
              <a:gdLst/>
              <a:ahLst/>
              <a:cxnLst/>
              <a:rect l="l" t="t" r="r" b="b"/>
              <a:pathLst>
                <a:path w="3503" h="1" fill="none" extrusionOk="0">
                  <a:moveTo>
                    <a:pt x="3503" y="0"/>
                  </a:moveTo>
                  <a:lnTo>
                    <a:pt x="0" y="0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22"/>
            <p:cNvSpPr/>
            <p:nvPr/>
          </p:nvSpPr>
          <p:spPr>
            <a:xfrm>
              <a:off x="8555829" y="1832396"/>
              <a:ext cx="100934" cy="29"/>
            </a:xfrm>
            <a:custGeom>
              <a:avLst/>
              <a:gdLst/>
              <a:ahLst/>
              <a:cxnLst/>
              <a:rect l="l" t="t" r="r" b="b"/>
              <a:pathLst>
                <a:path w="3470" h="1" fill="none" extrusionOk="0">
                  <a:moveTo>
                    <a:pt x="3470" y="0"/>
                  </a:moveTo>
                  <a:lnTo>
                    <a:pt x="1" y="0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22"/>
            <p:cNvSpPr/>
            <p:nvPr/>
          </p:nvSpPr>
          <p:spPr>
            <a:xfrm>
              <a:off x="8373428" y="1832396"/>
              <a:ext cx="100934" cy="29"/>
            </a:xfrm>
            <a:custGeom>
              <a:avLst/>
              <a:gdLst/>
              <a:ahLst/>
              <a:cxnLst/>
              <a:rect l="l" t="t" r="r" b="b"/>
              <a:pathLst>
                <a:path w="3470" h="1" fill="none" extrusionOk="0">
                  <a:moveTo>
                    <a:pt x="3470" y="0"/>
                  </a:moveTo>
                  <a:lnTo>
                    <a:pt x="0" y="0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22"/>
            <p:cNvSpPr/>
            <p:nvPr/>
          </p:nvSpPr>
          <p:spPr>
            <a:xfrm>
              <a:off x="8373428" y="1923582"/>
              <a:ext cx="1570900" cy="29"/>
            </a:xfrm>
            <a:custGeom>
              <a:avLst/>
              <a:gdLst/>
              <a:ahLst/>
              <a:cxnLst/>
              <a:rect l="l" t="t" r="r" b="b"/>
              <a:pathLst>
                <a:path w="54006" h="1" fill="none" extrusionOk="0">
                  <a:moveTo>
                    <a:pt x="54006" y="1"/>
                  </a:moveTo>
                  <a:lnTo>
                    <a:pt x="0" y="1"/>
                  </a:lnTo>
                </a:path>
              </a:pathLst>
            </a:custGeom>
            <a:noFill/>
            <a:ln w="20850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22"/>
            <p:cNvSpPr/>
            <p:nvPr/>
          </p:nvSpPr>
          <p:spPr>
            <a:xfrm>
              <a:off x="8219152" y="1832396"/>
              <a:ext cx="36912" cy="29"/>
            </a:xfrm>
            <a:custGeom>
              <a:avLst/>
              <a:gdLst/>
              <a:ahLst/>
              <a:cxnLst/>
              <a:rect l="l" t="t" r="r" b="b"/>
              <a:pathLst>
                <a:path w="1269" h="1" fill="none" extrusionOk="0">
                  <a:moveTo>
                    <a:pt x="1268" y="0"/>
                  </a:moveTo>
                  <a:lnTo>
                    <a:pt x="1" y="0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22"/>
            <p:cNvSpPr/>
            <p:nvPr/>
          </p:nvSpPr>
          <p:spPr>
            <a:xfrm>
              <a:off x="8219152" y="1923582"/>
              <a:ext cx="36912" cy="29"/>
            </a:xfrm>
            <a:custGeom>
              <a:avLst/>
              <a:gdLst/>
              <a:ahLst/>
              <a:cxnLst/>
              <a:rect l="l" t="t" r="r" b="b"/>
              <a:pathLst>
                <a:path w="1269" h="1" fill="none" extrusionOk="0">
                  <a:moveTo>
                    <a:pt x="1268" y="1"/>
                  </a:moveTo>
                  <a:lnTo>
                    <a:pt x="1" y="1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22"/>
            <p:cNvSpPr/>
            <p:nvPr/>
          </p:nvSpPr>
          <p:spPr>
            <a:xfrm>
              <a:off x="8219152" y="2014798"/>
              <a:ext cx="36912" cy="29"/>
            </a:xfrm>
            <a:custGeom>
              <a:avLst/>
              <a:gdLst/>
              <a:ahLst/>
              <a:cxnLst/>
              <a:rect l="l" t="t" r="r" b="b"/>
              <a:pathLst>
                <a:path w="1269" h="1" fill="none" extrusionOk="0">
                  <a:moveTo>
                    <a:pt x="1268" y="0"/>
                  </a:moveTo>
                  <a:lnTo>
                    <a:pt x="1" y="0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22"/>
            <p:cNvSpPr/>
            <p:nvPr/>
          </p:nvSpPr>
          <p:spPr>
            <a:xfrm>
              <a:off x="8219152" y="2105984"/>
              <a:ext cx="36912" cy="29"/>
            </a:xfrm>
            <a:custGeom>
              <a:avLst/>
              <a:gdLst/>
              <a:ahLst/>
              <a:cxnLst/>
              <a:rect l="l" t="t" r="r" b="b"/>
              <a:pathLst>
                <a:path w="1269" h="1" fill="none" extrusionOk="0">
                  <a:moveTo>
                    <a:pt x="1268" y="1"/>
                  </a:moveTo>
                  <a:lnTo>
                    <a:pt x="1" y="1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22"/>
            <p:cNvSpPr/>
            <p:nvPr/>
          </p:nvSpPr>
          <p:spPr>
            <a:xfrm>
              <a:off x="10039331" y="1923582"/>
              <a:ext cx="216411" cy="29"/>
            </a:xfrm>
            <a:custGeom>
              <a:avLst/>
              <a:gdLst/>
              <a:ahLst/>
              <a:cxnLst/>
              <a:rect l="l" t="t" r="r" b="b"/>
              <a:pathLst>
                <a:path w="7440" h="1" fill="none" extrusionOk="0">
                  <a:moveTo>
                    <a:pt x="1" y="1"/>
                  </a:moveTo>
                  <a:lnTo>
                    <a:pt x="7439" y="1"/>
                  </a:lnTo>
                </a:path>
              </a:pathLst>
            </a:custGeom>
            <a:noFill/>
            <a:ln w="20850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22"/>
            <p:cNvSpPr/>
            <p:nvPr/>
          </p:nvSpPr>
          <p:spPr>
            <a:xfrm>
              <a:off x="8369559" y="2014798"/>
              <a:ext cx="434713" cy="29"/>
            </a:xfrm>
            <a:custGeom>
              <a:avLst/>
              <a:gdLst/>
              <a:ahLst/>
              <a:cxnLst/>
              <a:rect l="l" t="t" r="r" b="b"/>
              <a:pathLst>
                <a:path w="14945" h="1" fill="none" extrusionOk="0">
                  <a:moveTo>
                    <a:pt x="0" y="0"/>
                  </a:moveTo>
                  <a:lnTo>
                    <a:pt x="14944" y="0"/>
                  </a:lnTo>
                </a:path>
              </a:pathLst>
            </a:custGeom>
            <a:noFill/>
            <a:ln w="20850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22"/>
            <p:cNvSpPr/>
            <p:nvPr/>
          </p:nvSpPr>
          <p:spPr>
            <a:xfrm>
              <a:off x="8369559" y="2107933"/>
              <a:ext cx="434713" cy="29"/>
            </a:xfrm>
            <a:custGeom>
              <a:avLst/>
              <a:gdLst/>
              <a:ahLst/>
              <a:cxnLst/>
              <a:rect l="l" t="t" r="r" b="b"/>
              <a:pathLst>
                <a:path w="14945" h="1" fill="none" extrusionOk="0">
                  <a:moveTo>
                    <a:pt x="0" y="1"/>
                  </a:moveTo>
                  <a:lnTo>
                    <a:pt x="14944" y="1"/>
                  </a:lnTo>
                </a:path>
              </a:pathLst>
            </a:custGeom>
            <a:noFill/>
            <a:ln w="20850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22"/>
            <p:cNvSpPr/>
            <p:nvPr/>
          </p:nvSpPr>
          <p:spPr>
            <a:xfrm>
              <a:off x="8369559" y="2202057"/>
              <a:ext cx="434713" cy="29"/>
            </a:xfrm>
            <a:custGeom>
              <a:avLst/>
              <a:gdLst/>
              <a:ahLst/>
              <a:cxnLst/>
              <a:rect l="l" t="t" r="r" b="b"/>
              <a:pathLst>
                <a:path w="14945" h="1" fill="none" extrusionOk="0">
                  <a:moveTo>
                    <a:pt x="0" y="0"/>
                  </a:moveTo>
                  <a:lnTo>
                    <a:pt x="14944" y="0"/>
                  </a:lnTo>
                </a:path>
              </a:pathLst>
            </a:custGeom>
            <a:noFill/>
            <a:ln w="20850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22"/>
            <p:cNvSpPr/>
            <p:nvPr/>
          </p:nvSpPr>
          <p:spPr>
            <a:xfrm>
              <a:off x="8369559" y="2295192"/>
              <a:ext cx="434713" cy="29"/>
            </a:xfrm>
            <a:custGeom>
              <a:avLst/>
              <a:gdLst/>
              <a:ahLst/>
              <a:cxnLst/>
              <a:rect l="l" t="t" r="r" b="b"/>
              <a:pathLst>
                <a:path w="14945" h="1" fill="none" extrusionOk="0">
                  <a:moveTo>
                    <a:pt x="0" y="1"/>
                  </a:moveTo>
                  <a:lnTo>
                    <a:pt x="14944" y="1"/>
                  </a:lnTo>
                </a:path>
              </a:pathLst>
            </a:custGeom>
            <a:noFill/>
            <a:ln w="20850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22"/>
            <p:cNvSpPr/>
            <p:nvPr/>
          </p:nvSpPr>
          <p:spPr>
            <a:xfrm>
              <a:off x="9090440" y="2295192"/>
              <a:ext cx="884929" cy="29"/>
            </a:xfrm>
            <a:custGeom>
              <a:avLst/>
              <a:gdLst/>
              <a:ahLst/>
              <a:cxnLst/>
              <a:rect l="l" t="t" r="r" b="b"/>
              <a:pathLst>
                <a:path w="30423" h="1" fill="none" extrusionOk="0">
                  <a:moveTo>
                    <a:pt x="0" y="1"/>
                  </a:moveTo>
                  <a:lnTo>
                    <a:pt x="30422" y="1"/>
                  </a:lnTo>
                </a:path>
              </a:pathLst>
            </a:custGeom>
            <a:noFill/>
            <a:ln w="208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22"/>
            <p:cNvSpPr/>
            <p:nvPr/>
          </p:nvSpPr>
          <p:spPr>
            <a:xfrm>
              <a:off x="9615336" y="2202057"/>
              <a:ext cx="360016" cy="29"/>
            </a:xfrm>
            <a:custGeom>
              <a:avLst/>
              <a:gdLst/>
              <a:ahLst/>
              <a:cxnLst/>
              <a:rect l="l" t="t" r="r" b="b"/>
              <a:pathLst>
                <a:path w="12377" h="1" fill="none" extrusionOk="0">
                  <a:moveTo>
                    <a:pt x="1" y="0"/>
                  </a:moveTo>
                  <a:lnTo>
                    <a:pt x="12376" y="0"/>
                  </a:lnTo>
                </a:path>
              </a:pathLst>
            </a:custGeom>
            <a:noFill/>
            <a:ln w="208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22"/>
            <p:cNvSpPr/>
            <p:nvPr/>
          </p:nvSpPr>
          <p:spPr>
            <a:xfrm>
              <a:off x="9832671" y="2105984"/>
              <a:ext cx="142674" cy="29"/>
            </a:xfrm>
            <a:custGeom>
              <a:avLst/>
              <a:gdLst/>
              <a:ahLst/>
              <a:cxnLst/>
              <a:rect l="l" t="t" r="r" b="b"/>
              <a:pathLst>
                <a:path w="4905" h="1" fill="none" extrusionOk="0">
                  <a:moveTo>
                    <a:pt x="1" y="1"/>
                  </a:moveTo>
                  <a:lnTo>
                    <a:pt x="4904" y="1"/>
                  </a:lnTo>
                </a:path>
              </a:pathLst>
            </a:custGeom>
            <a:noFill/>
            <a:ln w="208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7" name="Google Shape;347;p22"/>
          <p:cNvGrpSpPr/>
          <p:nvPr/>
        </p:nvGrpSpPr>
        <p:grpSpPr>
          <a:xfrm flipH="1">
            <a:off x="7058589" y="1071875"/>
            <a:ext cx="2085403" cy="2999739"/>
            <a:chOff x="7435625" y="1209875"/>
            <a:chExt cx="1470250" cy="2114875"/>
          </a:xfrm>
        </p:grpSpPr>
        <p:sp>
          <p:nvSpPr>
            <p:cNvPr id="348" name="Google Shape;348;p22"/>
            <p:cNvSpPr/>
            <p:nvPr/>
          </p:nvSpPr>
          <p:spPr>
            <a:xfrm>
              <a:off x="7658275" y="3273025"/>
              <a:ext cx="120950" cy="12550"/>
            </a:xfrm>
            <a:custGeom>
              <a:avLst/>
              <a:gdLst/>
              <a:ahLst/>
              <a:cxnLst/>
              <a:rect l="l" t="t" r="r" b="b"/>
              <a:pathLst>
                <a:path w="4838" h="502" extrusionOk="0">
                  <a:moveTo>
                    <a:pt x="401" y="1"/>
                  </a:moveTo>
                  <a:cubicBezTo>
                    <a:pt x="168" y="1"/>
                    <a:pt x="1" y="201"/>
                    <a:pt x="1" y="434"/>
                  </a:cubicBezTo>
                  <a:lnTo>
                    <a:pt x="1" y="501"/>
                  </a:lnTo>
                  <a:cubicBezTo>
                    <a:pt x="1" y="268"/>
                    <a:pt x="168" y="101"/>
                    <a:pt x="401" y="101"/>
                  </a:cubicBezTo>
                  <a:lnTo>
                    <a:pt x="4404" y="101"/>
                  </a:lnTo>
                  <a:cubicBezTo>
                    <a:pt x="4637" y="101"/>
                    <a:pt x="4838" y="268"/>
                    <a:pt x="4838" y="501"/>
                  </a:cubicBezTo>
                  <a:lnTo>
                    <a:pt x="4838" y="434"/>
                  </a:lnTo>
                  <a:cubicBezTo>
                    <a:pt x="4838" y="201"/>
                    <a:pt x="4637" y="1"/>
                    <a:pt x="4404" y="1"/>
                  </a:cubicBezTo>
                  <a:close/>
                </a:path>
              </a:pathLst>
            </a:custGeom>
            <a:solidFill>
              <a:srgbClr val="0032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22"/>
            <p:cNvSpPr/>
            <p:nvPr/>
          </p:nvSpPr>
          <p:spPr>
            <a:xfrm>
              <a:off x="7494000" y="3273025"/>
              <a:ext cx="120950" cy="12550"/>
            </a:xfrm>
            <a:custGeom>
              <a:avLst/>
              <a:gdLst/>
              <a:ahLst/>
              <a:cxnLst/>
              <a:rect l="l" t="t" r="r" b="b"/>
              <a:pathLst>
                <a:path w="4838" h="502" extrusionOk="0">
                  <a:moveTo>
                    <a:pt x="434" y="1"/>
                  </a:moveTo>
                  <a:cubicBezTo>
                    <a:pt x="201" y="1"/>
                    <a:pt x="0" y="201"/>
                    <a:pt x="0" y="434"/>
                  </a:cubicBezTo>
                  <a:lnTo>
                    <a:pt x="0" y="501"/>
                  </a:lnTo>
                  <a:cubicBezTo>
                    <a:pt x="0" y="268"/>
                    <a:pt x="201" y="101"/>
                    <a:pt x="434" y="101"/>
                  </a:cubicBezTo>
                  <a:lnTo>
                    <a:pt x="4437" y="101"/>
                  </a:lnTo>
                  <a:cubicBezTo>
                    <a:pt x="4637" y="101"/>
                    <a:pt x="4837" y="268"/>
                    <a:pt x="4837" y="501"/>
                  </a:cubicBezTo>
                  <a:lnTo>
                    <a:pt x="4837" y="434"/>
                  </a:lnTo>
                  <a:cubicBezTo>
                    <a:pt x="4837" y="201"/>
                    <a:pt x="4637" y="1"/>
                    <a:pt x="4437" y="1"/>
                  </a:cubicBezTo>
                  <a:close/>
                </a:path>
              </a:pathLst>
            </a:custGeom>
            <a:solidFill>
              <a:srgbClr val="0032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22"/>
            <p:cNvSpPr/>
            <p:nvPr/>
          </p:nvSpPr>
          <p:spPr>
            <a:xfrm>
              <a:off x="7821725" y="3273025"/>
              <a:ext cx="120950" cy="12550"/>
            </a:xfrm>
            <a:custGeom>
              <a:avLst/>
              <a:gdLst/>
              <a:ahLst/>
              <a:cxnLst/>
              <a:rect l="l" t="t" r="r" b="b"/>
              <a:pathLst>
                <a:path w="4838" h="502" extrusionOk="0">
                  <a:moveTo>
                    <a:pt x="434" y="1"/>
                  </a:moveTo>
                  <a:cubicBezTo>
                    <a:pt x="201" y="1"/>
                    <a:pt x="1" y="201"/>
                    <a:pt x="1" y="434"/>
                  </a:cubicBezTo>
                  <a:lnTo>
                    <a:pt x="1" y="501"/>
                  </a:lnTo>
                  <a:cubicBezTo>
                    <a:pt x="1" y="268"/>
                    <a:pt x="201" y="101"/>
                    <a:pt x="434" y="101"/>
                  </a:cubicBezTo>
                  <a:lnTo>
                    <a:pt x="4437" y="101"/>
                  </a:lnTo>
                  <a:cubicBezTo>
                    <a:pt x="4671" y="101"/>
                    <a:pt x="4838" y="268"/>
                    <a:pt x="4838" y="501"/>
                  </a:cubicBezTo>
                  <a:lnTo>
                    <a:pt x="4838" y="434"/>
                  </a:lnTo>
                  <a:cubicBezTo>
                    <a:pt x="4838" y="201"/>
                    <a:pt x="4671" y="1"/>
                    <a:pt x="4437" y="1"/>
                  </a:cubicBezTo>
                  <a:close/>
                </a:path>
              </a:pathLst>
            </a:custGeom>
            <a:solidFill>
              <a:srgbClr val="0032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22"/>
            <p:cNvSpPr/>
            <p:nvPr/>
          </p:nvSpPr>
          <p:spPr>
            <a:xfrm>
              <a:off x="7970175" y="3087075"/>
              <a:ext cx="106775" cy="109250"/>
            </a:xfrm>
            <a:custGeom>
              <a:avLst/>
              <a:gdLst/>
              <a:ahLst/>
              <a:cxnLst/>
              <a:rect l="l" t="t" r="r" b="b"/>
              <a:pathLst>
                <a:path w="4271" h="4370" extrusionOk="0">
                  <a:moveTo>
                    <a:pt x="2135" y="0"/>
                  </a:moveTo>
                  <a:cubicBezTo>
                    <a:pt x="968" y="0"/>
                    <a:pt x="0" y="967"/>
                    <a:pt x="0" y="2168"/>
                  </a:cubicBezTo>
                  <a:cubicBezTo>
                    <a:pt x="0" y="3403"/>
                    <a:pt x="968" y="4370"/>
                    <a:pt x="2135" y="4370"/>
                  </a:cubicBezTo>
                  <a:cubicBezTo>
                    <a:pt x="3336" y="4370"/>
                    <a:pt x="4270" y="3403"/>
                    <a:pt x="4270" y="2168"/>
                  </a:cubicBezTo>
                  <a:cubicBezTo>
                    <a:pt x="4270" y="967"/>
                    <a:pt x="3336" y="0"/>
                    <a:pt x="2135" y="0"/>
                  </a:cubicBezTo>
                  <a:close/>
                </a:path>
              </a:pathLst>
            </a:custGeom>
            <a:solidFill>
              <a:srgbClr val="E0F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22"/>
            <p:cNvSpPr/>
            <p:nvPr/>
          </p:nvSpPr>
          <p:spPr>
            <a:xfrm>
              <a:off x="7970175" y="3087075"/>
              <a:ext cx="106775" cy="106750"/>
            </a:xfrm>
            <a:custGeom>
              <a:avLst/>
              <a:gdLst/>
              <a:ahLst/>
              <a:cxnLst/>
              <a:rect l="l" t="t" r="r" b="b"/>
              <a:pathLst>
                <a:path w="4271" h="4270" extrusionOk="0">
                  <a:moveTo>
                    <a:pt x="2135" y="0"/>
                  </a:moveTo>
                  <a:cubicBezTo>
                    <a:pt x="968" y="0"/>
                    <a:pt x="0" y="934"/>
                    <a:pt x="0" y="2135"/>
                  </a:cubicBezTo>
                  <a:cubicBezTo>
                    <a:pt x="0" y="3302"/>
                    <a:pt x="968" y="4270"/>
                    <a:pt x="2135" y="4270"/>
                  </a:cubicBezTo>
                  <a:cubicBezTo>
                    <a:pt x="3336" y="4270"/>
                    <a:pt x="4270" y="3302"/>
                    <a:pt x="4270" y="2135"/>
                  </a:cubicBezTo>
                  <a:cubicBezTo>
                    <a:pt x="4270" y="934"/>
                    <a:pt x="3336" y="0"/>
                    <a:pt x="2135" y="0"/>
                  </a:cubicBezTo>
                  <a:close/>
                </a:path>
              </a:pathLst>
            </a:custGeom>
            <a:solidFill>
              <a:srgbClr val="B6BA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22"/>
            <p:cNvSpPr/>
            <p:nvPr/>
          </p:nvSpPr>
          <p:spPr>
            <a:xfrm>
              <a:off x="7980175" y="3096250"/>
              <a:ext cx="87600" cy="88400"/>
            </a:xfrm>
            <a:custGeom>
              <a:avLst/>
              <a:gdLst/>
              <a:ahLst/>
              <a:cxnLst/>
              <a:rect l="l" t="t" r="r" b="b"/>
              <a:pathLst>
                <a:path w="3504" h="3536" extrusionOk="0">
                  <a:moveTo>
                    <a:pt x="1735" y="0"/>
                  </a:moveTo>
                  <a:cubicBezTo>
                    <a:pt x="768" y="0"/>
                    <a:pt x="1" y="801"/>
                    <a:pt x="1" y="1768"/>
                  </a:cubicBezTo>
                  <a:cubicBezTo>
                    <a:pt x="1" y="2735"/>
                    <a:pt x="768" y="3536"/>
                    <a:pt x="1735" y="3536"/>
                  </a:cubicBezTo>
                  <a:cubicBezTo>
                    <a:pt x="2703" y="3536"/>
                    <a:pt x="3503" y="2735"/>
                    <a:pt x="3503" y="1768"/>
                  </a:cubicBezTo>
                  <a:cubicBezTo>
                    <a:pt x="3503" y="801"/>
                    <a:pt x="2703" y="0"/>
                    <a:pt x="1735" y="0"/>
                  </a:cubicBezTo>
                  <a:close/>
                </a:path>
              </a:pathLst>
            </a:custGeom>
            <a:solidFill>
              <a:srgbClr val="D0DD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22"/>
            <p:cNvSpPr/>
            <p:nvPr/>
          </p:nvSpPr>
          <p:spPr>
            <a:xfrm>
              <a:off x="7980175" y="3139600"/>
              <a:ext cx="87600" cy="45050"/>
            </a:xfrm>
            <a:custGeom>
              <a:avLst/>
              <a:gdLst/>
              <a:ahLst/>
              <a:cxnLst/>
              <a:rect l="l" t="t" r="r" b="b"/>
              <a:pathLst>
                <a:path w="3504" h="1802" extrusionOk="0">
                  <a:moveTo>
                    <a:pt x="1" y="1"/>
                  </a:moveTo>
                  <a:cubicBezTo>
                    <a:pt x="1" y="1"/>
                    <a:pt x="1" y="34"/>
                    <a:pt x="1" y="34"/>
                  </a:cubicBezTo>
                  <a:cubicBezTo>
                    <a:pt x="1" y="1001"/>
                    <a:pt x="768" y="1802"/>
                    <a:pt x="1735" y="1802"/>
                  </a:cubicBezTo>
                  <a:cubicBezTo>
                    <a:pt x="2703" y="1802"/>
                    <a:pt x="3503" y="1001"/>
                    <a:pt x="3503" y="34"/>
                  </a:cubicBezTo>
                  <a:cubicBezTo>
                    <a:pt x="3503" y="34"/>
                    <a:pt x="3503" y="34"/>
                    <a:pt x="3503" y="1"/>
                  </a:cubicBezTo>
                  <a:cubicBezTo>
                    <a:pt x="3503" y="968"/>
                    <a:pt x="2703" y="1735"/>
                    <a:pt x="1735" y="1735"/>
                  </a:cubicBezTo>
                  <a:cubicBezTo>
                    <a:pt x="768" y="1735"/>
                    <a:pt x="1" y="968"/>
                    <a:pt x="1" y="1"/>
                  </a:cubicBezTo>
                  <a:close/>
                </a:path>
              </a:pathLst>
            </a:custGeom>
            <a:solidFill>
              <a:srgbClr val="E0F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22"/>
            <p:cNvSpPr/>
            <p:nvPr/>
          </p:nvSpPr>
          <p:spPr>
            <a:xfrm>
              <a:off x="7631600" y="2647575"/>
              <a:ext cx="102600" cy="30900"/>
            </a:xfrm>
            <a:custGeom>
              <a:avLst/>
              <a:gdLst/>
              <a:ahLst/>
              <a:cxnLst/>
              <a:rect l="l" t="t" r="r" b="b"/>
              <a:pathLst>
                <a:path w="4104" h="1236" extrusionOk="0">
                  <a:moveTo>
                    <a:pt x="634" y="1"/>
                  </a:moveTo>
                  <a:cubicBezTo>
                    <a:pt x="301" y="1"/>
                    <a:pt x="0" y="268"/>
                    <a:pt x="0" y="601"/>
                  </a:cubicBezTo>
                  <a:cubicBezTo>
                    <a:pt x="0" y="968"/>
                    <a:pt x="301" y="1235"/>
                    <a:pt x="634" y="1235"/>
                  </a:cubicBezTo>
                  <a:lnTo>
                    <a:pt x="3470" y="1235"/>
                  </a:lnTo>
                  <a:cubicBezTo>
                    <a:pt x="3803" y="1235"/>
                    <a:pt x="4103" y="968"/>
                    <a:pt x="4103" y="601"/>
                  </a:cubicBezTo>
                  <a:cubicBezTo>
                    <a:pt x="4103" y="268"/>
                    <a:pt x="3803" y="1"/>
                    <a:pt x="3470" y="1"/>
                  </a:cubicBezTo>
                  <a:close/>
                </a:path>
              </a:pathLst>
            </a:custGeom>
            <a:solidFill>
              <a:srgbClr val="FF3E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2"/>
            <p:cNvSpPr/>
            <p:nvPr/>
          </p:nvSpPr>
          <p:spPr>
            <a:xfrm>
              <a:off x="7753350" y="2647575"/>
              <a:ext cx="102600" cy="30900"/>
            </a:xfrm>
            <a:custGeom>
              <a:avLst/>
              <a:gdLst/>
              <a:ahLst/>
              <a:cxnLst/>
              <a:rect l="l" t="t" r="r" b="b"/>
              <a:pathLst>
                <a:path w="4104" h="1236" extrusionOk="0">
                  <a:moveTo>
                    <a:pt x="634" y="1"/>
                  </a:moveTo>
                  <a:cubicBezTo>
                    <a:pt x="301" y="1"/>
                    <a:pt x="1" y="268"/>
                    <a:pt x="1" y="601"/>
                  </a:cubicBezTo>
                  <a:cubicBezTo>
                    <a:pt x="1" y="968"/>
                    <a:pt x="301" y="1235"/>
                    <a:pt x="634" y="1235"/>
                  </a:cubicBezTo>
                  <a:lnTo>
                    <a:pt x="3470" y="1235"/>
                  </a:lnTo>
                  <a:cubicBezTo>
                    <a:pt x="3803" y="1235"/>
                    <a:pt x="4103" y="968"/>
                    <a:pt x="4103" y="601"/>
                  </a:cubicBezTo>
                  <a:cubicBezTo>
                    <a:pt x="4103" y="268"/>
                    <a:pt x="3803" y="1"/>
                    <a:pt x="3470" y="1"/>
                  </a:cubicBezTo>
                  <a:close/>
                </a:path>
              </a:pathLst>
            </a:custGeom>
            <a:solidFill>
              <a:srgbClr val="FF3E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2"/>
            <p:cNvSpPr/>
            <p:nvPr/>
          </p:nvSpPr>
          <p:spPr>
            <a:xfrm>
              <a:off x="7478150" y="2827700"/>
              <a:ext cx="664675" cy="30900"/>
            </a:xfrm>
            <a:custGeom>
              <a:avLst/>
              <a:gdLst/>
              <a:ahLst/>
              <a:cxnLst/>
              <a:rect l="l" t="t" r="r" b="b"/>
              <a:pathLst>
                <a:path w="26587" h="1236" extrusionOk="0">
                  <a:moveTo>
                    <a:pt x="634" y="1"/>
                  </a:moveTo>
                  <a:cubicBezTo>
                    <a:pt x="301" y="1"/>
                    <a:pt x="1" y="268"/>
                    <a:pt x="1" y="601"/>
                  </a:cubicBezTo>
                  <a:cubicBezTo>
                    <a:pt x="1" y="968"/>
                    <a:pt x="301" y="1235"/>
                    <a:pt x="634" y="1235"/>
                  </a:cubicBezTo>
                  <a:lnTo>
                    <a:pt x="25953" y="1235"/>
                  </a:lnTo>
                  <a:cubicBezTo>
                    <a:pt x="26286" y="1235"/>
                    <a:pt x="26586" y="968"/>
                    <a:pt x="26586" y="601"/>
                  </a:cubicBezTo>
                  <a:cubicBezTo>
                    <a:pt x="26586" y="268"/>
                    <a:pt x="26286" y="1"/>
                    <a:pt x="25953" y="1"/>
                  </a:cubicBezTo>
                  <a:close/>
                </a:path>
              </a:pathLst>
            </a:custGeom>
            <a:solidFill>
              <a:srgbClr val="FFC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2"/>
            <p:cNvSpPr/>
            <p:nvPr/>
          </p:nvSpPr>
          <p:spPr>
            <a:xfrm>
              <a:off x="7977675" y="2891100"/>
              <a:ext cx="130125" cy="31700"/>
            </a:xfrm>
            <a:custGeom>
              <a:avLst/>
              <a:gdLst/>
              <a:ahLst/>
              <a:cxnLst/>
              <a:rect l="l" t="t" r="r" b="b"/>
              <a:pathLst>
                <a:path w="5205" h="1268" extrusionOk="0">
                  <a:moveTo>
                    <a:pt x="634" y="0"/>
                  </a:moveTo>
                  <a:cubicBezTo>
                    <a:pt x="267" y="0"/>
                    <a:pt x="1" y="300"/>
                    <a:pt x="1" y="634"/>
                  </a:cubicBezTo>
                  <a:cubicBezTo>
                    <a:pt x="1" y="1001"/>
                    <a:pt x="267" y="1268"/>
                    <a:pt x="634" y="1268"/>
                  </a:cubicBezTo>
                  <a:lnTo>
                    <a:pt x="4571" y="1268"/>
                  </a:lnTo>
                  <a:cubicBezTo>
                    <a:pt x="4937" y="1268"/>
                    <a:pt x="5204" y="1001"/>
                    <a:pt x="5204" y="634"/>
                  </a:cubicBezTo>
                  <a:cubicBezTo>
                    <a:pt x="5204" y="300"/>
                    <a:pt x="4937" y="0"/>
                    <a:pt x="4571" y="0"/>
                  </a:cubicBezTo>
                  <a:close/>
                </a:path>
              </a:pathLst>
            </a:custGeom>
            <a:solidFill>
              <a:srgbClr val="FFC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22"/>
            <p:cNvSpPr/>
            <p:nvPr/>
          </p:nvSpPr>
          <p:spPr>
            <a:xfrm>
              <a:off x="7840925" y="2891100"/>
              <a:ext cx="117600" cy="31700"/>
            </a:xfrm>
            <a:custGeom>
              <a:avLst/>
              <a:gdLst/>
              <a:ahLst/>
              <a:cxnLst/>
              <a:rect l="l" t="t" r="r" b="b"/>
              <a:pathLst>
                <a:path w="4704" h="1268" extrusionOk="0">
                  <a:moveTo>
                    <a:pt x="634" y="0"/>
                  </a:moveTo>
                  <a:cubicBezTo>
                    <a:pt x="300" y="0"/>
                    <a:pt x="0" y="300"/>
                    <a:pt x="0" y="634"/>
                  </a:cubicBezTo>
                  <a:cubicBezTo>
                    <a:pt x="0" y="1001"/>
                    <a:pt x="300" y="1268"/>
                    <a:pt x="634" y="1268"/>
                  </a:cubicBezTo>
                  <a:lnTo>
                    <a:pt x="4070" y="1268"/>
                  </a:lnTo>
                  <a:cubicBezTo>
                    <a:pt x="4437" y="1268"/>
                    <a:pt x="4703" y="1001"/>
                    <a:pt x="4703" y="634"/>
                  </a:cubicBezTo>
                  <a:cubicBezTo>
                    <a:pt x="4703" y="300"/>
                    <a:pt x="4403" y="0"/>
                    <a:pt x="4070" y="0"/>
                  </a:cubicBezTo>
                  <a:close/>
                </a:path>
              </a:pathLst>
            </a:custGeom>
            <a:solidFill>
              <a:srgbClr val="FFC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22"/>
            <p:cNvSpPr/>
            <p:nvPr/>
          </p:nvSpPr>
          <p:spPr>
            <a:xfrm>
              <a:off x="7735850" y="2445775"/>
              <a:ext cx="619625" cy="520400"/>
            </a:xfrm>
            <a:custGeom>
              <a:avLst/>
              <a:gdLst/>
              <a:ahLst/>
              <a:cxnLst/>
              <a:rect l="l" t="t" r="r" b="b"/>
              <a:pathLst>
                <a:path w="24785" h="20816" extrusionOk="0">
                  <a:moveTo>
                    <a:pt x="20815" y="0"/>
                  </a:moveTo>
                  <a:lnTo>
                    <a:pt x="0" y="20815"/>
                  </a:lnTo>
                  <a:lnTo>
                    <a:pt x="4303" y="20815"/>
                  </a:lnTo>
                  <a:lnTo>
                    <a:pt x="24584" y="534"/>
                  </a:lnTo>
                  <a:lnTo>
                    <a:pt x="24784" y="0"/>
                  </a:lnTo>
                  <a:close/>
                </a:path>
              </a:pathLst>
            </a:custGeom>
            <a:solidFill>
              <a:srgbClr val="E1F1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22"/>
            <p:cNvSpPr/>
            <p:nvPr/>
          </p:nvSpPr>
          <p:spPr>
            <a:xfrm>
              <a:off x="7435625" y="1671050"/>
              <a:ext cx="1062450" cy="1653700"/>
            </a:xfrm>
            <a:custGeom>
              <a:avLst/>
              <a:gdLst/>
              <a:ahLst/>
              <a:cxnLst/>
              <a:rect l="l" t="t" r="r" b="b"/>
              <a:pathLst>
                <a:path w="42498" h="66148" extrusionOk="0">
                  <a:moveTo>
                    <a:pt x="2169" y="1"/>
                  </a:moveTo>
                  <a:cubicBezTo>
                    <a:pt x="968" y="1"/>
                    <a:pt x="0" y="968"/>
                    <a:pt x="0" y="2169"/>
                  </a:cubicBezTo>
                  <a:lnTo>
                    <a:pt x="0" y="63980"/>
                  </a:lnTo>
                  <a:cubicBezTo>
                    <a:pt x="0" y="65181"/>
                    <a:pt x="968" y="66148"/>
                    <a:pt x="2169" y="66148"/>
                  </a:cubicBezTo>
                  <a:lnTo>
                    <a:pt x="40329" y="66148"/>
                  </a:lnTo>
                  <a:cubicBezTo>
                    <a:pt x="41530" y="66148"/>
                    <a:pt x="42497" y="65181"/>
                    <a:pt x="42497" y="63980"/>
                  </a:cubicBezTo>
                  <a:lnTo>
                    <a:pt x="42497" y="2169"/>
                  </a:lnTo>
                  <a:cubicBezTo>
                    <a:pt x="42497" y="968"/>
                    <a:pt x="41530" y="1"/>
                    <a:pt x="403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22"/>
            <p:cNvSpPr/>
            <p:nvPr/>
          </p:nvSpPr>
          <p:spPr>
            <a:xfrm>
              <a:off x="7435625" y="1671050"/>
              <a:ext cx="1062450" cy="150125"/>
            </a:xfrm>
            <a:custGeom>
              <a:avLst/>
              <a:gdLst/>
              <a:ahLst/>
              <a:cxnLst/>
              <a:rect l="l" t="t" r="r" b="b"/>
              <a:pathLst>
                <a:path w="42498" h="6005" extrusionOk="0">
                  <a:moveTo>
                    <a:pt x="1635" y="1"/>
                  </a:moveTo>
                  <a:cubicBezTo>
                    <a:pt x="734" y="1"/>
                    <a:pt x="0" y="734"/>
                    <a:pt x="0" y="1635"/>
                  </a:cubicBezTo>
                  <a:lnTo>
                    <a:pt x="0" y="6005"/>
                  </a:lnTo>
                  <a:lnTo>
                    <a:pt x="42497" y="6005"/>
                  </a:lnTo>
                  <a:lnTo>
                    <a:pt x="42497" y="1635"/>
                  </a:lnTo>
                  <a:cubicBezTo>
                    <a:pt x="42497" y="734"/>
                    <a:pt x="41764" y="1"/>
                    <a:pt x="408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22"/>
            <p:cNvSpPr/>
            <p:nvPr/>
          </p:nvSpPr>
          <p:spPr>
            <a:xfrm>
              <a:off x="7493175" y="1866200"/>
              <a:ext cx="949850" cy="1409350"/>
            </a:xfrm>
            <a:custGeom>
              <a:avLst/>
              <a:gdLst/>
              <a:ahLst/>
              <a:cxnLst/>
              <a:rect l="l" t="t" r="r" b="b"/>
              <a:pathLst>
                <a:path w="37994" h="56374" extrusionOk="0">
                  <a:moveTo>
                    <a:pt x="36259" y="56374"/>
                  </a:moveTo>
                  <a:lnTo>
                    <a:pt x="1768" y="56374"/>
                  </a:lnTo>
                  <a:cubicBezTo>
                    <a:pt x="801" y="56374"/>
                    <a:pt x="0" y="55607"/>
                    <a:pt x="0" y="54639"/>
                  </a:cubicBezTo>
                  <a:lnTo>
                    <a:pt x="0" y="1735"/>
                  </a:lnTo>
                  <a:cubicBezTo>
                    <a:pt x="0" y="767"/>
                    <a:pt x="801" y="0"/>
                    <a:pt x="1768" y="0"/>
                  </a:cubicBezTo>
                  <a:lnTo>
                    <a:pt x="36259" y="0"/>
                  </a:lnTo>
                  <a:cubicBezTo>
                    <a:pt x="37227" y="0"/>
                    <a:pt x="37994" y="767"/>
                    <a:pt x="37994" y="1735"/>
                  </a:cubicBezTo>
                  <a:lnTo>
                    <a:pt x="37994" y="54639"/>
                  </a:lnTo>
                  <a:cubicBezTo>
                    <a:pt x="37994" y="55607"/>
                    <a:pt x="37227" y="56374"/>
                    <a:pt x="36259" y="56374"/>
                  </a:cubicBezTo>
                  <a:close/>
                </a:path>
              </a:pathLst>
            </a:custGeom>
            <a:solidFill>
              <a:srgbClr val="240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22"/>
            <p:cNvSpPr/>
            <p:nvPr/>
          </p:nvSpPr>
          <p:spPr>
            <a:xfrm>
              <a:off x="7725000" y="1721075"/>
              <a:ext cx="50900" cy="25900"/>
            </a:xfrm>
            <a:custGeom>
              <a:avLst/>
              <a:gdLst/>
              <a:ahLst/>
              <a:cxnLst/>
              <a:rect l="l" t="t" r="r" b="b"/>
              <a:pathLst>
                <a:path w="2036" h="1036" extrusionOk="0">
                  <a:moveTo>
                    <a:pt x="1001" y="1"/>
                  </a:moveTo>
                  <a:cubicBezTo>
                    <a:pt x="434" y="1"/>
                    <a:pt x="0" y="435"/>
                    <a:pt x="0" y="1002"/>
                  </a:cubicBezTo>
                  <a:lnTo>
                    <a:pt x="0" y="1035"/>
                  </a:lnTo>
                  <a:cubicBezTo>
                    <a:pt x="0" y="468"/>
                    <a:pt x="434" y="1"/>
                    <a:pt x="1001" y="1"/>
                  </a:cubicBezTo>
                  <a:close/>
                  <a:moveTo>
                    <a:pt x="1001" y="1"/>
                  </a:moveTo>
                  <a:cubicBezTo>
                    <a:pt x="1568" y="1"/>
                    <a:pt x="2035" y="468"/>
                    <a:pt x="2035" y="1035"/>
                  </a:cubicBezTo>
                  <a:lnTo>
                    <a:pt x="2035" y="1002"/>
                  </a:lnTo>
                  <a:cubicBezTo>
                    <a:pt x="2035" y="435"/>
                    <a:pt x="1568" y="1"/>
                    <a:pt x="1001" y="1"/>
                  </a:cubicBezTo>
                  <a:close/>
                </a:path>
              </a:pathLst>
            </a:custGeom>
            <a:solidFill>
              <a:srgbClr val="84FA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22"/>
            <p:cNvSpPr/>
            <p:nvPr/>
          </p:nvSpPr>
          <p:spPr>
            <a:xfrm>
              <a:off x="7539025" y="2031300"/>
              <a:ext cx="674675" cy="15875"/>
            </a:xfrm>
            <a:custGeom>
              <a:avLst/>
              <a:gdLst/>
              <a:ahLst/>
              <a:cxnLst/>
              <a:rect l="l" t="t" r="r" b="b"/>
              <a:pathLst>
                <a:path w="26987" h="635" extrusionOk="0">
                  <a:moveTo>
                    <a:pt x="334" y="1"/>
                  </a:moveTo>
                  <a:cubicBezTo>
                    <a:pt x="134" y="1"/>
                    <a:pt x="1" y="134"/>
                    <a:pt x="1" y="301"/>
                  </a:cubicBezTo>
                  <a:cubicBezTo>
                    <a:pt x="1" y="501"/>
                    <a:pt x="134" y="635"/>
                    <a:pt x="334" y="635"/>
                  </a:cubicBezTo>
                  <a:lnTo>
                    <a:pt x="26686" y="635"/>
                  </a:lnTo>
                  <a:cubicBezTo>
                    <a:pt x="26853" y="635"/>
                    <a:pt x="26987" y="501"/>
                    <a:pt x="26987" y="301"/>
                  </a:cubicBezTo>
                  <a:cubicBezTo>
                    <a:pt x="26987" y="134"/>
                    <a:pt x="26853" y="1"/>
                    <a:pt x="26686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22"/>
            <p:cNvSpPr/>
            <p:nvPr/>
          </p:nvSpPr>
          <p:spPr>
            <a:xfrm>
              <a:off x="8255375" y="2031300"/>
              <a:ext cx="65075" cy="15875"/>
            </a:xfrm>
            <a:custGeom>
              <a:avLst/>
              <a:gdLst/>
              <a:ahLst/>
              <a:cxnLst/>
              <a:rect l="l" t="t" r="r" b="b"/>
              <a:pathLst>
                <a:path w="2603" h="635" extrusionOk="0">
                  <a:moveTo>
                    <a:pt x="301" y="1"/>
                  </a:moveTo>
                  <a:cubicBezTo>
                    <a:pt x="134" y="1"/>
                    <a:pt x="1" y="134"/>
                    <a:pt x="1" y="301"/>
                  </a:cubicBezTo>
                  <a:cubicBezTo>
                    <a:pt x="1" y="501"/>
                    <a:pt x="134" y="635"/>
                    <a:pt x="301" y="635"/>
                  </a:cubicBezTo>
                  <a:lnTo>
                    <a:pt x="2269" y="635"/>
                  </a:lnTo>
                  <a:cubicBezTo>
                    <a:pt x="2436" y="635"/>
                    <a:pt x="2602" y="501"/>
                    <a:pt x="2602" y="301"/>
                  </a:cubicBezTo>
                  <a:cubicBezTo>
                    <a:pt x="2602" y="134"/>
                    <a:pt x="2436" y="1"/>
                    <a:pt x="2269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22"/>
            <p:cNvSpPr/>
            <p:nvPr/>
          </p:nvSpPr>
          <p:spPr>
            <a:xfrm>
              <a:off x="8345450" y="2031300"/>
              <a:ext cx="52550" cy="15875"/>
            </a:xfrm>
            <a:custGeom>
              <a:avLst/>
              <a:gdLst/>
              <a:ahLst/>
              <a:cxnLst/>
              <a:rect l="l" t="t" r="r" b="b"/>
              <a:pathLst>
                <a:path w="2102" h="635" extrusionOk="0">
                  <a:moveTo>
                    <a:pt x="300" y="1"/>
                  </a:moveTo>
                  <a:cubicBezTo>
                    <a:pt x="134" y="1"/>
                    <a:pt x="0" y="134"/>
                    <a:pt x="0" y="301"/>
                  </a:cubicBezTo>
                  <a:cubicBezTo>
                    <a:pt x="0" y="501"/>
                    <a:pt x="134" y="635"/>
                    <a:pt x="300" y="635"/>
                  </a:cubicBezTo>
                  <a:lnTo>
                    <a:pt x="1768" y="635"/>
                  </a:lnTo>
                  <a:cubicBezTo>
                    <a:pt x="1968" y="635"/>
                    <a:pt x="2102" y="501"/>
                    <a:pt x="2102" y="301"/>
                  </a:cubicBezTo>
                  <a:cubicBezTo>
                    <a:pt x="2102" y="134"/>
                    <a:pt x="1968" y="1"/>
                    <a:pt x="1768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22"/>
            <p:cNvSpPr/>
            <p:nvPr/>
          </p:nvSpPr>
          <p:spPr>
            <a:xfrm>
              <a:off x="7539025" y="2105525"/>
              <a:ext cx="386150" cy="15875"/>
            </a:xfrm>
            <a:custGeom>
              <a:avLst/>
              <a:gdLst/>
              <a:ahLst/>
              <a:cxnLst/>
              <a:rect l="l" t="t" r="r" b="b"/>
              <a:pathLst>
                <a:path w="15446" h="635" extrusionOk="0">
                  <a:moveTo>
                    <a:pt x="334" y="1"/>
                  </a:moveTo>
                  <a:cubicBezTo>
                    <a:pt x="134" y="1"/>
                    <a:pt x="1" y="134"/>
                    <a:pt x="1" y="334"/>
                  </a:cubicBezTo>
                  <a:cubicBezTo>
                    <a:pt x="1" y="501"/>
                    <a:pt x="134" y="634"/>
                    <a:pt x="334" y="634"/>
                  </a:cubicBezTo>
                  <a:lnTo>
                    <a:pt x="15112" y="634"/>
                  </a:lnTo>
                  <a:cubicBezTo>
                    <a:pt x="15312" y="634"/>
                    <a:pt x="15445" y="501"/>
                    <a:pt x="15445" y="334"/>
                  </a:cubicBezTo>
                  <a:cubicBezTo>
                    <a:pt x="15445" y="134"/>
                    <a:pt x="15312" y="1"/>
                    <a:pt x="15112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22"/>
            <p:cNvSpPr/>
            <p:nvPr/>
          </p:nvSpPr>
          <p:spPr>
            <a:xfrm>
              <a:off x="7931800" y="2105525"/>
              <a:ext cx="121800" cy="15875"/>
            </a:xfrm>
            <a:custGeom>
              <a:avLst/>
              <a:gdLst/>
              <a:ahLst/>
              <a:cxnLst/>
              <a:rect l="l" t="t" r="r" b="b"/>
              <a:pathLst>
                <a:path w="4872" h="635" extrusionOk="0">
                  <a:moveTo>
                    <a:pt x="301" y="1"/>
                  </a:moveTo>
                  <a:cubicBezTo>
                    <a:pt x="134" y="1"/>
                    <a:pt x="1" y="134"/>
                    <a:pt x="1" y="334"/>
                  </a:cubicBezTo>
                  <a:cubicBezTo>
                    <a:pt x="1" y="501"/>
                    <a:pt x="134" y="634"/>
                    <a:pt x="301" y="634"/>
                  </a:cubicBezTo>
                  <a:lnTo>
                    <a:pt x="4571" y="634"/>
                  </a:lnTo>
                  <a:cubicBezTo>
                    <a:pt x="4738" y="634"/>
                    <a:pt x="4871" y="501"/>
                    <a:pt x="4871" y="334"/>
                  </a:cubicBezTo>
                  <a:cubicBezTo>
                    <a:pt x="4871" y="134"/>
                    <a:pt x="4738" y="1"/>
                    <a:pt x="4571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2"/>
            <p:cNvSpPr/>
            <p:nvPr/>
          </p:nvSpPr>
          <p:spPr>
            <a:xfrm>
              <a:off x="7971850" y="2148050"/>
              <a:ext cx="81750" cy="16700"/>
            </a:xfrm>
            <a:custGeom>
              <a:avLst/>
              <a:gdLst/>
              <a:ahLst/>
              <a:cxnLst/>
              <a:rect l="l" t="t" r="r" b="b"/>
              <a:pathLst>
                <a:path w="3270" h="668" extrusionOk="0">
                  <a:moveTo>
                    <a:pt x="334" y="1"/>
                  </a:moveTo>
                  <a:cubicBezTo>
                    <a:pt x="134" y="1"/>
                    <a:pt x="0" y="168"/>
                    <a:pt x="0" y="334"/>
                  </a:cubicBezTo>
                  <a:cubicBezTo>
                    <a:pt x="0" y="535"/>
                    <a:pt x="134" y="668"/>
                    <a:pt x="334" y="668"/>
                  </a:cubicBezTo>
                  <a:lnTo>
                    <a:pt x="2969" y="668"/>
                  </a:lnTo>
                  <a:cubicBezTo>
                    <a:pt x="3136" y="668"/>
                    <a:pt x="3269" y="501"/>
                    <a:pt x="3269" y="334"/>
                  </a:cubicBezTo>
                  <a:cubicBezTo>
                    <a:pt x="3269" y="168"/>
                    <a:pt x="3136" y="1"/>
                    <a:pt x="2969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2"/>
            <p:cNvSpPr/>
            <p:nvPr/>
          </p:nvSpPr>
          <p:spPr>
            <a:xfrm>
              <a:off x="7931800" y="2148050"/>
              <a:ext cx="24225" cy="16700"/>
            </a:xfrm>
            <a:custGeom>
              <a:avLst/>
              <a:gdLst/>
              <a:ahLst/>
              <a:cxnLst/>
              <a:rect l="l" t="t" r="r" b="b"/>
              <a:pathLst>
                <a:path w="969" h="668" extrusionOk="0">
                  <a:moveTo>
                    <a:pt x="335" y="1"/>
                  </a:moveTo>
                  <a:cubicBezTo>
                    <a:pt x="168" y="1"/>
                    <a:pt x="1" y="168"/>
                    <a:pt x="1" y="334"/>
                  </a:cubicBezTo>
                  <a:cubicBezTo>
                    <a:pt x="1" y="535"/>
                    <a:pt x="168" y="668"/>
                    <a:pt x="335" y="668"/>
                  </a:cubicBezTo>
                  <a:lnTo>
                    <a:pt x="635" y="668"/>
                  </a:lnTo>
                  <a:cubicBezTo>
                    <a:pt x="802" y="668"/>
                    <a:pt x="968" y="501"/>
                    <a:pt x="968" y="334"/>
                  </a:cubicBezTo>
                  <a:cubicBezTo>
                    <a:pt x="968" y="168"/>
                    <a:pt x="835" y="1"/>
                    <a:pt x="635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22"/>
            <p:cNvSpPr/>
            <p:nvPr/>
          </p:nvSpPr>
          <p:spPr>
            <a:xfrm>
              <a:off x="7835900" y="2148050"/>
              <a:ext cx="73425" cy="16700"/>
            </a:xfrm>
            <a:custGeom>
              <a:avLst/>
              <a:gdLst/>
              <a:ahLst/>
              <a:cxnLst/>
              <a:rect l="l" t="t" r="r" b="b"/>
              <a:pathLst>
                <a:path w="2937" h="668" extrusionOk="0">
                  <a:moveTo>
                    <a:pt x="301" y="1"/>
                  </a:moveTo>
                  <a:cubicBezTo>
                    <a:pt x="134" y="1"/>
                    <a:pt x="1" y="168"/>
                    <a:pt x="1" y="334"/>
                  </a:cubicBezTo>
                  <a:cubicBezTo>
                    <a:pt x="1" y="535"/>
                    <a:pt x="134" y="668"/>
                    <a:pt x="301" y="668"/>
                  </a:cubicBezTo>
                  <a:lnTo>
                    <a:pt x="2636" y="668"/>
                  </a:lnTo>
                  <a:cubicBezTo>
                    <a:pt x="2803" y="668"/>
                    <a:pt x="2936" y="501"/>
                    <a:pt x="2936" y="334"/>
                  </a:cubicBezTo>
                  <a:cubicBezTo>
                    <a:pt x="2936" y="168"/>
                    <a:pt x="2803" y="1"/>
                    <a:pt x="2636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22"/>
            <p:cNvSpPr/>
            <p:nvPr/>
          </p:nvSpPr>
          <p:spPr>
            <a:xfrm>
              <a:off x="7731675" y="2148050"/>
              <a:ext cx="74250" cy="16700"/>
            </a:xfrm>
            <a:custGeom>
              <a:avLst/>
              <a:gdLst/>
              <a:ahLst/>
              <a:cxnLst/>
              <a:rect l="l" t="t" r="r" b="b"/>
              <a:pathLst>
                <a:path w="2970" h="668" extrusionOk="0">
                  <a:moveTo>
                    <a:pt x="300" y="1"/>
                  </a:moveTo>
                  <a:cubicBezTo>
                    <a:pt x="134" y="1"/>
                    <a:pt x="0" y="168"/>
                    <a:pt x="0" y="334"/>
                  </a:cubicBezTo>
                  <a:cubicBezTo>
                    <a:pt x="0" y="535"/>
                    <a:pt x="134" y="668"/>
                    <a:pt x="300" y="668"/>
                  </a:cubicBezTo>
                  <a:lnTo>
                    <a:pt x="2635" y="668"/>
                  </a:lnTo>
                  <a:cubicBezTo>
                    <a:pt x="2802" y="668"/>
                    <a:pt x="2969" y="501"/>
                    <a:pt x="2936" y="334"/>
                  </a:cubicBezTo>
                  <a:cubicBezTo>
                    <a:pt x="2936" y="168"/>
                    <a:pt x="2802" y="1"/>
                    <a:pt x="2635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22"/>
            <p:cNvSpPr/>
            <p:nvPr/>
          </p:nvSpPr>
          <p:spPr>
            <a:xfrm>
              <a:off x="7627425" y="2148050"/>
              <a:ext cx="74250" cy="16700"/>
            </a:xfrm>
            <a:custGeom>
              <a:avLst/>
              <a:gdLst/>
              <a:ahLst/>
              <a:cxnLst/>
              <a:rect l="l" t="t" r="r" b="b"/>
              <a:pathLst>
                <a:path w="2970" h="668" extrusionOk="0">
                  <a:moveTo>
                    <a:pt x="301" y="1"/>
                  </a:moveTo>
                  <a:cubicBezTo>
                    <a:pt x="134" y="1"/>
                    <a:pt x="1" y="168"/>
                    <a:pt x="1" y="334"/>
                  </a:cubicBezTo>
                  <a:cubicBezTo>
                    <a:pt x="1" y="535"/>
                    <a:pt x="134" y="668"/>
                    <a:pt x="301" y="668"/>
                  </a:cubicBezTo>
                  <a:lnTo>
                    <a:pt x="2636" y="668"/>
                  </a:lnTo>
                  <a:cubicBezTo>
                    <a:pt x="2803" y="668"/>
                    <a:pt x="2969" y="501"/>
                    <a:pt x="2969" y="334"/>
                  </a:cubicBezTo>
                  <a:cubicBezTo>
                    <a:pt x="2969" y="168"/>
                    <a:pt x="2803" y="1"/>
                    <a:pt x="2636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22"/>
            <p:cNvSpPr/>
            <p:nvPr/>
          </p:nvSpPr>
          <p:spPr>
            <a:xfrm>
              <a:off x="7627425" y="2200600"/>
              <a:ext cx="626300" cy="15875"/>
            </a:xfrm>
            <a:custGeom>
              <a:avLst/>
              <a:gdLst/>
              <a:ahLst/>
              <a:cxnLst/>
              <a:rect l="l" t="t" r="r" b="b"/>
              <a:pathLst>
                <a:path w="25052" h="635" extrusionOk="0">
                  <a:moveTo>
                    <a:pt x="301" y="0"/>
                  </a:moveTo>
                  <a:cubicBezTo>
                    <a:pt x="134" y="0"/>
                    <a:pt x="1" y="134"/>
                    <a:pt x="1" y="334"/>
                  </a:cubicBezTo>
                  <a:cubicBezTo>
                    <a:pt x="1" y="501"/>
                    <a:pt x="134" y="634"/>
                    <a:pt x="301" y="634"/>
                  </a:cubicBezTo>
                  <a:lnTo>
                    <a:pt x="24718" y="634"/>
                  </a:lnTo>
                  <a:cubicBezTo>
                    <a:pt x="24885" y="634"/>
                    <a:pt x="25052" y="501"/>
                    <a:pt x="25018" y="334"/>
                  </a:cubicBezTo>
                  <a:cubicBezTo>
                    <a:pt x="25018" y="134"/>
                    <a:pt x="24885" y="0"/>
                    <a:pt x="247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22"/>
            <p:cNvSpPr/>
            <p:nvPr/>
          </p:nvSpPr>
          <p:spPr>
            <a:xfrm>
              <a:off x="7539025" y="2148050"/>
              <a:ext cx="37550" cy="16700"/>
            </a:xfrm>
            <a:custGeom>
              <a:avLst/>
              <a:gdLst/>
              <a:ahLst/>
              <a:cxnLst/>
              <a:rect l="l" t="t" r="r" b="b"/>
              <a:pathLst>
                <a:path w="1502" h="668" extrusionOk="0">
                  <a:moveTo>
                    <a:pt x="334" y="1"/>
                  </a:moveTo>
                  <a:cubicBezTo>
                    <a:pt x="134" y="1"/>
                    <a:pt x="1" y="168"/>
                    <a:pt x="1" y="334"/>
                  </a:cubicBezTo>
                  <a:cubicBezTo>
                    <a:pt x="1" y="535"/>
                    <a:pt x="134" y="668"/>
                    <a:pt x="334" y="668"/>
                  </a:cubicBezTo>
                  <a:lnTo>
                    <a:pt x="1168" y="668"/>
                  </a:lnTo>
                  <a:cubicBezTo>
                    <a:pt x="1335" y="668"/>
                    <a:pt x="1502" y="501"/>
                    <a:pt x="1468" y="334"/>
                  </a:cubicBezTo>
                  <a:cubicBezTo>
                    <a:pt x="1468" y="168"/>
                    <a:pt x="1335" y="1"/>
                    <a:pt x="1168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22"/>
            <p:cNvSpPr/>
            <p:nvPr/>
          </p:nvSpPr>
          <p:spPr>
            <a:xfrm>
              <a:off x="7539025" y="2200600"/>
              <a:ext cx="37550" cy="15875"/>
            </a:xfrm>
            <a:custGeom>
              <a:avLst/>
              <a:gdLst/>
              <a:ahLst/>
              <a:cxnLst/>
              <a:rect l="l" t="t" r="r" b="b"/>
              <a:pathLst>
                <a:path w="1502" h="635" extrusionOk="0">
                  <a:moveTo>
                    <a:pt x="334" y="0"/>
                  </a:moveTo>
                  <a:cubicBezTo>
                    <a:pt x="134" y="0"/>
                    <a:pt x="1" y="134"/>
                    <a:pt x="1" y="334"/>
                  </a:cubicBezTo>
                  <a:cubicBezTo>
                    <a:pt x="1" y="501"/>
                    <a:pt x="134" y="634"/>
                    <a:pt x="334" y="634"/>
                  </a:cubicBezTo>
                  <a:lnTo>
                    <a:pt x="1168" y="634"/>
                  </a:lnTo>
                  <a:cubicBezTo>
                    <a:pt x="1335" y="634"/>
                    <a:pt x="1502" y="501"/>
                    <a:pt x="1468" y="334"/>
                  </a:cubicBezTo>
                  <a:cubicBezTo>
                    <a:pt x="1468" y="134"/>
                    <a:pt x="1335" y="0"/>
                    <a:pt x="1168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22"/>
            <p:cNvSpPr/>
            <p:nvPr/>
          </p:nvSpPr>
          <p:spPr>
            <a:xfrm>
              <a:off x="7539025" y="2252300"/>
              <a:ext cx="37550" cy="16700"/>
            </a:xfrm>
            <a:custGeom>
              <a:avLst/>
              <a:gdLst/>
              <a:ahLst/>
              <a:cxnLst/>
              <a:rect l="l" t="t" r="r" b="b"/>
              <a:pathLst>
                <a:path w="1502" h="668" extrusionOk="0">
                  <a:moveTo>
                    <a:pt x="334" y="1"/>
                  </a:moveTo>
                  <a:cubicBezTo>
                    <a:pt x="134" y="1"/>
                    <a:pt x="1" y="167"/>
                    <a:pt x="1" y="334"/>
                  </a:cubicBezTo>
                  <a:cubicBezTo>
                    <a:pt x="1" y="501"/>
                    <a:pt x="134" y="668"/>
                    <a:pt x="334" y="668"/>
                  </a:cubicBezTo>
                  <a:lnTo>
                    <a:pt x="1168" y="668"/>
                  </a:lnTo>
                  <a:cubicBezTo>
                    <a:pt x="1335" y="668"/>
                    <a:pt x="1502" y="501"/>
                    <a:pt x="1468" y="334"/>
                  </a:cubicBezTo>
                  <a:cubicBezTo>
                    <a:pt x="1468" y="167"/>
                    <a:pt x="1335" y="1"/>
                    <a:pt x="1168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22"/>
            <p:cNvSpPr/>
            <p:nvPr/>
          </p:nvSpPr>
          <p:spPr>
            <a:xfrm>
              <a:off x="7539025" y="2304850"/>
              <a:ext cx="37550" cy="15850"/>
            </a:xfrm>
            <a:custGeom>
              <a:avLst/>
              <a:gdLst/>
              <a:ahLst/>
              <a:cxnLst/>
              <a:rect l="l" t="t" r="r" b="b"/>
              <a:pathLst>
                <a:path w="1502" h="634" extrusionOk="0">
                  <a:moveTo>
                    <a:pt x="334" y="0"/>
                  </a:moveTo>
                  <a:cubicBezTo>
                    <a:pt x="134" y="0"/>
                    <a:pt x="1" y="133"/>
                    <a:pt x="1" y="300"/>
                  </a:cubicBezTo>
                  <a:cubicBezTo>
                    <a:pt x="1" y="500"/>
                    <a:pt x="134" y="634"/>
                    <a:pt x="334" y="634"/>
                  </a:cubicBezTo>
                  <a:lnTo>
                    <a:pt x="1168" y="634"/>
                  </a:lnTo>
                  <a:cubicBezTo>
                    <a:pt x="1335" y="634"/>
                    <a:pt x="1502" y="500"/>
                    <a:pt x="1468" y="300"/>
                  </a:cubicBezTo>
                  <a:cubicBezTo>
                    <a:pt x="1468" y="133"/>
                    <a:pt x="1335" y="0"/>
                    <a:pt x="1168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22"/>
            <p:cNvSpPr/>
            <p:nvPr/>
          </p:nvSpPr>
          <p:spPr>
            <a:xfrm>
              <a:off x="8292075" y="2200600"/>
              <a:ext cx="91750" cy="15875"/>
            </a:xfrm>
            <a:custGeom>
              <a:avLst/>
              <a:gdLst/>
              <a:ahLst/>
              <a:cxnLst/>
              <a:rect l="l" t="t" r="r" b="b"/>
              <a:pathLst>
                <a:path w="3670" h="635" extrusionOk="0">
                  <a:moveTo>
                    <a:pt x="300" y="0"/>
                  </a:moveTo>
                  <a:cubicBezTo>
                    <a:pt x="134" y="0"/>
                    <a:pt x="0" y="134"/>
                    <a:pt x="0" y="334"/>
                  </a:cubicBezTo>
                  <a:cubicBezTo>
                    <a:pt x="0" y="501"/>
                    <a:pt x="134" y="634"/>
                    <a:pt x="300" y="634"/>
                  </a:cubicBezTo>
                  <a:lnTo>
                    <a:pt x="3336" y="634"/>
                  </a:lnTo>
                  <a:cubicBezTo>
                    <a:pt x="3503" y="634"/>
                    <a:pt x="3670" y="501"/>
                    <a:pt x="3670" y="334"/>
                  </a:cubicBezTo>
                  <a:cubicBezTo>
                    <a:pt x="3670" y="134"/>
                    <a:pt x="3536" y="0"/>
                    <a:pt x="33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22"/>
            <p:cNvSpPr/>
            <p:nvPr/>
          </p:nvSpPr>
          <p:spPr>
            <a:xfrm>
              <a:off x="7624925" y="2252300"/>
              <a:ext cx="264375" cy="16700"/>
            </a:xfrm>
            <a:custGeom>
              <a:avLst/>
              <a:gdLst/>
              <a:ahLst/>
              <a:cxnLst/>
              <a:rect l="l" t="t" r="r" b="b"/>
              <a:pathLst>
                <a:path w="10575" h="668" extrusionOk="0">
                  <a:moveTo>
                    <a:pt x="334" y="1"/>
                  </a:moveTo>
                  <a:cubicBezTo>
                    <a:pt x="134" y="1"/>
                    <a:pt x="1" y="167"/>
                    <a:pt x="1" y="334"/>
                  </a:cubicBezTo>
                  <a:cubicBezTo>
                    <a:pt x="1" y="501"/>
                    <a:pt x="134" y="668"/>
                    <a:pt x="334" y="668"/>
                  </a:cubicBezTo>
                  <a:lnTo>
                    <a:pt x="10275" y="668"/>
                  </a:lnTo>
                  <a:cubicBezTo>
                    <a:pt x="10441" y="668"/>
                    <a:pt x="10575" y="501"/>
                    <a:pt x="10575" y="334"/>
                  </a:cubicBezTo>
                  <a:cubicBezTo>
                    <a:pt x="10575" y="167"/>
                    <a:pt x="10441" y="1"/>
                    <a:pt x="102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22"/>
            <p:cNvSpPr/>
            <p:nvPr/>
          </p:nvSpPr>
          <p:spPr>
            <a:xfrm>
              <a:off x="7971850" y="2412425"/>
              <a:ext cx="299400" cy="16700"/>
            </a:xfrm>
            <a:custGeom>
              <a:avLst/>
              <a:gdLst/>
              <a:ahLst/>
              <a:cxnLst/>
              <a:rect l="l" t="t" r="r" b="b"/>
              <a:pathLst>
                <a:path w="11976" h="668" extrusionOk="0">
                  <a:moveTo>
                    <a:pt x="300" y="0"/>
                  </a:moveTo>
                  <a:cubicBezTo>
                    <a:pt x="134" y="0"/>
                    <a:pt x="0" y="134"/>
                    <a:pt x="0" y="334"/>
                  </a:cubicBezTo>
                  <a:cubicBezTo>
                    <a:pt x="0" y="500"/>
                    <a:pt x="134" y="667"/>
                    <a:pt x="300" y="667"/>
                  </a:cubicBezTo>
                  <a:lnTo>
                    <a:pt x="11642" y="667"/>
                  </a:lnTo>
                  <a:cubicBezTo>
                    <a:pt x="11842" y="667"/>
                    <a:pt x="11975" y="500"/>
                    <a:pt x="11975" y="334"/>
                  </a:cubicBezTo>
                  <a:cubicBezTo>
                    <a:pt x="11975" y="134"/>
                    <a:pt x="11842" y="0"/>
                    <a:pt x="1164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22"/>
            <p:cNvSpPr/>
            <p:nvPr/>
          </p:nvSpPr>
          <p:spPr>
            <a:xfrm>
              <a:off x="8049400" y="2359050"/>
              <a:ext cx="221850" cy="16700"/>
            </a:xfrm>
            <a:custGeom>
              <a:avLst/>
              <a:gdLst/>
              <a:ahLst/>
              <a:cxnLst/>
              <a:rect l="l" t="t" r="r" b="b"/>
              <a:pathLst>
                <a:path w="8874" h="668" extrusionOk="0">
                  <a:moveTo>
                    <a:pt x="334" y="0"/>
                  </a:moveTo>
                  <a:cubicBezTo>
                    <a:pt x="134" y="0"/>
                    <a:pt x="0" y="134"/>
                    <a:pt x="0" y="334"/>
                  </a:cubicBezTo>
                  <a:cubicBezTo>
                    <a:pt x="0" y="501"/>
                    <a:pt x="134" y="667"/>
                    <a:pt x="334" y="667"/>
                  </a:cubicBezTo>
                  <a:lnTo>
                    <a:pt x="8540" y="667"/>
                  </a:lnTo>
                  <a:cubicBezTo>
                    <a:pt x="8740" y="667"/>
                    <a:pt x="8873" y="501"/>
                    <a:pt x="8873" y="334"/>
                  </a:cubicBezTo>
                  <a:cubicBezTo>
                    <a:pt x="8873" y="134"/>
                    <a:pt x="8740" y="0"/>
                    <a:pt x="854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22"/>
            <p:cNvSpPr/>
            <p:nvPr/>
          </p:nvSpPr>
          <p:spPr>
            <a:xfrm>
              <a:off x="8173650" y="2304850"/>
              <a:ext cx="97600" cy="15850"/>
            </a:xfrm>
            <a:custGeom>
              <a:avLst/>
              <a:gdLst/>
              <a:ahLst/>
              <a:cxnLst/>
              <a:rect l="l" t="t" r="r" b="b"/>
              <a:pathLst>
                <a:path w="3904" h="634" extrusionOk="0">
                  <a:moveTo>
                    <a:pt x="301" y="0"/>
                  </a:moveTo>
                  <a:cubicBezTo>
                    <a:pt x="134" y="0"/>
                    <a:pt x="1" y="133"/>
                    <a:pt x="1" y="300"/>
                  </a:cubicBezTo>
                  <a:cubicBezTo>
                    <a:pt x="1" y="500"/>
                    <a:pt x="134" y="634"/>
                    <a:pt x="301" y="634"/>
                  </a:cubicBezTo>
                  <a:lnTo>
                    <a:pt x="3570" y="634"/>
                  </a:lnTo>
                  <a:cubicBezTo>
                    <a:pt x="3770" y="634"/>
                    <a:pt x="3903" y="500"/>
                    <a:pt x="3903" y="300"/>
                  </a:cubicBezTo>
                  <a:cubicBezTo>
                    <a:pt x="3903" y="133"/>
                    <a:pt x="3770" y="0"/>
                    <a:pt x="35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22"/>
            <p:cNvSpPr/>
            <p:nvPr/>
          </p:nvSpPr>
          <p:spPr>
            <a:xfrm>
              <a:off x="7539025" y="1958750"/>
              <a:ext cx="312750" cy="15875"/>
            </a:xfrm>
            <a:custGeom>
              <a:avLst/>
              <a:gdLst/>
              <a:ahLst/>
              <a:cxnLst/>
              <a:rect l="l" t="t" r="r" b="b"/>
              <a:pathLst>
                <a:path w="12510" h="635" extrusionOk="0">
                  <a:moveTo>
                    <a:pt x="334" y="1"/>
                  </a:moveTo>
                  <a:cubicBezTo>
                    <a:pt x="134" y="1"/>
                    <a:pt x="1" y="134"/>
                    <a:pt x="1" y="334"/>
                  </a:cubicBezTo>
                  <a:cubicBezTo>
                    <a:pt x="1" y="501"/>
                    <a:pt x="134" y="635"/>
                    <a:pt x="334" y="635"/>
                  </a:cubicBezTo>
                  <a:lnTo>
                    <a:pt x="12176" y="635"/>
                  </a:lnTo>
                  <a:cubicBezTo>
                    <a:pt x="12376" y="635"/>
                    <a:pt x="12510" y="501"/>
                    <a:pt x="12510" y="334"/>
                  </a:cubicBezTo>
                  <a:cubicBezTo>
                    <a:pt x="12510" y="134"/>
                    <a:pt x="12376" y="1"/>
                    <a:pt x="12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22"/>
            <p:cNvSpPr/>
            <p:nvPr/>
          </p:nvSpPr>
          <p:spPr>
            <a:xfrm>
              <a:off x="7539025" y="2539175"/>
              <a:ext cx="505400" cy="16700"/>
            </a:xfrm>
            <a:custGeom>
              <a:avLst/>
              <a:gdLst/>
              <a:ahLst/>
              <a:cxnLst/>
              <a:rect l="l" t="t" r="r" b="b"/>
              <a:pathLst>
                <a:path w="20216" h="668" extrusionOk="0">
                  <a:moveTo>
                    <a:pt x="334" y="0"/>
                  </a:moveTo>
                  <a:cubicBezTo>
                    <a:pt x="134" y="0"/>
                    <a:pt x="1" y="134"/>
                    <a:pt x="1" y="334"/>
                  </a:cubicBezTo>
                  <a:cubicBezTo>
                    <a:pt x="1" y="501"/>
                    <a:pt x="134" y="668"/>
                    <a:pt x="334" y="668"/>
                  </a:cubicBezTo>
                  <a:lnTo>
                    <a:pt x="19882" y="668"/>
                  </a:lnTo>
                  <a:cubicBezTo>
                    <a:pt x="20048" y="668"/>
                    <a:pt x="20215" y="501"/>
                    <a:pt x="20182" y="334"/>
                  </a:cubicBezTo>
                  <a:cubicBezTo>
                    <a:pt x="20182" y="134"/>
                    <a:pt x="20048" y="0"/>
                    <a:pt x="1988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22"/>
            <p:cNvSpPr/>
            <p:nvPr/>
          </p:nvSpPr>
          <p:spPr>
            <a:xfrm>
              <a:off x="7539025" y="2603375"/>
              <a:ext cx="505400" cy="16725"/>
            </a:xfrm>
            <a:custGeom>
              <a:avLst/>
              <a:gdLst/>
              <a:ahLst/>
              <a:cxnLst/>
              <a:rect l="l" t="t" r="r" b="b"/>
              <a:pathLst>
                <a:path w="20216" h="669" extrusionOk="0">
                  <a:moveTo>
                    <a:pt x="334" y="1"/>
                  </a:moveTo>
                  <a:cubicBezTo>
                    <a:pt x="134" y="1"/>
                    <a:pt x="1" y="134"/>
                    <a:pt x="1" y="334"/>
                  </a:cubicBezTo>
                  <a:cubicBezTo>
                    <a:pt x="1" y="501"/>
                    <a:pt x="134" y="668"/>
                    <a:pt x="334" y="668"/>
                  </a:cubicBezTo>
                  <a:lnTo>
                    <a:pt x="19882" y="668"/>
                  </a:lnTo>
                  <a:cubicBezTo>
                    <a:pt x="20048" y="668"/>
                    <a:pt x="20215" y="501"/>
                    <a:pt x="20182" y="334"/>
                  </a:cubicBezTo>
                  <a:cubicBezTo>
                    <a:pt x="20182" y="134"/>
                    <a:pt x="20048" y="1"/>
                    <a:pt x="1988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22"/>
            <p:cNvSpPr/>
            <p:nvPr/>
          </p:nvSpPr>
          <p:spPr>
            <a:xfrm>
              <a:off x="7539025" y="2667600"/>
              <a:ext cx="504550" cy="16700"/>
            </a:xfrm>
            <a:custGeom>
              <a:avLst/>
              <a:gdLst/>
              <a:ahLst/>
              <a:cxnLst/>
              <a:rect l="l" t="t" r="r" b="b"/>
              <a:pathLst>
                <a:path w="20182" h="668" extrusionOk="0">
                  <a:moveTo>
                    <a:pt x="334" y="0"/>
                  </a:moveTo>
                  <a:cubicBezTo>
                    <a:pt x="134" y="0"/>
                    <a:pt x="1" y="167"/>
                    <a:pt x="1" y="334"/>
                  </a:cubicBezTo>
                  <a:cubicBezTo>
                    <a:pt x="1" y="501"/>
                    <a:pt x="134" y="668"/>
                    <a:pt x="334" y="668"/>
                  </a:cubicBezTo>
                  <a:lnTo>
                    <a:pt x="19882" y="668"/>
                  </a:lnTo>
                  <a:cubicBezTo>
                    <a:pt x="20048" y="668"/>
                    <a:pt x="20182" y="501"/>
                    <a:pt x="20182" y="334"/>
                  </a:cubicBezTo>
                  <a:cubicBezTo>
                    <a:pt x="20182" y="167"/>
                    <a:pt x="20048" y="0"/>
                    <a:pt x="1988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22"/>
            <p:cNvSpPr/>
            <p:nvPr/>
          </p:nvSpPr>
          <p:spPr>
            <a:xfrm>
              <a:off x="7539025" y="3051200"/>
              <a:ext cx="504550" cy="15875"/>
            </a:xfrm>
            <a:custGeom>
              <a:avLst/>
              <a:gdLst/>
              <a:ahLst/>
              <a:cxnLst/>
              <a:rect l="l" t="t" r="r" b="b"/>
              <a:pathLst>
                <a:path w="20182" h="635" extrusionOk="0">
                  <a:moveTo>
                    <a:pt x="334" y="1"/>
                  </a:moveTo>
                  <a:cubicBezTo>
                    <a:pt x="134" y="1"/>
                    <a:pt x="1" y="134"/>
                    <a:pt x="1" y="334"/>
                  </a:cubicBezTo>
                  <a:cubicBezTo>
                    <a:pt x="1" y="501"/>
                    <a:pt x="134" y="635"/>
                    <a:pt x="334" y="635"/>
                  </a:cubicBezTo>
                  <a:lnTo>
                    <a:pt x="19882" y="635"/>
                  </a:lnTo>
                  <a:cubicBezTo>
                    <a:pt x="20048" y="635"/>
                    <a:pt x="20182" y="501"/>
                    <a:pt x="20182" y="334"/>
                  </a:cubicBezTo>
                  <a:cubicBezTo>
                    <a:pt x="20182" y="134"/>
                    <a:pt x="20048" y="1"/>
                    <a:pt x="1988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22"/>
            <p:cNvSpPr/>
            <p:nvPr/>
          </p:nvSpPr>
          <p:spPr>
            <a:xfrm>
              <a:off x="7998525" y="2464950"/>
              <a:ext cx="150125" cy="15875"/>
            </a:xfrm>
            <a:custGeom>
              <a:avLst/>
              <a:gdLst/>
              <a:ahLst/>
              <a:cxnLst/>
              <a:rect l="l" t="t" r="r" b="b"/>
              <a:pathLst>
                <a:path w="6005" h="635" extrusionOk="0">
                  <a:moveTo>
                    <a:pt x="334" y="1"/>
                  </a:moveTo>
                  <a:cubicBezTo>
                    <a:pt x="167" y="1"/>
                    <a:pt x="1" y="134"/>
                    <a:pt x="1" y="334"/>
                  </a:cubicBezTo>
                  <a:cubicBezTo>
                    <a:pt x="1" y="501"/>
                    <a:pt x="167" y="634"/>
                    <a:pt x="334" y="634"/>
                  </a:cubicBezTo>
                  <a:lnTo>
                    <a:pt x="5671" y="634"/>
                  </a:lnTo>
                  <a:cubicBezTo>
                    <a:pt x="5838" y="634"/>
                    <a:pt x="6005" y="501"/>
                    <a:pt x="6005" y="334"/>
                  </a:cubicBezTo>
                  <a:cubicBezTo>
                    <a:pt x="6005" y="134"/>
                    <a:pt x="5838" y="1"/>
                    <a:pt x="5671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22"/>
            <p:cNvSpPr/>
            <p:nvPr/>
          </p:nvSpPr>
          <p:spPr>
            <a:xfrm>
              <a:off x="8197825" y="2464950"/>
              <a:ext cx="200175" cy="15875"/>
            </a:xfrm>
            <a:custGeom>
              <a:avLst/>
              <a:gdLst/>
              <a:ahLst/>
              <a:cxnLst/>
              <a:rect l="l" t="t" r="r" b="b"/>
              <a:pathLst>
                <a:path w="8007" h="635" extrusionOk="0">
                  <a:moveTo>
                    <a:pt x="334" y="1"/>
                  </a:moveTo>
                  <a:cubicBezTo>
                    <a:pt x="134" y="1"/>
                    <a:pt x="1" y="134"/>
                    <a:pt x="1" y="334"/>
                  </a:cubicBezTo>
                  <a:cubicBezTo>
                    <a:pt x="1" y="501"/>
                    <a:pt x="134" y="634"/>
                    <a:pt x="334" y="634"/>
                  </a:cubicBezTo>
                  <a:lnTo>
                    <a:pt x="7673" y="634"/>
                  </a:lnTo>
                  <a:cubicBezTo>
                    <a:pt x="7873" y="634"/>
                    <a:pt x="8007" y="501"/>
                    <a:pt x="8007" y="334"/>
                  </a:cubicBezTo>
                  <a:cubicBezTo>
                    <a:pt x="8007" y="134"/>
                    <a:pt x="7873" y="1"/>
                    <a:pt x="7673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22"/>
            <p:cNvSpPr/>
            <p:nvPr/>
          </p:nvSpPr>
          <p:spPr>
            <a:xfrm>
              <a:off x="8197825" y="2539175"/>
              <a:ext cx="200175" cy="16700"/>
            </a:xfrm>
            <a:custGeom>
              <a:avLst/>
              <a:gdLst/>
              <a:ahLst/>
              <a:cxnLst/>
              <a:rect l="l" t="t" r="r" b="b"/>
              <a:pathLst>
                <a:path w="8007" h="668" extrusionOk="0">
                  <a:moveTo>
                    <a:pt x="334" y="0"/>
                  </a:moveTo>
                  <a:cubicBezTo>
                    <a:pt x="134" y="0"/>
                    <a:pt x="1" y="134"/>
                    <a:pt x="1" y="334"/>
                  </a:cubicBezTo>
                  <a:cubicBezTo>
                    <a:pt x="1" y="501"/>
                    <a:pt x="134" y="668"/>
                    <a:pt x="334" y="668"/>
                  </a:cubicBezTo>
                  <a:lnTo>
                    <a:pt x="7673" y="668"/>
                  </a:lnTo>
                  <a:cubicBezTo>
                    <a:pt x="7873" y="668"/>
                    <a:pt x="8007" y="501"/>
                    <a:pt x="8007" y="334"/>
                  </a:cubicBezTo>
                  <a:cubicBezTo>
                    <a:pt x="8007" y="134"/>
                    <a:pt x="7873" y="0"/>
                    <a:pt x="7673" y="0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22"/>
            <p:cNvSpPr/>
            <p:nvPr/>
          </p:nvSpPr>
          <p:spPr>
            <a:xfrm>
              <a:off x="7539025" y="3148775"/>
              <a:ext cx="76750" cy="15875"/>
            </a:xfrm>
            <a:custGeom>
              <a:avLst/>
              <a:gdLst/>
              <a:ahLst/>
              <a:cxnLst/>
              <a:rect l="l" t="t" r="r" b="b"/>
              <a:pathLst>
                <a:path w="3070" h="635" extrusionOk="0">
                  <a:moveTo>
                    <a:pt x="334" y="1"/>
                  </a:moveTo>
                  <a:cubicBezTo>
                    <a:pt x="134" y="1"/>
                    <a:pt x="1" y="134"/>
                    <a:pt x="1" y="301"/>
                  </a:cubicBezTo>
                  <a:cubicBezTo>
                    <a:pt x="1" y="501"/>
                    <a:pt x="134" y="634"/>
                    <a:pt x="334" y="634"/>
                  </a:cubicBezTo>
                  <a:lnTo>
                    <a:pt x="2736" y="634"/>
                  </a:lnTo>
                  <a:cubicBezTo>
                    <a:pt x="2903" y="634"/>
                    <a:pt x="3070" y="501"/>
                    <a:pt x="3070" y="301"/>
                  </a:cubicBezTo>
                  <a:cubicBezTo>
                    <a:pt x="3070" y="134"/>
                    <a:pt x="2903" y="1"/>
                    <a:pt x="2736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22"/>
            <p:cNvSpPr/>
            <p:nvPr/>
          </p:nvSpPr>
          <p:spPr>
            <a:xfrm>
              <a:off x="7539025" y="3197150"/>
              <a:ext cx="76750" cy="16700"/>
            </a:xfrm>
            <a:custGeom>
              <a:avLst/>
              <a:gdLst/>
              <a:ahLst/>
              <a:cxnLst/>
              <a:rect l="l" t="t" r="r" b="b"/>
              <a:pathLst>
                <a:path w="3070" h="668" extrusionOk="0">
                  <a:moveTo>
                    <a:pt x="334" y="0"/>
                  </a:moveTo>
                  <a:cubicBezTo>
                    <a:pt x="134" y="0"/>
                    <a:pt x="1" y="167"/>
                    <a:pt x="1" y="334"/>
                  </a:cubicBezTo>
                  <a:cubicBezTo>
                    <a:pt x="1" y="501"/>
                    <a:pt x="134" y="667"/>
                    <a:pt x="334" y="667"/>
                  </a:cubicBezTo>
                  <a:lnTo>
                    <a:pt x="2736" y="667"/>
                  </a:lnTo>
                  <a:cubicBezTo>
                    <a:pt x="2903" y="667"/>
                    <a:pt x="3070" y="501"/>
                    <a:pt x="3070" y="334"/>
                  </a:cubicBezTo>
                  <a:cubicBezTo>
                    <a:pt x="3070" y="167"/>
                    <a:pt x="2903" y="0"/>
                    <a:pt x="2736" y="0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22"/>
            <p:cNvSpPr/>
            <p:nvPr/>
          </p:nvSpPr>
          <p:spPr>
            <a:xfrm>
              <a:off x="7635775" y="3197150"/>
              <a:ext cx="469525" cy="16700"/>
            </a:xfrm>
            <a:custGeom>
              <a:avLst/>
              <a:gdLst/>
              <a:ahLst/>
              <a:cxnLst/>
              <a:rect l="l" t="t" r="r" b="b"/>
              <a:pathLst>
                <a:path w="18781" h="668" extrusionOk="0">
                  <a:moveTo>
                    <a:pt x="300" y="0"/>
                  </a:moveTo>
                  <a:cubicBezTo>
                    <a:pt x="134" y="0"/>
                    <a:pt x="0" y="167"/>
                    <a:pt x="0" y="334"/>
                  </a:cubicBezTo>
                  <a:cubicBezTo>
                    <a:pt x="0" y="501"/>
                    <a:pt x="134" y="667"/>
                    <a:pt x="300" y="667"/>
                  </a:cubicBezTo>
                  <a:lnTo>
                    <a:pt x="18447" y="667"/>
                  </a:lnTo>
                  <a:cubicBezTo>
                    <a:pt x="18647" y="667"/>
                    <a:pt x="18780" y="501"/>
                    <a:pt x="18780" y="334"/>
                  </a:cubicBezTo>
                  <a:cubicBezTo>
                    <a:pt x="18780" y="167"/>
                    <a:pt x="18647" y="0"/>
                    <a:pt x="18447" y="0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22"/>
            <p:cNvSpPr/>
            <p:nvPr/>
          </p:nvSpPr>
          <p:spPr>
            <a:xfrm>
              <a:off x="7657450" y="3148775"/>
              <a:ext cx="75900" cy="15875"/>
            </a:xfrm>
            <a:custGeom>
              <a:avLst/>
              <a:gdLst/>
              <a:ahLst/>
              <a:cxnLst/>
              <a:rect l="l" t="t" r="r" b="b"/>
              <a:pathLst>
                <a:path w="3036" h="635" extrusionOk="0">
                  <a:moveTo>
                    <a:pt x="301" y="1"/>
                  </a:moveTo>
                  <a:cubicBezTo>
                    <a:pt x="134" y="1"/>
                    <a:pt x="0" y="134"/>
                    <a:pt x="0" y="301"/>
                  </a:cubicBezTo>
                  <a:cubicBezTo>
                    <a:pt x="0" y="501"/>
                    <a:pt x="134" y="634"/>
                    <a:pt x="301" y="634"/>
                  </a:cubicBezTo>
                  <a:lnTo>
                    <a:pt x="2736" y="634"/>
                  </a:lnTo>
                  <a:cubicBezTo>
                    <a:pt x="2903" y="634"/>
                    <a:pt x="3036" y="501"/>
                    <a:pt x="3036" y="301"/>
                  </a:cubicBezTo>
                  <a:cubicBezTo>
                    <a:pt x="3036" y="134"/>
                    <a:pt x="2903" y="1"/>
                    <a:pt x="2736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22"/>
            <p:cNvSpPr/>
            <p:nvPr/>
          </p:nvSpPr>
          <p:spPr>
            <a:xfrm>
              <a:off x="7775025" y="3148775"/>
              <a:ext cx="76750" cy="15875"/>
            </a:xfrm>
            <a:custGeom>
              <a:avLst/>
              <a:gdLst/>
              <a:ahLst/>
              <a:cxnLst/>
              <a:rect l="l" t="t" r="r" b="b"/>
              <a:pathLst>
                <a:path w="3070" h="635" extrusionOk="0">
                  <a:moveTo>
                    <a:pt x="334" y="1"/>
                  </a:moveTo>
                  <a:cubicBezTo>
                    <a:pt x="168" y="1"/>
                    <a:pt x="1" y="134"/>
                    <a:pt x="1" y="301"/>
                  </a:cubicBezTo>
                  <a:cubicBezTo>
                    <a:pt x="1" y="501"/>
                    <a:pt x="168" y="634"/>
                    <a:pt x="334" y="634"/>
                  </a:cubicBezTo>
                  <a:lnTo>
                    <a:pt x="2736" y="634"/>
                  </a:lnTo>
                  <a:cubicBezTo>
                    <a:pt x="2936" y="634"/>
                    <a:pt x="3070" y="501"/>
                    <a:pt x="3070" y="301"/>
                  </a:cubicBezTo>
                  <a:cubicBezTo>
                    <a:pt x="3070" y="134"/>
                    <a:pt x="2936" y="1"/>
                    <a:pt x="2736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22"/>
            <p:cNvSpPr/>
            <p:nvPr/>
          </p:nvSpPr>
          <p:spPr>
            <a:xfrm>
              <a:off x="7893450" y="3148775"/>
              <a:ext cx="75925" cy="15875"/>
            </a:xfrm>
            <a:custGeom>
              <a:avLst/>
              <a:gdLst/>
              <a:ahLst/>
              <a:cxnLst/>
              <a:rect l="l" t="t" r="r" b="b"/>
              <a:pathLst>
                <a:path w="3037" h="635" extrusionOk="0">
                  <a:moveTo>
                    <a:pt x="334" y="1"/>
                  </a:moveTo>
                  <a:cubicBezTo>
                    <a:pt x="134" y="1"/>
                    <a:pt x="1" y="134"/>
                    <a:pt x="1" y="301"/>
                  </a:cubicBezTo>
                  <a:cubicBezTo>
                    <a:pt x="1" y="501"/>
                    <a:pt x="134" y="634"/>
                    <a:pt x="334" y="634"/>
                  </a:cubicBezTo>
                  <a:lnTo>
                    <a:pt x="2736" y="634"/>
                  </a:lnTo>
                  <a:cubicBezTo>
                    <a:pt x="2903" y="634"/>
                    <a:pt x="3036" y="501"/>
                    <a:pt x="3036" y="301"/>
                  </a:cubicBezTo>
                  <a:cubicBezTo>
                    <a:pt x="3036" y="134"/>
                    <a:pt x="2903" y="1"/>
                    <a:pt x="2736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22"/>
            <p:cNvSpPr/>
            <p:nvPr/>
          </p:nvSpPr>
          <p:spPr>
            <a:xfrm>
              <a:off x="8011875" y="3148775"/>
              <a:ext cx="75900" cy="15875"/>
            </a:xfrm>
            <a:custGeom>
              <a:avLst/>
              <a:gdLst/>
              <a:ahLst/>
              <a:cxnLst/>
              <a:rect l="l" t="t" r="r" b="b"/>
              <a:pathLst>
                <a:path w="3036" h="635" extrusionOk="0">
                  <a:moveTo>
                    <a:pt x="300" y="1"/>
                  </a:moveTo>
                  <a:cubicBezTo>
                    <a:pt x="134" y="1"/>
                    <a:pt x="0" y="134"/>
                    <a:pt x="0" y="301"/>
                  </a:cubicBezTo>
                  <a:cubicBezTo>
                    <a:pt x="0" y="501"/>
                    <a:pt x="134" y="634"/>
                    <a:pt x="300" y="634"/>
                  </a:cubicBezTo>
                  <a:lnTo>
                    <a:pt x="2702" y="634"/>
                  </a:lnTo>
                  <a:cubicBezTo>
                    <a:pt x="2902" y="634"/>
                    <a:pt x="3036" y="501"/>
                    <a:pt x="3036" y="301"/>
                  </a:cubicBezTo>
                  <a:cubicBezTo>
                    <a:pt x="3036" y="134"/>
                    <a:pt x="2902" y="1"/>
                    <a:pt x="2702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22"/>
            <p:cNvSpPr/>
            <p:nvPr/>
          </p:nvSpPr>
          <p:spPr>
            <a:xfrm>
              <a:off x="8129450" y="3148775"/>
              <a:ext cx="76750" cy="15875"/>
            </a:xfrm>
            <a:custGeom>
              <a:avLst/>
              <a:gdLst/>
              <a:ahLst/>
              <a:cxnLst/>
              <a:rect l="l" t="t" r="r" b="b"/>
              <a:pathLst>
                <a:path w="3070" h="635" extrusionOk="0">
                  <a:moveTo>
                    <a:pt x="334" y="1"/>
                  </a:moveTo>
                  <a:cubicBezTo>
                    <a:pt x="134" y="1"/>
                    <a:pt x="1" y="134"/>
                    <a:pt x="1" y="301"/>
                  </a:cubicBezTo>
                  <a:cubicBezTo>
                    <a:pt x="1" y="501"/>
                    <a:pt x="134" y="634"/>
                    <a:pt x="334" y="634"/>
                  </a:cubicBezTo>
                  <a:lnTo>
                    <a:pt x="2736" y="634"/>
                  </a:lnTo>
                  <a:cubicBezTo>
                    <a:pt x="2903" y="634"/>
                    <a:pt x="3069" y="501"/>
                    <a:pt x="3069" y="301"/>
                  </a:cubicBezTo>
                  <a:cubicBezTo>
                    <a:pt x="3069" y="134"/>
                    <a:pt x="2903" y="1"/>
                    <a:pt x="2736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22"/>
            <p:cNvSpPr/>
            <p:nvPr/>
          </p:nvSpPr>
          <p:spPr>
            <a:xfrm>
              <a:off x="8247875" y="3148775"/>
              <a:ext cx="51725" cy="15875"/>
            </a:xfrm>
            <a:custGeom>
              <a:avLst/>
              <a:gdLst/>
              <a:ahLst/>
              <a:cxnLst/>
              <a:rect l="l" t="t" r="r" b="b"/>
              <a:pathLst>
                <a:path w="2069" h="635" extrusionOk="0">
                  <a:moveTo>
                    <a:pt x="301" y="1"/>
                  </a:moveTo>
                  <a:cubicBezTo>
                    <a:pt x="134" y="1"/>
                    <a:pt x="0" y="134"/>
                    <a:pt x="0" y="301"/>
                  </a:cubicBezTo>
                  <a:cubicBezTo>
                    <a:pt x="0" y="501"/>
                    <a:pt x="134" y="634"/>
                    <a:pt x="301" y="634"/>
                  </a:cubicBezTo>
                  <a:lnTo>
                    <a:pt x="1768" y="634"/>
                  </a:lnTo>
                  <a:cubicBezTo>
                    <a:pt x="1935" y="634"/>
                    <a:pt x="2068" y="501"/>
                    <a:pt x="2068" y="301"/>
                  </a:cubicBezTo>
                  <a:cubicBezTo>
                    <a:pt x="2068" y="134"/>
                    <a:pt x="1935" y="1"/>
                    <a:pt x="1768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22"/>
            <p:cNvSpPr/>
            <p:nvPr/>
          </p:nvSpPr>
          <p:spPr>
            <a:xfrm>
              <a:off x="8089425" y="1209875"/>
              <a:ext cx="816450" cy="748075"/>
            </a:xfrm>
            <a:custGeom>
              <a:avLst/>
              <a:gdLst/>
              <a:ahLst/>
              <a:cxnLst/>
              <a:rect l="l" t="t" r="r" b="b"/>
              <a:pathLst>
                <a:path w="32658" h="29923" extrusionOk="0">
                  <a:moveTo>
                    <a:pt x="1335" y="1"/>
                  </a:moveTo>
                  <a:cubicBezTo>
                    <a:pt x="601" y="1"/>
                    <a:pt x="0" y="601"/>
                    <a:pt x="0" y="1302"/>
                  </a:cubicBezTo>
                  <a:lnTo>
                    <a:pt x="0" y="28621"/>
                  </a:lnTo>
                  <a:cubicBezTo>
                    <a:pt x="0" y="29355"/>
                    <a:pt x="601" y="29922"/>
                    <a:pt x="1335" y="29922"/>
                  </a:cubicBezTo>
                  <a:lnTo>
                    <a:pt x="31356" y="29922"/>
                  </a:lnTo>
                  <a:cubicBezTo>
                    <a:pt x="32090" y="29922"/>
                    <a:pt x="32657" y="29355"/>
                    <a:pt x="32657" y="28621"/>
                  </a:cubicBezTo>
                  <a:lnTo>
                    <a:pt x="32657" y="1302"/>
                  </a:lnTo>
                  <a:cubicBezTo>
                    <a:pt x="32657" y="601"/>
                    <a:pt x="32090" y="1"/>
                    <a:pt x="31356" y="1"/>
                  </a:cubicBezTo>
                  <a:close/>
                </a:path>
              </a:pathLst>
            </a:custGeom>
            <a:solidFill>
              <a:srgbClr val="B8BD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22"/>
            <p:cNvSpPr/>
            <p:nvPr/>
          </p:nvSpPr>
          <p:spPr>
            <a:xfrm>
              <a:off x="8134450" y="1359150"/>
              <a:ext cx="729725" cy="561275"/>
            </a:xfrm>
            <a:custGeom>
              <a:avLst/>
              <a:gdLst/>
              <a:ahLst/>
              <a:cxnLst/>
              <a:rect l="l" t="t" r="r" b="b"/>
              <a:pathLst>
                <a:path w="29189" h="22451" extrusionOk="0">
                  <a:moveTo>
                    <a:pt x="28188" y="22450"/>
                  </a:moveTo>
                  <a:lnTo>
                    <a:pt x="1001" y="22450"/>
                  </a:lnTo>
                  <a:cubicBezTo>
                    <a:pt x="434" y="22450"/>
                    <a:pt x="1" y="22017"/>
                    <a:pt x="1" y="21450"/>
                  </a:cubicBezTo>
                  <a:lnTo>
                    <a:pt x="1" y="1002"/>
                  </a:lnTo>
                  <a:cubicBezTo>
                    <a:pt x="1" y="468"/>
                    <a:pt x="434" y="1"/>
                    <a:pt x="1001" y="1"/>
                  </a:cubicBezTo>
                  <a:lnTo>
                    <a:pt x="28188" y="1"/>
                  </a:lnTo>
                  <a:cubicBezTo>
                    <a:pt x="28755" y="1"/>
                    <a:pt x="29188" y="468"/>
                    <a:pt x="29188" y="1002"/>
                  </a:cubicBezTo>
                  <a:lnTo>
                    <a:pt x="29188" y="21450"/>
                  </a:lnTo>
                  <a:cubicBezTo>
                    <a:pt x="29188" y="22017"/>
                    <a:pt x="28755" y="22450"/>
                    <a:pt x="28188" y="22450"/>
                  </a:cubicBezTo>
                  <a:close/>
                </a:path>
              </a:pathLst>
            </a:custGeom>
            <a:solidFill>
              <a:srgbClr val="240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22"/>
            <p:cNvSpPr/>
            <p:nvPr/>
          </p:nvSpPr>
          <p:spPr>
            <a:xfrm>
              <a:off x="8169475" y="1485925"/>
              <a:ext cx="518725" cy="12525"/>
            </a:xfrm>
            <a:custGeom>
              <a:avLst/>
              <a:gdLst/>
              <a:ahLst/>
              <a:cxnLst/>
              <a:rect l="l" t="t" r="r" b="b"/>
              <a:pathLst>
                <a:path w="20749" h="501" extrusionOk="0">
                  <a:moveTo>
                    <a:pt x="234" y="0"/>
                  </a:moveTo>
                  <a:cubicBezTo>
                    <a:pt x="101" y="0"/>
                    <a:pt x="1" y="134"/>
                    <a:pt x="1" y="267"/>
                  </a:cubicBezTo>
                  <a:cubicBezTo>
                    <a:pt x="1" y="401"/>
                    <a:pt x="101" y="501"/>
                    <a:pt x="234" y="501"/>
                  </a:cubicBezTo>
                  <a:lnTo>
                    <a:pt x="20482" y="501"/>
                  </a:lnTo>
                  <a:cubicBezTo>
                    <a:pt x="20615" y="501"/>
                    <a:pt x="20749" y="401"/>
                    <a:pt x="20716" y="267"/>
                  </a:cubicBezTo>
                  <a:cubicBezTo>
                    <a:pt x="20716" y="134"/>
                    <a:pt x="20615" y="0"/>
                    <a:pt x="20482" y="0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22"/>
            <p:cNvSpPr/>
            <p:nvPr/>
          </p:nvSpPr>
          <p:spPr>
            <a:xfrm>
              <a:off x="8719875" y="1485925"/>
              <a:ext cx="50050" cy="12525"/>
            </a:xfrm>
            <a:custGeom>
              <a:avLst/>
              <a:gdLst/>
              <a:ahLst/>
              <a:cxnLst/>
              <a:rect l="l" t="t" r="r" b="b"/>
              <a:pathLst>
                <a:path w="2002" h="501" extrusionOk="0">
                  <a:moveTo>
                    <a:pt x="234" y="0"/>
                  </a:moveTo>
                  <a:cubicBezTo>
                    <a:pt x="101" y="0"/>
                    <a:pt x="0" y="134"/>
                    <a:pt x="0" y="267"/>
                  </a:cubicBezTo>
                  <a:cubicBezTo>
                    <a:pt x="0" y="401"/>
                    <a:pt x="101" y="501"/>
                    <a:pt x="234" y="501"/>
                  </a:cubicBezTo>
                  <a:lnTo>
                    <a:pt x="1735" y="501"/>
                  </a:lnTo>
                  <a:cubicBezTo>
                    <a:pt x="1868" y="501"/>
                    <a:pt x="2002" y="401"/>
                    <a:pt x="2002" y="267"/>
                  </a:cubicBezTo>
                  <a:cubicBezTo>
                    <a:pt x="2002" y="134"/>
                    <a:pt x="1868" y="0"/>
                    <a:pt x="1735" y="0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22"/>
            <p:cNvSpPr/>
            <p:nvPr/>
          </p:nvSpPr>
          <p:spPr>
            <a:xfrm>
              <a:off x="8169475" y="1543450"/>
              <a:ext cx="296900" cy="12550"/>
            </a:xfrm>
            <a:custGeom>
              <a:avLst/>
              <a:gdLst/>
              <a:ahLst/>
              <a:cxnLst/>
              <a:rect l="l" t="t" r="r" b="b"/>
              <a:pathLst>
                <a:path w="11876" h="502" extrusionOk="0">
                  <a:moveTo>
                    <a:pt x="234" y="1"/>
                  </a:moveTo>
                  <a:cubicBezTo>
                    <a:pt x="101" y="1"/>
                    <a:pt x="1" y="134"/>
                    <a:pt x="1" y="268"/>
                  </a:cubicBezTo>
                  <a:cubicBezTo>
                    <a:pt x="1" y="401"/>
                    <a:pt x="101" y="501"/>
                    <a:pt x="234" y="501"/>
                  </a:cubicBezTo>
                  <a:lnTo>
                    <a:pt x="11609" y="501"/>
                  </a:lnTo>
                  <a:cubicBezTo>
                    <a:pt x="11742" y="501"/>
                    <a:pt x="11876" y="401"/>
                    <a:pt x="11876" y="268"/>
                  </a:cubicBezTo>
                  <a:cubicBezTo>
                    <a:pt x="11876" y="134"/>
                    <a:pt x="11742" y="1"/>
                    <a:pt x="11609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22"/>
            <p:cNvSpPr/>
            <p:nvPr/>
          </p:nvSpPr>
          <p:spPr>
            <a:xfrm>
              <a:off x="8470525" y="1543450"/>
              <a:ext cx="94275" cy="12550"/>
            </a:xfrm>
            <a:custGeom>
              <a:avLst/>
              <a:gdLst/>
              <a:ahLst/>
              <a:cxnLst/>
              <a:rect l="l" t="t" r="r" b="b"/>
              <a:pathLst>
                <a:path w="3771" h="502" extrusionOk="0">
                  <a:moveTo>
                    <a:pt x="268" y="1"/>
                  </a:moveTo>
                  <a:cubicBezTo>
                    <a:pt x="134" y="1"/>
                    <a:pt x="1" y="134"/>
                    <a:pt x="1" y="268"/>
                  </a:cubicBezTo>
                  <a:cubicBezTo>
                    <a:pt x="1" y="401"/>
                    <a:pt x="134" y="501"/>
                    <a:pt x="268" y="501"/>
                  </a:cubicBezTo>
                  <a:lnTo>
                    <a:pt x="3537" y="501"/>
                  </a:lnTo>
                  <a:cubicBezTo>
                    <a:pt x="3670" y="501"/>
                    <a:pt x="3770" y="401"/>
                    <a:pt x="3770" y="268"/>
                  </a:cubicBezTo>
                  <a:cubicBezTo>
                    <a:pt x="3770" y="134"/>
                    <a:pt x="3670" y="1"/>
                    <a:pt x="3537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22"/>
            <p:cNvSpPr/>
            <p:nvPr/>
          </p:nvSpPr>
          <p:spPr>
            <a:xfrm>
              <a:off x="8502225" y="1576825"/>
              <a:ext cx="62575" cy="11700"/>
            </a:xfrm>
            <a:custGeom>
              <a:avLst/>
              <a:gdLst/>
              <a:ahLst/>
              <a:cxnLst/>
              <a:rect l="l" t="t" r="r" b="b"/>
              <a:pathLst>
                <a:path w="2503" h="468" extrusionOk="0">
                  <a:moveTo>
                    <a:pt x="234" y="0"/>
                  </a:moveTo>
                  <a:cubicBezTo>
                    <a:pt x="100" y="0"/>
                    <a:pt x="0" y="100"/>
                    <a:pt x="0" y="234"/>
                  </a:cubicBezTo>
                  <a:cubicBezTo>
                    <a:pt x="0" y="367"/>
                    <a:pt x="100" y="467"/>
                    <a:pt x="234" y="467"/>
                  </a:cubicBezTo>
                  <a:lnTo>
                    <a:pt x="2269" y="467"/>
                  </a:lnTo>
                  <a:cubicBezTo>
                    <a:pt x="2402" y="467"/>
                    <a:pt x="2502" y="367"/>
                    <a:pt x="2502" y="234"/>
                  </a:cubicBezTo>
                  <a:cubicBezTo>
                    <a:pt x="2502" y="100"/>
                    <a:pt x="2402" y="0"/>
                    <a:pt x="2269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22"/>
            <p:cNvSpPr/>
            <p:nvPr/>
          </p:nvSpPr>
          <p:spPr>
            <a:xfrm>
              <a:off x="8471375" y="1576825"/>
              <a:ext cx="18350" cy="11700"/>
            </a:xfrm>
            <a:custGeom>
              <a:avLst/>
              <a:gdLst/>
              <a:ahLst/>
              <a:cxnLst/>
              <a:rect l="l" t="t" r="r" b="b"/>
              <a:pathLst>
                <a:path w="734" h="468" extrusionOk="0">
                  <a:moveTo>
                    <a:pt x="234" y="0"/>
                  </a:moveTo>
                  <a:cubicBezTo>
                    <a:pt x="100" y="0"/>
                    <a:pt x="0" y="100"/>
                    <a:pt x="0" y="234"/>
                  </a:cubicBezTo>
                  <a:cubicBezTo>
                    <a:pt x="0" y="367"/>
                    <a:pt x="100" y="467"/>
                    <a:pt x="234" y="467"/>
                  </a:cubicBezTo>
                  <a:lnTo>
                    <a:pt x="467" y="467"/>
                  </a:lnTo>
                  <a:cubicBezTo>
                    <a:pt x="600" y="467"/>
                    <a:pt x="734" y="367"/>
                    <a:pt x="734" y="234"/>
                  </a:cubicBezTo>
                  <a:cubicBezTo>
                    <a:pt x="734" y="100"/>
                    <a:pt x="600" y="0"/>
                    <a:pt x="467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22"/>
            <p:cNvSpPr/>
            <p:nvPr/>
          </p:nvSpPr>
          <p:spPr>
            <a:xfrm>
              <a:off x="8397150" y="1576825"/>
              <a:ext cx="56725" cy="11700"/>
            </a:xfrm>
            <a:custGeom>
              <a:avLst/>
              <a:gdLst/>
              <a:ahLst/>
              <a:cxnLst/>
              <a:rect l="l" t="t" r="r" b="b"/>
              <a:pathLst>
                <a:path w="2269" h="468" extrusionOk="0">
                  <a:moveTo>
                    <a:pt x="234" y="0"/>
                  </a:moveTo>
                  <a:cubicBezTo>
                    <a:pt x="100" y="0"/>
                    <a:pt x="0" y="100"/>
                    <a:pt x="0" y="234"/>
                  </a:cubicBezTo>
                  <a:cubicBezTo>
                    <a:pt x="0" y="367"/>
                    <a:pt x="100" y="467"/>
                    <a:pt x="234" y="467"/>
                  </a:cubicBezTo>
                  <a:lnTo>
                    <a:pt x="2035" y="467"/>
                  </a:lnTo>
                  <a:cubicBezTo>
                    <a:pt x="2168" y="467"/>
                    <a:pt x="2269" y="367"/>
                    <a:pt x="2269" y="234"/>
                  </a:cubicBezTo>
                  <a:cubicBezTo>
                    <a:pt x="2269" y="100"/>
                    <a:pt x="2168" y="0"/>
                    <a:pt x="2035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22"/>
            <p:cNvSpPr/>
            <p:nvPr/>
          </p:nvSpPr>
          <p:spPr>
            <a:xfrm>
              <a:off x="8317075" y="1576825"/>
              <a:ext cx="56750" cy="11700"/>
            </a:xfrm>
            <a:custGeom>
              <a:avLst/>
              <a:gdLst/>
              <a:ahLst/>
              <a:cxnLst/>
              <a:rect l="l" t="t" r="r" b="b"/>
              <a:pathLst>
                <a:path w="2270" h="468" extrusionOk="0">
                  <a:moveTo>
                    <a:pt x="234" y="0"/>
                  </a:moveTo>
                  <a:cubicBezTo>
                    <a:pt x="101" y="0"/>
                    <a:pt x="1" y="100"/>
                    <a:pt x="1" y="234"/>
                  </a:cubicBezTo>
                  <a:cubicBezTo>
                    <a:pt x="1" y="367"/>
                    <a:pt x="101" y="467"/>
                    <a:pt x="234" y="467"/>
                  </a:cubicBezTo>
                  <a:lnTo>
                    <a:pt x="2036" y="467"/>
                  </a:lnTo>
                  <a:cubicBezTo>
                    <a:pt x="2169" y="467"/>
                    <a:pt x="2269" y="367"/>
                    <a:pt x="2269" y="234"/>
                  </a:cubicBezTo>
                  <a:cubicBezTo>
                    <a:pt x="2269" y="100"/>
                    <a:pt x="2169" y="0"/>
                    <a:pt x="2036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22"/>
            <p:cNvSpPr/>
            <p:nvPr/>
          </p:nvSpPr>
          <p:spPr>
            <a:xfrm>
              <a:off x="8237025" y="1576825"/>
              <a:ext cx="56725" cy="11700"/>
            </a:xfrm>
            <a:custGeom>
              <a:avLst/>
              <a:gdLst/>
              <a:ahLst/>
              <a:cxnLst/>
              <a:rect l="l" t="t" r="r" b="b"/>
              <a:pathLst>
                <a:path w="2269" h="468" extrusionOk="0">
                  <a:moveTo>
                    <a:pt x="234" y="0"/>
                  </a:moveTo>
                  <a:cubicBezTo>
                    <a:pt x="101" y="0"/>
                    <a:pt x="1" y="100"/>
                    <a:pt x="1" y="234"/>
                  </a:cubicBezTo>
                  <a:cubicBezTo>
                    <a:pt x="1" y="367"/>
                    <a:pt x="101" y="467"/>
                    <a:pt x="234" y="467"/>
                  </a:cubicBezTo>
                  <a:lnTo>
                    <a:pt x="2035" y="467"/>
                  </a:lnTo>
                  <a:cubicBezTo>
                    <a:pt x="2169" y="467"/>
                    <a:pt x="2269" y="367"/>
                    <a:pt x="2269" y="234"/>
                  </a:cubicBezTo>
                  <a:cubicBezTo>
                    <a:pt x="2269" y="100"/>
                    <a:pt x="2169" y="0"/>
                    <a:pt x="2035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22"/>
            <p:cNvSpPr/>
            <p:nvPr/>
          </p:nvSpPr>
          <p:spPr>
            <a:xfrm>
              <a:off x="8237025" y="1616850"/>
              <a:ext cx="481200" cy="11700"/>
            </a:xfrm>
            <a:custGeom>
              <a:avLst/>
              <a:gdLst/>
              <a:ahLst/>
              <a:cxnLst/>
              <a:rect l="l" t="t" r="r" b="b"/>
              <a:pathLst>
                <a:path w="19248" h="468" extrusionOk="0">
                  <a:moveTo>
                    <a:pt x="234" y="0"/>
                  </a:moveTo>
                  <a:cubicBezTo>
                    <a:pt x="101" y="0"/>
                    <a:pt x="1" y="100"/>
                    <a:pt x="1" y="234"/>
                  </a:cubicBezTo>
                  <a:cubicBezTo>
                    <a:pt x="1" y="367"/>
                    <a:pt x="101" y="467"/>
                    <a:pt x="234" y="467"/>
                  </a:cubicBezTo>
                  <a:lnTo>
                    <a:pt x="19014" y="467"/>
                  </a:lnTo>
                  <a:cubicBezTo>
                    <a:pt x="19148" y="467"/>
                    <a:pt x="19248" y="367"/>
                    <a:pt x="19248" y="234"/>
                  </a:cubicBezTo>
                  <a:cubicBezTo>
                    <a:pt x="19248" y="100"/>
                    <a:pt x="19148" y="0"/>
                    <a:pt x="1901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22"/>
            <p:cNvSpPr/>
            <p:nvPr/>
          </p:nvSpPr>
          <p:spPr>
            <a:xfrm>
              <a:off x="8169475" y="1576825"/>
              <a:ext cx="28375" cy="11700"/>
            </a:xfrm>
            <a:custGeom>
              <a:avLst/>
              <a:gdLst/>
              <a:ahLst/>
              <a:cxnLst/>
              <a:rect l="l" t="t" r="r" b="b"/>
              <a:pathLst>
                <a:path w="1135" h="468" extrusionOk="0">
                  <a:moveTo>
                    <a:pt x="234" y="0"/>
                  </a:moveTo>
                  <a:cubicBezTo>
                    <a:pt x="101" y="0"/>
                    <a:pt x="1" y="100"/>
                    <a:pt x="1" y="234"/>
                  </a:cubicBezTo>
                  <a:cubicBezTo>
                    <a:pt x="1" y="367"/>
                    <a:pt x="101" y="467"/>
                    <a:pt x="234" y="467"/>
                  </a:cubicBezTo>
                  <a:lnTo>
                    <a:pt x="868" y="467"/>
                  </a:lnTo>
                  <a:cubicBezTo>
                    <a:pt x="1035" y="467"/>
                    <a:pt x="1135" y="367"/>
                    <a:pt x="1135" y="234"/>
                  </a:cubicBezTo>
                  <a:cubicBezTo>
                    <a:pt x="1135" y="100"/>
                    <a:pt x="1035" y="0"/>
                    <a:pt x="868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22"/>
            <p:cNvSpPr/>
            <p:nvPr/>
          </p:nvSpPr>
          <p:spPr>
            <a:xfrm>
              <a:off x="8169475" y="1616850"/>
              <a:ext cx="28375" cy="11700"/>
            </a:xfrm>
            <a:custGeom>
              <a:avLst/>
              <a:gdLst/>
              <a:ahLst/>
              <a:cxnLst/>
              <a:rect l="l" t="t" r="r" b="b"/>
              <a:pathLst>
                <a:path w="1135" h="468" extrusionOk="0">
                  <a:moveTo>
                    <a:pt x="234" y="0"/>
                  </a:moveTo>
                  <a:cubicBezTo>
                    <a:pt x="101" y="0"/>
                    <a:pt x="1" y="100"/>
                    <a:pt x="1" y="234"/>
                  </a:cubicBezTo>
                  <a:cubicBezTo>
                    <a:pt x="1" y="367"/>
                    <a:pt x="101" y="467"/>
                    <a:pt x="234" y="467"/>
                  </a:cubicBezTo>
                  <a:lnTo>
                    <a:pt x="868" y="467"/>
                  </a:lnTo>
                  <a:cubicBezTo>
                    <a:pt x="1035" y="467"/>
                    <a:pt x="1135" y="367"/>
                    <a:pt x="1135" y="234"/>
                  </a:cubicBezTo>
                  <a:cubicBezTo>
                    <a:pt x="1135" y="100"/>
                    <a:pt x="1035" y="0"/>
                    <a:pt x="868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22"/>
            <p:cNvSpPr/>
            <p:nvPr/>
          </p:nvSpPr>
          <p:spPr>
            <a:xfrm>
              <a:off x="8169475" y="1656875"/>
              <a:ext cx="28375" cy="11700"/>
            </a:xfrm>
            <a:custGeom>
              <a:avLst/>
              <a:gdLst/>
              <a:ahLst/>
              <a:cxnLst/>
              <a:rect l="l" t="t" r="r" b="b"/>
              <a:pathLst>
                <a:path w="1135" h="468" extrusionOk="0">
                  <a:moveTo>
                    <a:pt x="234" y="0"/>
                  </a:moveTo>
                  <a:cubicBezTo>
                    <a:pt x="101" y="0"/>
                    <a:pt x="1" y="101"/>
                    <a:pt x="1" y="234"/>
                  </a:cubicBezTo>
                  <a:cubicBezTo>
                    <a:pt x="1" y="367"/>
                    <a:pt x="101" y="467"/>
                    <a:pt x="234" y="467"/>
                  </a:cubicBezTo>
                  <a:lnTo>
                    <a:pt x="868" y="467"/>
                  </a:lnTo>
                  <a:cubicBezTo>
                    <a:pt x="1035" y="467"/>
                    <a:pt x="1135" y="367"/>
                    <a:pt x="1135" y="234"/>
                  </a:cubicBezTo>
                  <a:cubicBezTo>
                    <a:pt x="1135" y="101"/>
                    <a:pt x="1035" y="0"/>
                    <a:pt x="868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22"/>
            <p:cNvSpPr/>
            <p:nvPr/>
          </p:nvSpPr>
          <p:spPr>
            <a:xfrm>
              <a:off x="8747400" y="1616850"/>
              <a:ext cx="70900" cy="11700"/>
            </a:xfrm>
            <a:custGeom>
              <a:avLst/>
              <a:gdLst/>
              <a:ahLst/>
              <a:cxnLst/>
              <a:rect l="l" t="t" r="r" b="b"/>
              <a:pathLst>
                <a:path w="2836" h="468" extrusionOk="0">
                  <a:moveTo>
                    <a:pt x="267" y="0"/>
                  </a:moveTo>
                  <a:cubicBezTo>
                    <a:pt x="134" y="0"/>
                    <a:pt x="0" y="100"/>
                    <a:pt x="0" y="234"/>
                  </a:cubicBezTo>
                  <a:cubicBezTo>
                    <a:pt x="0" y="367"/>
                    <a:pt x="134" y="467"/>
                    <a:pt x="267" y="467"/>
                  </a:cubicBezTo>
                  <a:lnTo>
                    <a:pt x="2602" y="467"/>
                  </a:lnTo>
                  <a:cubicBezTo>
                    <a:pt x="2736" y="467"/>
                    <a:pt x="2836" y="367"/>
                    <a:pt x="2836" y="234"/>
                  </a:cubicBezTo>
                  <a:cubicBezTo>
                    <a:pt x="2836" y="100"/>
                    <a:pt x="2736" y="0"/>
                    <a:pt x="260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22"/>
            <p:cNvSpPr/>
            <p:nvPr/>
          </p:nvSpPr>
          <p:spPr>
            <a:xfrm>
              <a:off x="8235350" y="1656875"/>
              <a:ext cx="203525" cy="11700"/>
            </a:xfrm>
            <a:custGeom>
              <a:avLst/>
              <a:gdLst/>
              <a:ahLst/>
              <a:cxnLst/>
              <a:rect l="l" t="t" r="r" b="b"/>
              <a:pathLst>
                <a:path w="8141" h="468" extrusionOk="0">
                  <a:moveTo>
                    <a:pt x="234" y="0"/>
                  </a:moveTo>
                  <a:cubicBezTo>
                    <a:pt x="101" y="0"/>
                    <a:pt x="1" y="101"/>
                    <a:pt x="1" y="234"/>
                  </a:cubicBezTo>
                  <a:cubicBezTo>
                    <a:pt x="1" y="367"/>
                    <a:pt x="101" y="467"/>
                    <a:pt x="234" y="467"/>
                  </a:cubicBezTo>
                  <a:lnTo>
                    <a:pt x="7873" y="467"/>
                  </a:lnTo>
                  <a:cubicBezTo>
                    <a:pt x="8007" y="467"/>
                    <a:pt x="8140" y="367"/>
                    <a:pt x="8140" y="234"/>
                  </a:cubicBezTo>
                  <a:cubicBezTo>
                    <a:pt x="8140" y="101"/>
                    <a:pt x="8007" y="0"/>
                    <a:pt x="787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22"/>
            <p:cNvSpPr/>
            <p:nvPr/>
          </p:nvSpPr>
          <p:spPr>
            <a:xfrm>
              <a:off x="8502225" y="1708575"/>
              <a:ext cx="229350" cy="12525"/>
            </a:xfrm>
            <a:custGeom>
              <a:avLst/>
              <a:gdLst/>
              <a:ahLst/>
              <a:cxnLst/>
              <a:rect l="l" t="t" r="r" b="b"/>
              <a:pathLst>
                <a:path w="9174" h="501" extrusionOk="0">
                  <a:moveTo>
                    <a:pt x="234" y="1"/>
                  </a:moveTo>
                  <a:cubicBezTo>
                    <a:pt x="100" y="1"/>
                    <a:pt x="0" y="134"/>
                    <a:pt x="0" y="267"/>
                  </a:cubicBezTo>
                  <a:cubicBezTo>
                    <a:pt x="0" y="401"/>
                    <a:pt x="100" y="501"/>
                    <a:pt x="234" y="501"/>
                  </a:cubicBezTo>
                  <a:lnTo>
                    <a:pt x="8940" y="501"/>
                  </a:lnTo>
                  <a:cubicBezTo>
                    <a:pt x="9073" y="501"/>
                    <a:pt x="9173" y="401"/>
                    <a:pt x="9173" y="267"/>
                  </a:cubicBezTo>
                  <a:cubicBezTo>
                    <a:pt x="9173" y="134"/>
                    <a:pt x="9073" y="1"/>
                    <a:pt x="894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22"/>
            <p:cNvSpPr/>
            <p:nvPr/>
          </p:nvSpPr>
          <p:spPr>
            <a:xfrm>
              <a:off x="8656500" y="1681050"/>
              <a:ext cx="75075" cy="12550"/>
            </a:xfrm>
            <a:custGeom>
              <a:avLst/>
              <a:gdLst/>
              <a:ahLst/>
              <a:cxnLst/>
              <a:rect l="l" t="t" r="r" b="b"/>
              <a:pathLst>
                <a:path w="3003" h="502" extrusionOk="0">
                  <a:moveTo>
                    <a:pt x="267" y="1"/>
                  </a:moveTo>
                  <a:cubicBezTo>
                    <a:pt x="134" y="1"/>
                    <a:pt x="0" y="101"/>
                    <a:pt x="0" y="268"/>
                  </a:cubicBezTo>
                  <a:cubicBezTo>
                    <a:pt x="0" y="401"/>
                    <a:pt x="134" y="501"/>
                    <a:pt x="267" y="501"/>
                  </a:cubicBezTo>
                  <a:lnTo>
                    <a:pt x="2769" y="501"/>
                  </a:lnTo>
                  <a:cubicBezTo>
                    <a:pt x="2902" y="501"/>
                    <a:pt x="3002" y="401"/>
                    <a:pt x="3002" y="268"/>
                  </a:cubicBezTo>
                  <a:cubicBezTo>
                    <a:pt x="3002" y="101"/>
                    <a:pt x="2902" y="1"/>
                    <a:pt x="276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22"/>
            <p:cNvSpPr/>
            <p:nvPr/>
          </p:nvSpPr>
          <p:spPr>
            <a:xfrm>
              <a:off x="8169475" y="1430875"/>
              <a:ext cx="240200" cy="12550"/>
            </a:xfrm>
            <a:custGeom>
              <a:avLst/>
              <a:gdLst/>
              <a:ahLst/>
              <a:cxnLst/>
              <a:rect l="l" t="t" r="r" b="b"/>
              <a:pathLst>
                <a:path w="9608" h="502" extrusionOk="0">
                  <a:moveTo>
                    <a:pt x="234" y="1"/>
                  </a:moveTo>
                  <a:cubicBezTo>
                    <a:pt x="101" y="1"/>
                    <a:pt x="1" y="101"/>
                    <a:pt x="1" y="234"/>
                  </a:cubicBezTo>
                  <a:cubicBezTo>
                    <a:pt x="1" y="368"/>
                    <a:pt x="101" y="501"/>
                    <a:pt x="234" y="501"/>
                  </a:cubicBezTo>
                  <a:lnTo>
                    <a:pt x="9341" y="501"/>
                  </a:lnTo>
                  <a:cubicBezTo>
                    <a:pt x="9474" y="501"/>
                    <a:pt x="9608" y="368"/>
                    <a:pt x="9608" y="234"/>
                  </a:cubicBezTo>
                  <a:cubicBezTo>
                    <a:pt x="9608" y="101"/>
                    <a:pt x="9474" y="1"/>
                    <a:pt x="934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22"/>
            <p:cNvSpPr/>
            <p:nvPr/>
          </p:nvSpPr>
          <p:spPr>
            <a:xfrm>
              <a:off x="8169475" y="1821150"/>
              <a:ext cx="387800" cy="11700"/>
            </a:xfrm>
            <a:custGeom>
              <a:avLst/>
              <a:gdLst/>
              <a:ahLst/>
              <a:cxnLst/>
              <a:rect l="l" t="t" r="r" b="b"/>
              <a:pathLst>
                <a:path w="15512" h="468" extrusionOk="0">
                  <a:moveTo>
                    <a:pt x="234" y="1"/>
                  </a:moveTo>
                  <a:cubicBezTo>
                    <a:pt x="101" y="1"/>
                    <a:pt x="1" y="101"/>
                    <a:pt x="1" y="234"/>
                  </a:cubicBezTo>
                  <a:cubicBezTo>
                    <a:pt x="1" y="368"/>
                    <a:pt x="101" y="468"/>
                    <a:pt x="234" y="468"/>
                  </a:cubicBezTo>
                  <a:lnTo>
                    <a:pt x="15278" y="468"/>
                  </a:lnTo>
                  <a:cubicBezTo>
                    <a:pt x="15412" y="468"/>
                    <a:pt x="15512" y="368"/>
                    <a:pt x="15512" y="234"/>
                  </a:cubicBezTo>
                  <a:cubicBezTo>
                    <a:pt x="15512" y="101"/>
                    <a:pt x="15412" y="1"/>
                    <a:pt x="1527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22"/>
            <p:cNvSpPr/>
            <p:nvPr/>
          </p:nvSpPr>
          <p:spPr>
            <a:xfrm>
              <a:off x="8522225" y="1749450"/>
              <a:ext cx="115125" cy="11700"/>
            </a:xfrm>
            <a:custGeom>
              <a:avLst/>
              <a:gdLst/>
              <a:ahLst/>
              <a:cxnLst/>
              <a:rect l="l" t="t" r="r" b="b"/>
              <a:pathLst>
                <a:path w="4605" h="468" extrusionOk="0">
                  <a:moveTo>
                    <a:pt x="268" y="0"/>
                  </a:moveTo>
                  <a:cubicBezTo>
                    <a:pt x="134" y="0"/>
                    <a:pt x="1" y="100"/>
                    <a:pt x="1" y="234"/>
                  </a:cubicBezTo>
                  <a:cubicBezTo>
                    <a:pt x="1" y="367"/>
                    <a:pt x="134" y="467"/>
                    <a:pt x="268" y="467"/>
                  </a:cubicBezTo>
                  <a:lnTo>
                    <a:pt x="4371" y="467"/>
                  </a:lnTo>
                  <a:cubicBezTo>
                    <a:pt x="4504" y="467"/>
                    <a:pt x="4604" y="367"/>
                    <a:pt x="4604" y="234"/>
                  </a:cubicBezTo>
                  <a:cubicBezTo>
                    <a:pt x="4604" y="100"/>
                    <a:pt x="4504" y="0"/>
                    <a:pt x="4371" y="0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22"/>
            <p:cNvSpPr/>
            <p:nvPr/>
          </p:nvSpPr>
          <p:spPr>
            <a:xfrm>
              <a:off x="8675675" y="1749450"/>
              <a:ext cx="153475" cy="11700"/>
            </a:xfrm>
            <a:custGeom>
              <a:avLst/>
              <a:gdLst/>
              <a:ahLst/>
              <a:cxnLst/>
              <a:rect l="l" t="t" r="r" b="b"/>
              <a:pathLst>
                <a:path w="6139" h="468" extrusionOk="0">
                  <a:moveTo>
                    <a:pt x="234" y="0"/>
                  </a:moveTo>
                  <a:cubicBezTo>
                    <a:pt x="101" y="0"/>
                    <a:pt x="1" y="100"/>
                    <a:pt x="1" y="234"/>
                  </a:cubicBezTo>
                  <a:cubicBezTo>
                    <a:pt x="1" y="367"/>
                    <a:pt x="101" y="467"/>
                    <a:pt x="234" y="467"/>
                  </a:cubicBezTo>
                  <a:lnTo>
                    <a:pt x="5905" y="467"/>
                  </a:lnTo>
                  <a:cubicBezTo>
                    <a:pt x="6038" y="467"/>
                    <a:pt x="6138" y="367"/>
                    <a:pt x="6138" y="234"/>
                  </a:cubicBezTo>
                  <a:cubicBezTo>
                    <a:pt x="6138" y="100"/>
                    <a:pt x="6038" y="0"/>
                    <a:pt x="5905" y="0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22"/>
            <p:cNvSpPr/>
            <p:nvPr/>
          </p:nvSpPr>
          <p:spPr>
            <a:xfrm>
              <a:off x="8675675" y="1806150"/>
              <a:ext cx="153475" cy="12525"/>
            </a:xfrm>
            <a:custGeom>
              <a:avLst/>
              <a:gdLst/>
              <a:ahLst/>
              <a:cxnLst/>
              <a:rect l="l" t="t" r="r" b="b"/>
              <a:pathLst>
                <a:path w="6139" h="501" extrusionOk="0">
                  <a:moveTo>
                    <a:pt x="234" y="0"/>
                  </a:moveTo>
                  <a:cubicBezTo>
                    <a:pt x="101" y="0"/>
                    <a:pt x="1" y="134"/>
                    <a:pt x="1" y="267"/>
                  </a:cubicBezTo>
                  <a:cubicBezTo>
                    <a:pt x="1" y="401"/>
                    <a:pt x="101" y="501"/>
                    <a:pt x="234" y="501"/>
                  </a:cubicBezTo>
                  <a:lnTo>
                    <a:pt x="5905" y="501"/>
                  </a:lnTo>
                  <a:cubicBezTo>
                    <a:pt x="6038" y="501"/>
                    <a:pt x="6138" y="401"/>
                    <a:pt x="6138" y="267"/>
                  </a:cubicBezTo>
                  <a:cubicBezTo>
                    <a:pt x="6138" y="134"/>
                    <a:pt x="6038" y="0"/>
                    <a:pt x="5905" y="0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22"/>
            <p:cNvSpPr/>
            <p:nvPr/>
          </p:nvSpPr>
          <p:spPr>
            <a:xfrm>
              <a:off x="8169475" y="1860350"/>
              <a:ext cx="58400" cy="12525"/>
            </a:xfrm>
            <a:custGeom>
              <a:avLst/>
              <a:gdLst/>
              <a:ahLst/>
              <a:cxnLst/>
              <a:rect l="l" t="t" r="r" b="b"/>
              <a:pathLst>
                <a:path w="2336" h="501" extrusionOk="0">
                  <a:moveTo>
                    <a:pt x="234" y="1"/>
                  </a:moveTo>
                  <a:cubicBezTo>
                    <a:pt x="101" y="1"/>
                    <a:pt x="1" y="101"/>
                    <a:pt x="1" y="267"/>
                  </a:cubicBezTo>
                  <a:cubicBezTo>
                    <a:pt x="1" y="401"/>
                    <a:pt x="101" y="501"/>
                    <a:pt x="234" y="501"/>
                  </a:cubicBezTo>
                  <a:lnTo>
                    <a:pt x="2102" y="501"/>
                  </a:lnTo>
                  <a:cubicBezTo>
                    <a:pt x="2236" y="501"/>
                    <a:pt x="2336" y="401"/>
                    <a:pt x="2336" y="267"/>
                  </a:cubicBezTo>
                  <a:cubicBezTo>
                    <a:pt x="2336" y="101"/>
                    <a:pt x="2236" y="1"/>
                    <a:pt x="2102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22"/>
            <p:cNvSpPr/>
            <p:nvPr/>
          </p:nvSpPr>
          <p:spPr>
            <a:xfrm>
              <a:off x="8242875" y="1860350"/>
              <a:ext cx="361100" cy="12525"/>
            </a:xfrm>
            <a:custGeom>
              <a:avLst/>
              <a:gdLst/>
              <a:ahLst/>
              <a:cxnLst/>
              <a:rect l="l" t="t" r="r" b="b"/>
              <a:pathLst>
                <a:path w="14444" h="501" extrusionOk="0">
                  <a:moveTo>
                    <a:pt x="267" y="1"/>
                  </a:moveTo>
                  <a:cubicBezTo>
                    <a:pt x="134" y="1"/>
                    <a:pt x="0" y="101"/>
                    <a:pt x="0" y="267"/>
                  </a:cubicBezTo>
                  <a:cubicBezTo>
                    <a:pt x="0" y="401"/>
                    <a:pt x="134" y="501"/>
                    <a:pt x="267" y="501"/>
                  </a:cubicBezTo>
                  <a:lnTo>
                    <a:pt x="14210" y="501"/>
                  </a:lnTo>
                  <a:cubicBezTo>
                    <a:pt x="14344" y="501"/>
                    <a:pt x="14444" y="401"/>
                    <a:pt x="14444" y="267"/>
                  </a:cubicBezTo>
                  <a:cubicBezTo>
                    <a:pt x="14444" y="101"/>
                    <a:pt x="14344" y="1"/>
                    <a:pt x="14210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8" name="Google Shape;428;p22"/>
          <p:cNvSpPr txBox="1">
            <a:spLocks noGrp="1"/>
          </p:cNvSpPr>
          <p:nvPr>
            <p:ph type="ctrTitle"/>
          </p:nvPr>
        </p:nvSpPr>
        <p:spPr>
          <a:xfrm>
            <a:off x="1887750" y="611725"/>
            <a:ext cx="5368500" cy="101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29" name="Google Shape;429;p22"/>
          <p:cNvSpPr txBox="1">
            <a:spLocks noGrp="1"/>
          </p:cNvSpPr>
          <p:nvPr>
            <p:ph type="subTitle" idx="1"/>
          </p:nvPr>
        </p:nvSpPr>
        <p:spPr>
          <a:xfrm>
            <a:off x="3044675" y="2305050"/>
            <a:ext cx="3054900" cy="10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30" name="Google Shape;430;p22"/>
          <p:cNvSpPr txBox="1"/>
          <p:nvPr/>
        </p:nvSpPr>
        <p:spPr>
          <a:xfrm>
            <a:off x="2228550" y="4151400"/>
            <a:ext cx="4686900" cy="4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CREDITS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This presentation template was created by</a:t>
            </a:r>
            <a:r>
              <a:rPr lang="en" sz="12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200" b="1">
                <a:solidFill>
                  <a:schemeClr val="accent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including icons by </a:t>
            </a:r>
            <a:r>
              <a:rPr lang="en" sz="1200" b="1">
                <a:solidFill>
                  <a:schemeClr val="accent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infographics &amp; images by </a:t>
            </a:r>
            <a:r>
              <a:rPr lang="en" sz="1200" b="1">
                <a:solidFill>
                  <a:schemeClr val="accent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119278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omentum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9845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>
            <a:spLocks noGrp="1"/>
          </p:cNvSpPr>
          <p:nvPr>
            <p:ph type="ctrTitle"/>
          </p:nvPr>
        </p:nvSpPr>
        <p:spPr>
          <a:xfrm>
            <a:off x="824000" y="1301611"/>
            <a:ext cx="4255500" cy="127228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>
                <a:latin typeface="Nunito"/>
              </a:rPr>
              <a:t>ML 24/25-02</a:t>
            </a:r>
            <a:r>
              <a:rPr lang="en-US" sz="4500" b="0">
                <a:latin typeface="Calibri Light"/>
                <a:ea typeface="Calibri Light"/>
                <a:cs typeface="Calibri Light"/>
              </a:rPr>
              <a:t> </a:t>
            </a:r>
            <a:r>
              <a:rPr lang="en-US">
                <a:latin typeface="Nunito"/>
              </a:rPr>
              <a:t>Investigate Input Reconstruction by using Classifiers</a:t>
            </a:r>
            <a:br>
              <a:rPr lang="en-US">
                <a:latin typeface="Nunito"/>
              </a:rPr>
            </a:br>
            <a:br>
              <a:rPr lang="en-US"/>
            </a:br>
            <a:r>
              <a:rPr lang="en-US" sz="2000">
                <a:latin typeface="Nunito"/>
              </a:rPr>
              <a:t>Software Engineering</a:t>
            </a:r>
            <a:br>
              <a:rPr lang="en-US" sz="2000">
                <a:latin typeface="Nunito"/>
              </a:rPr>
            </a:br>
            <a:r>
              <a:rPr lang="en-US" sz="2000">
                <a:latin typeface="Nunito"/>
              </a:rPr>
              <a:t>2024-25</a:t>
            </a:r>
            <a:endParaRPr lang="en-US"/>
          </a:p>
        </p:txBody>
      </p:sp>
      <p:sp>
        <p:nvSpPr>
          <p:cNvPr id="278" name="Google Shape;278;p13"/>
          <p:cNvSpPr txBox="1">
            <a:spLocks noGrp="1"/>
          </p:cNvSpPr>
          <p:nvPr>
            <p:ph type="subTitle" idx="1"/>
          </p:nvPr>
        </p:nvSpPr>
        <p:spPr>
          <a:xfrm>
            <a:off x="824000" y="3663160"/>
            <a:ext cx="4255500" cy="9053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/>
              <a:t>Team Untitled</a:t>
            </a:r>
          </a:p>
          <a:p>
            <a:pPr marL="285750" indent="-285750">
              <a:buFont typeface="Calibri"/>
              <a:buChar char="-"/>
            </a:pPr>
            <a:r>
              <a:rPr lang="en"/>
              <a:t>Priyanshu Bandyopadhyay</a:t>
            </a:r>
          </a:p>
          <a:p>
            <a:pPr marL="285750" indent="-285750">
              <a:buFont typeface="Calibri"/>
              <a:buChar char="-"/>
            </a:pPr>
            <a:r>
              <a:rPr lang="en"/>
              <a:t>Manoj Hanumanthu</a:t>
            </a:r>
          </a:p>
          <a:p>
            <a:pPr marL="285750" indent="-285750">
              <a:buFont typeface="Calibri"/>
              <a:buChar char="-"/>
            </a:pPr>
            <a:r>
              <a:rPr lang="en"/>
              <a:t>Akshay Gudekar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>
          <a:extLst>
            <a:ext uri="{FF2B5EF4-FFF2-40B4-BE49-F238E27FC236}">
              <a16:creationId xmlns:a16="http://schemas.microsoft.com/office/drawing/2014/main" id="{D87DD2A1-C225-4653-095A-866D3D172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>
            <a:extLst>
              <a:ext uri="{FF2B5EF4-FFF2-40B4-BE49-F238E27FC236}">
                <a16:creationId xmlns:a16="http://schemas.microsoft.com/office/drawing/2014/main" id="{C6B890E5-C014-DA7B-4BC3-F81532D46D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62425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>
                <a:latin typeface="Nunito"/>
              </a:rPr>
              <a:t>Contents</a:t>
            </a:r>
            <a:endParaRPr lang="en-US">
              <a:latin typeface="Nunito"/>
            </a:endParaRPr>
          </a:p>
        </p:txBody>
      </p:sp>
      <p:sp>
        <p:nvSpPr>
          <p:cNvPr id="7" name="Google Shape;284;p14">
            <a:extLst>
              <a:ext uri="{FF2B5EF4-FFF2-40B4-BE49-F238E27FC236}">
                <a16:creationId xmlns:a16="http://schemas.microsoft.com/office/drawing/2014/main" id="{FAF7E017-5D0D-0B55-A6B3-6BEA86BF4C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302674" y="1351021"/>
            <a:ext cx="7033155" cy="379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31800" indent="-285750"/>
            <a:r>
              <a:rPr lang="en-GB">
                <a:solidFill>
                  <a:srgbClr val="262626"/>
                </a:solidFill>
                <a:cs typeface="Arial"/>
              </a:rPr>
              <a:t>Introduction</a:t>
            </a:r>
          </a:p>
          <a:p>
            <a:pPr marL="431800" indent="-285750">
              <a:lnSpc>
                <a:spcPct val="114999"/>
              </a:lnSpc>
            </a:pPr>
            <a:r>
              <a:rPr lang="en-GB">
                <a:solidFill>
                  <a:srgbClr val="262626"/>
                </a:solidFill>
                <a:cs typeface="Arial"/>
              </a:rPr>
              <a:t>Scalar Encoder</a:t>
            </a:r>
          </a:p>
          <a:p>
            <a:pPr marL="431800" indent="-285750">
              <a:lnSpc>
                <a:spcPct val="114999"/>
              </a:lnSpc>
            </a:pPr>
            <a:r>
              <a:rPr lang="en-GB">
                <a:solidFill>
                  <a:srgbClr val="262626"/>
                </a:solidFill>
                <a:cs typeface="Arial"/>
              </a:rPr>
              <a:t>Spatial Pooler</a:t>
            </a:r>
          </a:p>
          <a:p>
            <a:pPr marL="431800" indent="-285750">
              <a:lnSpc>
                <a:spcPct val="114999"/>
              </a:lnSpc>
            </a:pPr>
            <a:r>
              <a:rPr lang="en-GB">
                <a:solidFill>
                  <a:srgbClr val="262626"/>
                </a:solidFill>
                <a:cs typeface="Arial"/>
              </a:rPr>
              <a:t>What are classifiers?</a:t>
            </a:r>
          </a:p>
          <a:p>
            <a:pPr marL="431800" indent="-285750">
              <a:lnSpc>
                <a:spcPct val="114999"/>
              </a:lnSpc>
            </a:pPr>
            <a:r>
              <a:rPr lang="en-GB">
                <a:solidFill>
                  <a:srgbClr val="262626"/>
                </a:solidFill>
                <a:cs typeface="Arial"/>
              </a:rPr>
              <a:t>HTM Classifier</a:t>
            </a:r>
          </a:p>
          <a:p>
            <a:pPr marL="431800" indent="-285750">
              <a:lnSpc>
                <a:spcPct val="114999"/>
              </a:lnSpc>
            </a:pPr>
            <a:r>
              <a:rPr lang="en-GB">
                <a:solidFill>
                  <a:srgbClr val="262626"/>
                </a:solidFill>
                <a:cs typeface="Arial"/>
              </a:rPr>
              <a:t>KNN Classifier</a:t>
            </a:r>
          </a:p>
          <a:p>
            <a:pPr marL="431800" indent="-285750">
              <a:lnSpc>
                <a:spcPct val="114999"/>
              </a:lnSpc>
            </a:pPr>
            <a:r>
              <a:rPr lang="en-GB">
                <a:solidFill>
                  <a:srgbClr val="262626"/>
                </a:solidFill>
                <a:cs typeface="Arial"/>
              </a:rPr>
              <a:t>HTM classifier vs KNN classifier</a:t>
            </a:r>
          </a:p>
          <a:p>
            <a:pPr marL="431800" indent="-285750">
              <a:lnSpc>
                <a:spcPct val="114999"/>
              </a:lnSpc>
            </a:pPr>
            <a:r>
              <a:rPr lang="en-GB">
                <a:solidFill>
                  <a:srgbClr val="262626"/>
                </a:solidFill>
                <a:cs typeface="Arial"/>
              </a:rPr>
              <a:t>Experiment Design – Diagram</a:t>
            </a:r>
            <a:endParaRPr lang="en-GB">
              <a:solidFill>
                <a:srgbClr val="424242"/>
              </a:solidFill>
              <a:cs typeface="Arial"/>
            </a:endParaRPr>
          </a:p>
          <a:p>
            <a:pPr marL="431800" indent="-285750">
              <a:lnSpc>
                <a:spcPct val="114999"/>
              </a:lnSpc>
            </a:pPr>
            <a:r>
              <a:rPr lang="en-GB">
                <a:solidFill>
                  <a:srgbClr val="262626"/>
                </a:solidFill>
                <a:cs typeface="Arial"/>
              </a:rPr>
              <a:t>Steps</a:t>
            </a:r>
          </a:p>
          <a:p>
            <a:pPr marL="431800" indent="-285750">
              <a:lnSpc>
                <a:spcPct val="114999"/>
              </a:lnSpc>
            </a:pPr>
            <a:r>
              <a:rPr lang="en-GB">
                <a:solidFill>
                  <a:srgbClr val="262626"/>
                </a:solidFill>
                <a:cs typeface="Arial"/>
              </a:rPr>
              <a:t>Result Analysis</a:t>
            </a:r>
          </a:p>
          <a:p>
            <a:pPr marL="431800" indent="-285750">
              <a:lnSpc>
                <a:spcPct val="114999"/>
              </a:lnSpc>
            </a:pPr>
            <a:r>
              <a:rPr lang="en-GB">
                <a:solidFill>
                  <a:srgbClr val="262626"/>
                </a:solidFill>
                <a:cs typeface="Arial"/>
              </a:rPr>
              <a:t>Discussion of results</a:t>
            </a:r>
            <a:endParaRPr lang="en-GB">
              <a:cs typeface="Arial"/>
            </a:endParaRPr>
          </a:p>
          <a:p>
            <a:pPr marL="431800" indent="-285750">
              <a:lnSpc>
                <a:spcPct val="114999"/>
              </a:lnSpc>
            </a:pPr>
            <a:r>
              <a:rPr lang="en-GB">
                <a:solidFill>
                  <a:srgbClr val="262626"/>
                </a:solidFill>
                <a:cs typeface="Arial"/>
              </a:rPr>
              <a:t>Conclusion</a:t>
            </a:r>
          </a:p>
          <a:p>
            <a:pPr marL="0" indent="0">
              <a:lnSpc>
                <a:spcPct val="114999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lang="en-GB">
              <a:solidFill>
                <a:srgbClr val="424242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51125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>
          <a:extLst>
            <a:ext uri="{FF2B5EF4-FFF2-40B4-BE49-F238E27FC236}">
              <a16:creationId xmlns:a16="http://schemas.microsoft.com/office/drawing/2014/main" id="{12DAAFAD-11F5-DCC7-D16D-5C755716E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>
            <a:extLst>
              <a:ext uri="{FF2B5EF4-FFF2-40B4-BE49-F238E27FC236}">
                <a16:creationId xmlns:a16="http://schemas.microsoft.com/office/drawing/2014/main" id="{51380079-EAF8-B3FA-12EE-0F1436363F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62425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>
                <a:latin typeface="Nunito"/>
              </a:rPr>
              <a:t>Introduction</a:t>
            </a:r>
            <a:endParaRPr lang="en-US"/>
          </a:p>
        </p:txBody>
      </p:sp>
      <p:sp>
        <p:nvSpPr>
          <p:cNvPr id="7" name="Google Shape;284;p14">
            <a:extLst>
              <a:ext uri="{FF2B5EF4-FFF2-40B4-BE49-F238E27FC236}">
                <a16:creationId xmlns:a16="http://schemas.microsoft.com/office/drawing/2014/main" id="{D0DE5753-0C7C-A9A6-82D6-5194BD7747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302674" y="1351021"/>
            <a:ext cx="7033155" cy="379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114999"/>
              </a:lnSpc>
            </a:pPr>
            <a:r>
              <a:rPr lang="en-GB" sz="1500" b="1">
                <a:solidFill>
                  <a:srgbClr val="262626"/>
                </a:solidFill>
                <a:cs typeface="Arial"/>
              </a:rPr>
              <a:t>Problem Statement:</a:t>
            </a:r>
            <a:r>
              <a:rPr lang="en-GB" sz="1500">
                <a:solidFill>
                  <a:srgbClr val="262626"/>
                </a:solidFill>
                <a:cs typeface="Arial"/>
              </a:rPr>
              <a:t> </a:t>
            </a:r>
            <a:r>
              <a:rPr lang="en-GB">
                <a:solidFill>
                  <a:srgbClr val="262626"/>
                </a:solidFill>
                <a:cs typeface="Arial"/>
              </a:rPr>
              <a:t>Recovering original scalar inputs encoded in SDRs by using classifiers</a:t>
            </a:r>
            <a:endParaRPr lang="en-GB">
              <a:solidFill>
                <a:srgbClr val="C0791B"/>
              </a:solidFill>
              <a:cs typeface="Arial"/>
            </a:endParaRPr>
          </a:p>
          <a:p>
            <a:pPr marL="285750" indent="-285750">
              <a:lnSpc>
                <a:spcPct val="114999"/>
              </a:lnSpc>
            </a:pPr>
            <a:r>
              <a:rPr lang="en-GB" sz="1500" b="1">
                <a:solidFill>
                  <a:srgbClr val="262626"/>
                </a:solidFill>
                <a:cs typeface="Arial"/>
              </a:rPr>
              <a:t>Sparse Distributed Representations (SDRs):</a:t>
            </a:r>
            <a:r>
              <a:rPr lang="en-GB" sz="1500">
                <a:solidFill>
                  <a:srgbClr val="262626"/>
                </a:solidFill>
                <a:cs typeface="Arial"/>
              </a:rPr>
              <a:t> </a:t>
            </a:r>
            <a:r>
              <a:rPr lang="en-GB">
                <a:solidFill>
                  <a:srgbClr val="262626"/>
                </a:solidFill>
                <a:cs typeface="Arial"/>
              </a:rPr>
              <a:t>A biologically inspired encoding method used in Hierarchical Temporal Memory (HTM) for robust pattern recognition</a:t>
            </a:r>
            <a:endParaRPr lang="en-GB">
              <a:solidFill>
                <a:srgbClr val="C0791B"/>
              </a:solidFill>
              <a:cs typeface="Arial"/>
            </a:endParaRPr>
          </a:p>
          <a:p>
            <a:pPr marL="0" indent="0">
              <a:lnSpc>
                <a:spcPct val="114999"/>
              </a:lnSpc>
              <a:buNone/>
            </a:pPr>
            <a:endParaRPr lang="en-GB" sz="1500">
              <a:solidFill>
                <a:srgbClr val="C0791B"/>
              </a:solidFill>
              <a:cs typeface="Arial"/>
            </a:endParaRPr>
          </a:p>
          <a:p>
            <a:pPr marL="0" indent="0">
              <a:lnSpc>
                <a:spcPct val="114999"/>
              </a:lnSpc>
              <a:buNone/>
            </a:pPr>
            <a:r>
              <a:rPr lang="en-GB" sz="1600" b="1">
                <a:solidFill>
                  <a:srgbClr val="262626"/>
                </a:solidFill>
                <a:cs typeface="Arial"/>
              </a:rPr>
              <a:t>Input Reconstruction:</a:t>
            </a:r>
            <a:endParaRPr lang="en-GB" sz="1600">
              <a:solidFill>
                <a:srgbClr val="C0791B"/>
              </a:solidFill>
              <a:cs typeface="Arial"/>
            </a:endParaRPr>
          </a:p>
          <a:p>
            <a:pPr marL="285750" indent="-285750">
              <a:lnSpc>
                <a:spcPct val="114999"/>
              </a:lnSpc>
            </a:pPr>
            <a:r>
              <a:rPr lang="en-GB" sz="1500" b="1">
                <a:solidFill>
                  <a:srgbClr val="262626"/>
                </a:solidFill>
                <a:cs typeface="Arial"/>
              </a:rPr>
              <a:t>Objective:</a:t>
            </a:r>
            <a:r>
              <a:rPr lang="en-GB" sz="1500">
                <a:solidFill>
                  <a:srgbClr val="262626"/>
                </a:solidFill>
                <a:cs typeface="Arial"/>
              </a:rPr>
              <a:t> </a:t>
            </a:r>
            <a:r>
              <a:rPr lang="en-GB">
                <a:solidFill>
                  <a:srgbClr val="262626"/>
                </a:solidFill>
                <a:cs typeface="Arial"/>
              </a:rPr>
              <a:t>Investigate how HTM classifier and KNN classifier can reconstruct encoded inputs and evaluate their accuracy using similarity metrics</a:t>
            </a:r>
            <a:endParaRPr lang="en-GB">
              <a:solidFill>
                <a:srgbClr val="C0791B"/>
              </a:solidFill>
              <a:cs typeface="Arial"/>
            </a:endParaRPr>
          </a:p>
          <a:p>
            <a:pPr marL="285750" indent="-285750">
              <a:lnSpc>
                <a:spcPct val="114999"/>
              </a:lnSpc>
            </a:pPr>
            <a:r>
              <a:rPr lang="en-GB" sz="1500" b="1">
                <a:solidFill>
                  <a:srgbClr val="262626"/>
                </a:solidFill>
                <a:cs typeface="Arial"/>
              </a:rPr>
              <a:t>Visualisation:</a:t>
            </a:r>
            <a:r>
              <a:rPr lang="en-GB" sz="1500">
                <a:solidFill>
                  <a:srgbClr val="262626"/>
                </a:solidFill>
                <a:cs typeface="Arial"/>
              </a:rPr>
              <a:t> </a:t>
            </a:r>
            <a:r>
              <a:rPr lang="en-GB">
                <a:solidFill>
                  <a:srgbClr val="262626"/>
                </a:solidFill>
                <a:cs typeface="Arial"/>
              </a:rPr>
              <a:t>Results are analysed using the </a:t>
            </a:r>
            <a:r>
              <a:rPr lang="en-GB" err="1">
                <a:solidFill>
                  <a:srgbClr val="262626"/>
                </a:solidFill>
                <a:cs typeface="Arial"/>
              </a:rPr>
              <a:t>ScottPlot</a:t>
            </a:r>
            <a:r>
              <a:rPr lang="en-GB">
                <a:solidFill>
                  <a:srgbClr val="262626"/>
                </a:solidFill>
                <a:cs typeface="Arial"/>
              </a:rPr>
              <a:t> library in .NET</a:t>
            </a:r>
          </a:p>
          <a:p>
            <a:pPr marL="285750" indent="-285750">
              <a:lnSpc>
                <a:spcPct val="114999"/>
              </a:lnSpc>
            </a:pPr>
            <a:endParaRPr lang="en-GB">
              <a:solidFill>
                <a:srgbClr val="262626"/>
              </a:solidFill>
              <a:cs typeface="Arial"/>
            </a:endParaRPr>
          </a:p>
          <a:p>
            <a:pPr marL="0" indent="0">
              <a:lnSpc>
                <a:spcPct val="114999"/>
              </a:lnSpc>
              <a:buNone/>
            </a:pPr>
            <a:r>
              <a:rPr lang="en-GB" sz="1600" b="1">
                <a:solidFill>
                  <a:srgbClr val="262626"/>
                </a:solidFill>
                <a:cs typeface="Arial"/>
              </a:rPr>
              <a:t>Flow:</a:t>
            </a:r>
            <a:endParaRPr lang="en" sz="1600">
              <a:solidFill>
                <a:srgbClr val="C0791B"/>
              </a:solidFill>
              <a:cs typeface="Arial"/>
            </a:endParaRPr>
          </a:p>
          <a:p>
            <a:pPr marL="0" indent="0">
              <a:lnSpc>
                <a:spcPct val="114999"/>
              </a:lnSpc>
              <a:buNone/>
            </a:pPr>
            <a:r>
              <a:rPr lang="en-GB">
                <a:solidFill>
                  <a:srgbClr val="262626"/>
                </a:solidFill>
                <a:cs typeface="Arial"/>
              </a:rPr>
              <a:t>Input →  Encoder → Spatial Pooler → Classifier → Reconstructed Input</a:t>
            </a:r>
            <a:endParaRPr lang="en">
              <a:solidFill>
                <a:srgbClr val="C0791B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03388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>
          <a:extLst>
            <a:ext uri="{FF2B5EF4-FFF2-40B4-BE49-F238E27FC236}">
              <a16:creationId xmlns:a16="http://schemas.microsoft.com/office/drawing/2014/main" id="{7634C0E5-CEB9-618F-D952-DC98AEA3F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>
            <a:extLst>
              <a:ext uri="{FF2B5EF4-FFF2-40B4-BE49-F238E27FC236}">
                <a16:creationId xmlns:a16="http://schemas.microsoft.com/office/drawing/2014/main" id="{66FD35B7-35F9-A5F0-DC40-6880F1D16F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62425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>
                <a:latin typeface="Nunito"/>
              </a:rPr>
              <a:t>Scalar Encoder</a:t>
            </a:r>
            <a:endParaRPr lang="en-US"/>
          </a:p>
        </p:txBody>
      </p:sp>
      <p:sp>
        <p:nvSpPr>
          <p:cNvPr id="7" name="Google Shape;284;p14">
            <a:extLst>
              <a:ext uri="{FF2B5EF4-FFF2-40B4-BE49-F238E27FC236}">
                <a16:creationId xmlns:a16="http://schemas.microsoft.com/office/drawing/2014/main" id="{63A86A7A-899E-E9AC-8729-F7BC72CC37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302674" y="1351021"/>
            <a:ext cx="7033155" cy="379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114999"/>
              </a:lnSpc>
            </a:pPr>
            <a:r>
              <a:rPr lang="en-GB" b="1">
                <a:solidFill>
                  <a:srgbClr val="262626"/>
                </a:solidFill>
                <a:cs typeface="Arial"/>
              </a:rPr>
              <a:t>Converts numerical/scalar values into unique binary patterns</a:t>
            </a:r>
            <a:r>
              <a:rPr lang="en-GB">
                <a:solidFill>
                  <a:srgbClr val="262626"/>
                </a:solidFill>
                <a:cs typeface="Arial"/>
              </a:rPr>
              <a:t> where only a small set of bits are active</a:t>
            </a:r>
          </a:p>
          <a:p>
            <a:pPr marL="285750" indent="-285750">
              <a:lnSpc>
                <a:spcPct val="114999"/>
              </a:lnSpc>
            </a:pPr>
            <a:r>
              <a:rPr lang="en-GB" b="1">
                <a:solidFill>
                  <a:srgbClr val="262626"/>
                </a:solidFill>
                <a:cs typeface="Arial"/>
              </a:rPr>
              <a:t>Preserves relationships between numbers:</a:t>
            </a:r>
            <a:r>
              <a:rPr lang="en-GB">
                <a:solidFill>
                  <a:srgbClr val="262626"/>
                </a:solidFill>
                <a:cs typeface="Arial"/>
              </a:rPr>
              <a:t> similar values produce overlapping patterns, making trends easy to detect</a:t>
            </a:r>
          </a:p>
          <a:p>
            <a:pPr marL="285750" indent="-285750">
              <a:lnSpc>
                <a:spcPct val="114999"/>
              </a:lnSpc>
            </a:pPr>
            <a:r>
              <a:rPr lang="en-GB" b="1">
                <a:solidFill>
                  <a:srgbClr val="262626"/>
                </a:solidFill>
                <a:cs typeface="Arial"/>
              </a:rPr>
              <a:t>Handles edge cases</a:t>
            </a:r>
            <a:r>
              <a:rPr lang="en-GB">
                <a:solidFill>
                  <a:srgbClr val="262626"/>
                </a:solidFill>
                <a:cs typeface="Arial"/>
              </a:rPr>
              <a:t> (e.g., clipping extreme values) to ensure meaningful outputs</a:t>
            </a:r>
          </a:p>
          <a:p>
            <a:pPr marL="285750" indent="-285750">
              <a:lnSpc>
                <a:spcPct val="114999"/>
              </a:lnSpc>
            </a:pPr>
            <a:r>
              <a:rPr lang="en-GB" b="1">
                <a:solidFill>
                  <a:srgbClr val="262626"/>
                </a:solidFill>
                <a:cs typeface="Arial"/>
              </a:rPr>
              <a:t>Works seamlessly for cyclical data</a:t>
            </a:r>
            <a:r>
              <a:rPr lang="en-GB">
                <a:solidFill>
                  <a:srgbClr val="262626"/>
                </a:solidFill>
                <a:cs typeface="Arial"/>
              </a:rPr>
              <a:t> (e.g., hours in a day) by wrapping patterns at boundaries</a:t>
            </a:r>
          </a:p>
          <a:p>
            <a:pPr marL="285750" indent="-285750">
              <a:lnSpc>
                <a:spcPct val="114999"/>
              </a:lnSpc>
            </a:pPr>
            <a:r>
              <a:rPr lang="en-GB" b="1">
                <a:solidFill>
                  <a:srgbClr val="262626"/>
                </a:solidFill>
                <a:cs typeface="Arial"/>
              </a:rPr>
              <a:t>Allows reverse-decoding of pattern</a:t>
            </a:r>
            <a:r>
              <a:rPr lang="en-GB">
                <a:solidFill>
                  <a:srgbClr val="262626"/>
                </a:solidFill>
                <a:cs typeface="Arial"/>
              </a:rPr>
              <a:t> to estimate original input values for validation</a:t>
            </a:r>
          </a:p>
          <a:p>
            <a:pPr marL="146050" indent="0">
              <a:lnSpc>
                <a:spcPct val="114999"/>
              </a:lnSpc>
              <a:buNone/>
            </a:pPr>
            <a:endParaRPr lang="en-GB" sz="1500">
              <a:solidFill>
                <a:srgbClr val="C0791B"/>
              </a:solidFill>
              <a:cs typeface="Arial"/>
            </a:endParaRPr>
          </a:p>
          <a:p>
            <a:pPr marL="0" indent="0">
              <a:lnSpc>
                <a:spcPct val="114999"/>
              </a:lnSpc>
              <a:buNone/>
            </a:pPr>
            <a:endParaRPr lang="en-GB">
              <a:solidFill>
                <a:srgbClr val="262626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38464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>
          <a:extLst>
            <a:ext uri="{FF2B5EF4-FFF2-40B4-BE49-F238E27FC236}">
              <a16:creationId xmlns:a16="http://schemas.microsoft.com/office/drawing/2014/main" id="{0F1760D5-34D7-DA5B-0B13-7C5F36DA7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>
            <a:extLst>
              <a:ext uri="{FF2B5EF4-FFF2-40B4-BE49-F238E27FC236}">
                <a16:creationId xmlns:a16="http://schemas.microsoft.com/office/drawing/2014/main" id="{38D53246-CF59-7DEB-2977-67E547C74E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62425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>
                <a:latin typeface="Nunito"/>
              </a:rPr>
              <a:t>Spatial Pooler</a:t>
            </a:r>
            <a:endParaRPr lang="en-US"/>
          </a:p>
        </p:txBody>
      </p:sp>
      <p:sp>
        <p:nvSpPr>
          <p:cNvPr id="7" name="Google Shape;284;p14">
            <a:extLst>
              <a:ext uri="{FF2B5EF4-FFF2-40B4-BE49-F238E27FC236}">
                <a16:creationId xmlns:a16="http://schemas.microsoft.com/office/drawing/2014/main" id="{A2AFF794-763B-691E-C1F5-1A8161C328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302674" y="1351021"/>
            <a:ext cx="7033155" cy="379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114999"/>
              </a:lnSpc>
            </a:pPr>
            <a:r>
              <a:rPr lang="en-GB" b="1">
                <a:solidFill>
                  <a:srgbClr val="262626"/>
                </a:solidFill>
                <a:cs typeface="Arial"/>
              </a:rPr>
              <a:t>Transforms raw SDRs into stable, robust SDRs</a:t>
            </a:r>
            <a:r>
              <a:rPr lang="en-GB">
                <a:solidFill>
                  <a:srgbClr val="262626"/>
                </a:solidFill>
                <a:cs typeface="Arial"/>
              </a:rPr>
              <a:t> for noise resistance and pattern recognition</a:t>
            </a:r>
          </a:p>
          <a:p>
            <a:pPr marL="285750" indent="-285750">
              <a:lnSpc>
                <a:spcPct val="114999"/>
              </a:lnSpc>
            </a:pPr>
            <a:r>
              <a:rPr lang="en-GB" b="1">
                <a:solidFill>
                  <a:srgbClr val="262626"/>
                </a:solidFill>
                <a:cs typeface="Arial"/>
              </a:rPr>
              <a:t>Learns spatial features</a:t>
            </a:r>
            <a:r>
              <a:rPr lang="en-GB">
                <a:solidFill>
                  <a:srgbClr val="262626"/>
                </a:solidFill>
                <a:cs typeface="Arial"/>
              </a:rPr>
              <a:t> to generate consistent SDRs, ignoring irrelevant or noisy data</a:t>
            </a:r>
          </a:p>
          <a:p>
            <a:pPr marL="285750" indent="-285750">
              <a:lnSpc>
                <a:spcPct val="114999"/>
              </a:lnSpc>
            </a:pPr>
            <a:r>
              <a:rPr lang="en-GB" b="1">
                <a:solidFill>
                  <a:srgbClr val="262626"/>
                </a:solidFill>
                <a:cs typeface="Arial"/>
              </a:rPr>
              <a:t>Expands input dimensionality</a:t>
            </a:r>
            <a:r>
              <a:rPr lang="en-GB">
                <a:solidFill>
                  <a:srgbClr val="262626"/>
                </a:solidFill>
                <a:cs typeface="Arial"/>
              </a:rPr>
              <a:t> for better pattern separation and representation</a:t>
            </a:r>
          </a:p>
          <a:p>
            <a:pPr marL="285750" indent="-285750">
              <a:lnSpc>
                <a:spcPct val="114999"/>
              </a:lnSpc>
            </a:pPr>
            <a:r>
              <a:rPr lang="en-GB" b="1">
                <a:solidFill>
                  <a:srgbClr val="262626"/>
                </a:solidFill>
                <a:cs typeface="Arial"/>
              </a:rPr>
              <a:t>Balances stability &amp; plasticity:</a:t>
            </a:r>
            <a:r>
              <a:rPr lang="en-GB">
                <a:solidFill>
                  <a:srgbClr val="262626"/>
                </a:solidFill>
                <a:cs typeface="Arial"/>
              </a:rPr>
              <a:t> maintains consistent SDRs for known inputs while adapting to new patterns</a:t>
            </a:r>
          </a:p>
          <a:p>
            <a:pPr marL="285750" indent="-285750">
              <a:lnSpc>
                <a:spcPct val="114999"/>
              </a:lnSpc>
            </a:pPr>
            <a:endParaRPr lang="en-GB" sz="1500">
              <a:solidFill>
                <a:srgbClr val="C0791B"/>
              </a:solidFill>
              <a:cs typeface="Arial"/>
            </a:endParaRPr>
          </a:p>
          <a:p>
            <a:pPr marL="146050" indent="0">
              <a:lnSpc>
                <a:spcPct val="114999"/>
              </a:lnSpc>
              <a:buNone/>
            </a:pPr>
            <a:endParaRPr lang="en-GB" sz="1500">
              <a:solidFill>
                <a:srgbClr val="C0791B"/>
              </a:solidFill>
              <a:cs typeface="Arial"/>
            </a:endParaRPr>
          </a:p>
          <a:p>
            <a:pPr marL="0" indent="0">
              <a:lnSpc>
                <a:spcPct val="114999"/>
              </a:lnSpc>
              <a:buNone/>
            </a:pPr>
            <a:endParaRPr lang="en-GB">
              <a:solidFill>
                <a:srgbClr val="262626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80714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>
          <a:extLst>
            <a:ext uri="{FF2B5EF4-FFF2-40B4-BE49-F238E27FC236}">
              <a16:creationId xmlns:a16="http://schemas.microsoft.com/office/drawing/2014/main" id="{4C509F4C-FF69-A2F3-9E57-393190C5A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>
            <a:extLst>
              <a:ext uri="{FF2B5EF4-FFF2-40B4-BE49-F238E27FC236}">
                <a16:creationId xmlns:a16="http://schemas.microsoft.com/office/drawing/2014/main" id="{406BEE32-010E-F271-1E2F-0684E0ED43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62425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>
                <a:latin typeface="Nunito"/>
              </a:rPr>
              <a:t>What are classifiers? </a:t>
            </a:r>
            <a:r>
              <a:rPr lang="en-GB" b="0"/>
              <a:t>🤔</a:t>
            </a:r>
            <a:endParaRPr lang="en-US">
              <a:latin typeface="Nunito"/>
            </a:endParaRPr>
          </a:p>
        </p:txBody>
      </p:sp>
      <p:sp>
        <p:nvSpPr>
          <p:cNvPr id="7" name="Google Shape;284;p14">
            <a:extLst>
              <a:ext uri="{FF2B5EF4-FFF2-40B4-BE49-F238E27FC236}">
                <a16:creationId xmlns:a16="http://schemas.microsoft.com/office/drawing/2014/main" id="{10B46DC6-0FE2-DB4D-2B5D-9E53F7CD02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302674" y="1351021"/>
            <a:ext cx="7033155" cy="379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114999"/>
              </a:lnSpc>
            </a:pPr>
            <a:r>
              <a:rPr lang="en-GB" sz="1500" b="1">
                <a:solidFill>
                  <a:srgbClr val="262626"/>
                </a:solidFill>
                <a:cs typeface="Arial"/>
              </a:rPr>
              <a:t>Definition: </a:t>
            </a:r>
            <a:r>
              <a:rPr lang="en-GB">
                <a:solidFill>
                  <a:srgbClr val="262626"/>
                </a:solidFill>
                <a:cs typeface="Arial"/>
              </a:rPr>
              <a:t>A "smart guesser" that learns patterns to map data (e.g., numbers) to labels (e.g., categories)</a:t>
            </a:r>
            <a:endParaRPr lang="en-GB">
              <a:solidFill>
                <a:srgbClr val="C0791B"/>
              </a:solidFill>
              <a:cs typeface="Arial"/>
            </a:endParaRPr>
          </a:p>
          <a:p>
            <a:pPr marL="285750" indent="-285750">
              <a:lnSpc>
                <a:spcPct val="114999"/>
              </a:lnSpc>
            </a:pPr>
            <a:r>
              <a:rPr lang="en-GB" sz="1500" b="1">
                <a:solidFill>
                  <a:srgbClr val="262626"/>
                </a:solidFill>
                <a:cs typeface="Arial"/>
              </a:rPr>
              <a:t>Example: </a:t>
            </a:r>
            <a:r>
              <a:rPr lang="en-GB">
                <a:solidFill>
                  <a:srgbClr val="262626"/>
                </a:solidFill>
                <a:cs typeface="Arial"/>
              </a:rPr>
              <a:t>Like teaching a robot to recognize cats 🐱 vs dogs 🐶 from pictures</a:t>
            </a:r>
            <a:endParaRPr lang="en-GB">
              <a:solidFill>
                <a:srgbClr val="C0791B"/>
              </a:solidFill>
              <a:cs typeface="Arial"/>
            </a:endParaRPr>
          </a:p>
          <a:p>
            <a:pPr marL="0" indent="0">
              <a:lnSpc>
                <a:spcPct val="114999"/>
              </a:lnSpc>
              <a:buNone/>
            </a:pPr>
            <a:endParaRPr lang="en-GB">
              <a:solidFill>
                <a:srgbClr val="C0791B"/>
              </a:solidFill>
              <a:cs typeface="Arial"/>
            </a:endParaRPr>
          </a:p>
          <a:p>
            <a:pPr marL="0" indent="0">
              <a:lnSpc>
                <a:spcPct val="114999"/>
              </a:lnSpc>
              <a:buNone/>
            </a:pPr>
            <a:r>
              <a:rPr lang="en-GB" sz="1600" b="1">
                <a:solidFill>
                  <a:srgbClr val="262626"/>
                </a:solidFill>
                <a:cs typeface="Arial"/>
              </a:rPr>
              <a:t>How We Used It:</a:t>
            </a:r>
            <a:endParaRPr lang="en-GB" sz="1600">
              <a:solidFill>
                <a:srgbClr val="C0791B"/>
              </a:solidFill>
              <a:cs typeface="Arial"/>
            </a:endParaRPr>
          </a:p>
          <a:p>
            <a:pPr marL="285750" indent="-285750">
              <a:lnSpc>
                <a:spcPct val="114999"/>
              </a:lnSpc>
            </a:pPr>
            <a:r>
              <a:rPr lang="en-GB" sz="1500" b="1">
                <a:solidFill>
                  <a:srgbClr val="262626"/>
                </a:solidFill>
                <a:cs typeface="Arial"/>
              </a:rPr>
              <a:t>Problem: </a:t>
            </a:r>
            <a:r>
              <a:rPr lang="en-GB">
                <a:solidFill>
                  <a:srgbClr val="262626"/>
                </a:solidFill>
                <a:cs typeface="Arial"/>
              </a:rPr>
              <a:t>We encoded numbers (e.g., 1–50) into SDRs (binary codes like 01001)</a:t>
            </a:r>
            <a:endParaRPr lang="en-GB">
              <a:solidFill>
                <a:srgbClr val="C0791B"/>
              </a:solidFill>
              <a:cs typeface="Arial"/>
            </a:endParaRPr>
          </a:p>
          <a:p>
            <a:pPr marL="285750" indent="-285750">
              <a:lnSpc>
                <a:spcPct val="114999"/>
              </a:lnSpc>
            </a:pPr>
            <a:r>
              <a:rPr lang="en-GB" sz="1500" b="1">
                <a:solidFill>
                  <a:srgbClr val="262626"/>
                </a:solidFill>
                <a:cs typeface="Arial"/>
              </a:rPr>
              <a:t>Goal: </a:t>
            </a:r>
            <a:r>
              <a:rPr lang="en-GB">
                <a:solidFill>
                  <a:srgbClr val="262626"/>
                </a:solidFill>
                <a:cs typeface="Arial"/>
              </a:rPr>
              <a:t>Train classifiers to reverse-engineer SDRs back to original numbers</a:t>
            </a:r>
            <a:endParaRPr lang="en-GB">
              <a:solidFill>
                <a:srgbClr val="C0791B"/>
              </a:solidFill>
              <a:cs typeface="Arial"/>
            </a:endParaRPr>
          </a:p>
          <a:p>
            <a:pPr marL="285750" indent="-285750">
              <a:lnSpc>
                <a:spcPct val="114999"/>
              </a:lnSpc>
            </a:pPr>
            <a:r>
              <a:rPr lang="en-GB" sz="1500" b="1">
                <a:solidFill>
                  <a:srgbClr val="262626"/>
                </a:solidFill>
                <a:cs typeface="Arial"/>
              </a:rPr>
              <a:t>Analogy: </a:t>
            </a:r>
            <a:r>
              <a:rPr lang="en-GB">
                <a:solidFill>
                  <a:srgbClr val="262626"/>
                </a:solidFill>
                <a:cs typeface="Arial"/>
              </a:rPr>
              <a:t>Teaching the system to decode secret messages (SDRs) into readable numbers</a:t>
            </a:r>
            <a:endParaRPr lang="en-GB">
              <a:solidFill>
                <a:srgbClr val="C0791B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293386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>
          <a:extLst>
            <a:ext uri="{FF2B5EF4-FFF2-40B4-BE49-F238E27FC236}">
              <a16:creationId xmlns:a16="http://schemas.microsoft.com/office/drawing/2014/main" id="{DD17198F-2BF9-517D-78EA-0428BEE89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>
            <a:extLst>
              <a:ext uri="{FF2B5EF4-FFF2-40B4-BE49-F238E27FC236}">
                <a16:creationId xmlns:a16="http://schemas.microsoft.com/office/drawing/2014/main" id="{CD3B401C-5AED-B6CC-694C-A04526B5B1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62425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>
                <a:latin typeface="Nunito"/>
              </a:rPr>
              <a:t>HTM Classifier</a:t>
            </a:r>
            <a:endParaRPr lang="en-US">
              <a:latin typeface="Nunito"/>
            </a:endParaRPr>
          </a:p>
        </p:txBody>
      </p:sp>
      <p:sp>
        <p:nvSpPr>
          <p:cNvPr id="7" name="Google Shape;284;p14">
            <a:extLst>
              <a:ext uri="{FF2B5EF4-FFF2-40B4-BE49-F238E27FC236}">
                <a16:creationId xmlns:a16="http://schemas.microsoft.com/office/drawing/2014/main" id="{9F1AC235-F28A-CC24-17AE-0EA807CF5F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302674" y="1351021"/>
            <a:ext cx="7033155" cy="379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114999"/>
              </a:lnSpc>
            </a:pPr>
            <a:r>
              <a:rPr lang="en-GB">
                <a:solidFill>
                  <a:srgbClr val="262626"/>
                </a:solidFill>
                <a:cs typeface="Arial"/>
              </a:rPr>
              <a:t>HTM (Hierarchical Temporal Memory) is a brain-inspired learning algorithm that mimics how the neocortex recognizes patterns and makes predictions</a:t>
            </a:r>
            <a:endParaRPr lang="en-GB">
              <a:solidFill>
                <a:srgbClr val="000000"/>
              </a:solidFill>
              <a:cs typeface="Arial"/>
            </a:endParaRPr>
          </a:p>
          <a:p>
            <a:pPr marL="285750" indent="-285750">
              <a:lnSpc>
                <a:spcPct val="114999"/>
              </a:lnSpc>
            </a:pPr>
            <a:r>
              <a:rPr lang="en-GB">
                <a:solidFill>
                  <a:srgbClr val="262626"/>
                </a:solidFill>
                <a:cs typeface="Arial"/>
              </a:rPr>
              <a:t>Uses a Spatial Pooler to generate stable Sparse Distributed Representations (SDRs)</a:t>
            </a:r>
            <a:endParaRPr lang="en-US">
              <a:solidFill>
                <a:srgbClr val="C0791B"/>
              </a:solidFill>
              <a:cs typeface="Arial"/>
            </a:endParaRPr>
          </a:p>
          <a:p>
            <a:pPr marL="285750" indent="-285750">
              <a:lnSpc>
                <a:spcPct val="114999"/>
              </a:lnSpc>
            </a:pPr>
            <a:r>
              <a:rPr lang="en-GB">
                <a:solidFill>
                  <a:srgbClr val="262626"/>
                </a:solidFill>
                <a:cs typeface="Arial"/>
              </a:rPr>
              <a:t>Continuously learns and adapts, handling sequences and noisy data like the human brain</a:t>
            </a:r>
            <a:endParaRPr lang="en-US">
              <a:solidFill>
                <a:srgbClr val="C0791B"/>
              </a:solidFill>
              <a:cs typeface="Arial"/>
            </a:endParaRPr>
          </a:p>
          <a:p>
            <a:pPr marL="0" indent="0">
              <a:lnSpc>
                <a:spcPct val="114999"/>
              </a:lnSpc>
              <a:buNone/>
            </a:pPr>
            <a:endParaRPr lang="en-GB" sz="1500" b="1">
              <a:solidFill>
                <a:srgbClr val="262626"/>
              </a:solidFill>
              <a:cs typeface="Arial"/>
            </a:endParaRPr>
          </a:p>
          <a:p>
            <a:pPr marL="0" indent="0">
              <a:lnSpc>
                <a:spcPct val="114999"/>
              </a:lnSpc>
              <a:buNone/>
            </a:pPr>
            <a:r>
              <a:rPr lang="en-GB" sz="1500" b="1">
                <a:solidFill>
                  <a:srgbClr val="262626"/>
                </a:solidFill>
                <a:cs typeface="Arial"/>
              </a:rPr>
              <a:t>Training Phase:</a:t>
            </a:r>
            <a:endParaRPr lang="en-GB" sz="1500">
              <a:solidFill>
                <a:srgbClr val="C0791B"/>
              </a:solidFill>
              <a:cs typeface="Arial"/>
            </a:endParaRPr>
          </a:p>
          <a:p>
            <a:pPr marL="285750" indent="-285750">
              <a:lnSpc>
                <a:spcPct val="114999"/>
              </a:lnSpc>
            </a:pPr>
            <a:r>
              <a:rPr lang="en-GB">
                <a:solidFill>
                  <a:srgbClr val="262626"/>
                </a:solidFill>
                <a:cs typeface="Arial"/>
              </a:rPr>
              <a:t>We fed SDRs of numbers (e.g., 01001 = 5) into HTM</a:t>
            </a:r>
            <a:endParaRPr lang="en-GB">
              <a:solidFill>
                <a:srgbClr val="C0791B"/>
              </a:solidFill>
              <a:cs typeface="Arial"/>
            </a:endParaRPr>
          </a:p>
          <a:p>
            <a:pPr marL="285750" indent="-285750">
              <a:lnSpc>
                <a:spcPct val="114999"/>
              </a:lnSpc>
            </a:pPr>
            <a:r>
              <a:rPr lang="en-GB">
                <a:solidFill>
                  <a:srgbClr val="262626"/>
                </a:solidFill>
                <a:cs typeface="Arial"/>
              </a:rPr>
              <a:t>HTM learned to associate </a:t>
            </a:r>
            <a:r>
              <a:rPr lang="en-GB" b="1">
                <a:solidFill>
                  <a:srgbClr val="262626"/>
                </a:solidFill>
                <a:cs typeface="Arial"/>
              </a:rPr>
              <a:t>SDR patterns</a:t>
            </a:r>
            <a:r>
              <a:rPr lang="en-GB">
                <a:solidFill>
                  <a:srgbClr val="262626"/>
                </a:solidFill>
                <a:cs typeface="Arial"/>
              </a:rPr>
              <a:t> with their original numbers</a:t>
            </a:r>
            <a:endParaRPr lang="en-GB" sz="1500">
              <a:solidFill>
                <a:srgbClr val="C0791B"/>
              </a:solidFill>
              <a:cs typeface="Arial"/>
            </a:endParaRPr>
          </a:p>
          <a:p>
            <a:pPr marL="0" indent="0">
              <a:lnSpc>
                <a:spcPct val="114999"/>
              </a:lnSpc>
              <a:buNone/>
            </a:pPr>
            <a:endParaRPr lang="en-GB" sz="1500" b="1">
              <a:solidFill>
                <a:srgbClr val="262626"/>
              </a:solidFill>
              <a:cs typeface="Arial"/>
            </a:endParaRPr>
          </a:p>
          <a:p>
            <a:pPr marL="0" indent="0">
              <a:lnSpc>
                <a:spcPct val="114999"/>
              </a:lnSpc>
              <a:buNone/>
            </a:pPr>
            <a:r>
              <a:rPr lang="en-GB" sz="1500" b="1">
                <a:solidFill>
                  <a:srgbClr val="262626"/>
                </a:solidFill>
                <a:cs typeface="Arial"/>
              </a:rPr>
              <a:t>Reconstruction Phase:</a:t>
            </a:r>
            <a:endParaRPr lang="en-GB" sz="1500">
              <a:solidFill>
                <a:srgbClr val="C0791B"/>
              </a:solidFill>
              <a:cs typeface="Arial"/>
            </a:endParaRPr>
          </a:p>
          <a:p>
            <a:pPr marL="285750" indent="-285750">
              <a:lnSpc>
                <a:spcPct val="114999"/>
              </a:lnSpc>
            </a:pPr>
            <a:r>
              <a:rPr lang="en-GB">
                <a:solidFill>
                  <a:srgbClr val="262626"/>
                </a:solidFill>
                <a:cs typeface="Arial"/>
              </a:rPr>
              <a:t>When given a new SDR, HTM </a:t>
            </a:r>
            <a:r>
              <a:rPr lang="en-GB" b="1">
                <a:solidFill>
                  <a:srgbClr val="262626"/>
                </a:solidFill>
                <a:cs typeface="Arial"/>
              </a:rPr>
              <a:t>predicted </a:t>
            </a:r>
            <a:r>
              <a:rPr lang="en-GB">
                <a:solidFill>
                  <a:srgbClr val="262626"/>
                </a:solidFill>
                <a:cs typeface="Arial"/>
              </a:rPr>
              <a:t>the closest match (e.g., 01001 → "5")</a:t>
            </a:r>
            <a:endParaRPr lang="en-GB">
              <a:solidFill>
                <a:srgbClr val="C0791B"/>
              </a:solidFill>
              <a:cs typeface="Arial"/>
            </a:endParaRPr>
          </a:p>
          <a:p>
            <a:pPr marL="0" indent="0">
              <a:lnSpc>
                <a:spcPct val="114999"/>
              </a:lnSpc>
              <a:buNone/>
            </a:pPr>
            <a:endParaRPr lang="en-GB">
              <a:solidFill>
                <a:srgbClr val="C0791B"/>
              </a:solidFill>
              <a:cs typeface="Arial"/>
            </a:endParaRPr>
          </a:p>
          <a:p>
            <a:pPr marL="285750" indent="-285750">
              <a:lnSpc>
                <a:spcPct val="114999"/>
              </a:lnSpc>
            </a:pPr>
            <a:endParaRPr lang="en-GB" sz="1500">
              <a:solidFill>
                <a:srgbClr val="C0791B"/>
              </a:solidFill>
              <a:cs typeface="Arial"/>
            </a:endParaRPr>
          </a:p>
          <a:p>
            <a:pPr marL="146050" indent="0">
              <a:lnSpc>
                <a:spcPct val="114999"/>
              </a:lnSpc>
              <a:buNone/>
            </a:pPr>
            <a:endParaRPr lang="en-GB" sz="1500">
              <a:solidFill>
                <a:srgbClr val="C0791B"/>
              </a:solidFill>
              <a:cs typeface="Arial"/>
            </a:endParaRPr>
          </a:p>
          <a:p>
            <a:pPr marL="0" indent="0">
              <a:lnSpc>
                <a:spcPct val="114999"/>
              </a:lnSpc>
              <a:buNone/>
            </a:pPr>
            <a:endParaRPr lang="en-GB">
              <a:solidFill>
                <a:srgbClr val="262626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88898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>
          <a:extLst>
            <a:ext uri="{FF2B5EF4-FFF2-40B4-BE49-F238E27FC236}">
              <a16:creationId xmlns:a16="http://schemas.microsoft.com/office/drawing/2014/main" id="{57BB661A-C8DA-49CF-A4F0-40F602234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>
            <a:extLst>
              <a:ext uri="{FF2B5EF4-FFF2-40B4-BE49-F238E27FC236}">
                <a16:creationId xmlns:a16="http://schemas.microsoft.com/office/drawing/2014/main" id="{5811957D-419A-DC83-B8A5-869D667393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62425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>
                <a:latin typeface="Nunito"/>
              </a:rPr>
              <a:t>KNN Classifier</a:t>
            </a:r>
            <a:endParaRPr lang="en-US">
              <a:latin typeface="Nunito"/>
            </a:endParaRPr>
          </a:p>
        </p:txBody>
      </p:sp>
      <p:sp>
        <p:nvSpPr>
          <p:cNvPr id="7" name="Google Shape;284;p14">
            <a:extLst>
              <a:ext uri="{FF2B5EF4-FFF2-40B4-BE49-F238E27FC236}">
                <a16:creationId xmlns:a16="http://schemas.microsoft.com/office/drawing/2014/main" id="{ABF860F8-793F-3893-7E5E-297F849071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302674" y="1351021"/>
            <a:ext cx="7033155" cy="379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114999"/>
              </a:lnSpc>
            </a:pPr>
            <a:r>
              <a:rPr lang="en-GB">
                <a:solidFill>
                  <a:srgbClr val="262626"/>
                </a:solidFill>
                <a:cs typeface="Arial"/>
              </a:rPr>
              <a:t>KNN (K-Nearest Neighbors) is a "memory-based" algorithm that finds the closest matches to make predictions – like a lookup table pattern</a:t>
            </a:r>
          </a:p>
          <a:p>
            <a:pPr marL="285750" indent="-285750">
              <a:lnSpc>
                <a:spcPct val="114999"/>
              </a:lnSpc>
            </a:pPr>
            <a:r>
              <a:rPr lang="en-GB">
                <a:solidFill>
                  <a:srgbClr val="262626"/>
                </a:solidFill>
                <a:cs typeface="Arial"/>
              </a:rPr>
              <a:t>Example: Finding a book in a library by comparing titles to the one you’re searching for</a:t>
            </a:r>
            <a:endParaRPr lang="en-GB">
              <a:solidFill>
                <a:srgbClr val="000000"/>
              </a:solidFill>
              <a:cs typeface="Arial"/>
            </a:endParaRPr>
          </a:p>
          <a:p>
            <a:pPr marL="0" indent="0">
              <a:lnSpc>
                <a:spcPct val="114999"/>
              </a:lnSpc>
              <a:buNone/>
            </a:pPr>
            <a:endParaRPr lang="en-GB">
              <a:solidFill>
                <a:srgbClr val="262626"/>
              </a:solidFill>
              <a:cs typeface="Arial"/>
            </a:endParaRPr>
          </a:p>
          <a:p>
            <a:pPr marL="0" indent="0">
              <a:lnSpc>
                <a:spcPct val="114999"/>
              </a:lnSpc>
              <a:buNone/>
            </a:pPr>
            <a:r>
              <a:rPr lang="en-GB" sz="1500" b="1">
                <a:solidFill>
                  <a:srgbClr val="262626"/>
                </a:solidFill>
                <a:cs typeface="Arial"/>
              </a:rPr>
              <a:t>Training Phase:</a:t>
            </a:r>
            <a:endParaRPr lang="en-GB" sz="1500">
              <a:solidFill>
                <a:srgbClr val="C0791B"/>
              </a:solidFill>
              <a:cs typeface="Arial"/>
            </a:endParaRPr>
          </a:p>
          <a:p>
            <a:pPr marL="285750" indent="-285750">
              <a:lnSpc>
                <a:spcPct val="114999"/>
              </a:lnSpc>
            </a:pPr>
            <a:r>
              <a:rPr lang="en-GB">
                <a:solidFill>
                  <a:srgbClr val="262626"/>
                </a:solidFill>
                <a:cs typeface="Arial"/>
              </a:rPr>
              <a:t>We fed SDRs of numbers (e.g., 01001 = 5) into KNN</a:t>
            </a:r>
            <a:endParaRPr lang="en-GB">
              <a:solidFill>
                <a:srgbClr val="C0791B"/>
              </a:solidFill>
              <a:cs typeface="Arial"/>
            </a:endParaRPr>
          </a:p>
          <a:p>
            <a:pPr marL="285750" indent="-285750">
              <a:lnSpc>
                <a:spcPct val="114999"/>
              </a:lnSpc>
            </a:pPr>
            <a:r>
              <a:rPr lang="en-GB">
                <a:solidFill>
                  <a:srgbClr val="262626"/>
                </a:solidFill>
                <a:cs typeface="Arial"/>
              </a:rPr>
              <a:t>KNN learned to associate </a:t>
            </a:r>
            <a:r>
              <a:rPr lang="en-GB" b="1">
                <a:solidFill>
                  <a:srgbClr val="262626"/>
                </a:solidFill>
                <a:cs typeface="Arial"/>
              </a:rPr>
              <a:t>SDR patterns</a:t>
            </a:r>
            <a:r>
              <a:rPr lang="en-GB">
                <a:solidFill>
                  <a:srgbClr val="262626"/>
                </a:solidFill>
                <a:cs typeface="Arial"/>
              </a:rPr>
              <a:t> with their original numbers</a:t>
            </a:r>
            <a:endParaRPr lang="en-GB" sz="1500">
              <a:solidFill>
                <a:srgbClr val="C0791B"/>
              </a:solidFill>
              <a:cs typeface="Arial"/>
            </a:endParaRPr>
          </a:p>
          <a:p>
            <a:pPr marL="0" indent="0">
              <a:lnSpc>
                <a:spcPct val="114999"/>
              </a:lnSpc>
              <a:buNone/>
            </a:pPr>
            <a:endParaRPr lang="en-GB" sz="1500" b="1">
              <a:solidFill>
                <a:srgbClr val="262626"/>
              </a:solidFill>
              <a:cs typeface="Arial"/>
            </a:endParaRPr>
          </a:p>
          <a:p>
            <a:pPr marL="0" indent="0">
              <a:lnSpc>
                <a:spcPct val="114999"/>
              </a:lnSpc>
              <a:buNone/>
            </a:pPr>
            <a:r>
              <a:rPr lang="en-GB" sz="1500" b="1">
                <a:solidFill>
                  <a:srgbClr val="262626"/>
                </a:solidFill>
                <a:cs typeface="Arial"/>
              </a:rPr>
              <a:t>Reconstruction Phase:</a:t>
            </a:r>
            <a:endParaRPr lang="en-GB" sz="1500">
              <a:solidFill>
                <a:srgbClr val="C0791B"/>
              </a:solidFill>
              <a:cs typeface="Arial"/>
            </a:endParaRPr>
          </a:p>
          <a:p>
            <a:pPr marL="285750" indent="-285750">
              <a:lnSpc>
                <a:spcPct val="114999"/>
              </a:lnSpc>
            </a:pPr>
            <a:r>
              <a:rPr lang="en-GB">
                <a:solidFill>
                  <a:srgbClr val="262626"/>
                </a:solidFill>
                <a:cs typeface="Arial"/>
              </a:rPr>
              <a:t>When given a new SDR, KNN </a:t>
            </a:r>
            <a:r>
              <a:rPr lang="en-GB" b="1">
                <a:solidFill>
                  <a:srgbClr val="262626"/>
                </a:solidFill>
                <a:cs typeface="Arial"/>
              </a:rPr>
              <a:t>predicted </a:t>
            </a:r>
            <a:r>
              <a:rPr lang="en-GB">
                <a:solidFill>
                  <a:srgbClr val="262626"/>
                </a:solidFill>
                <a:cs typeface="Arial"/>
              </a:rPr>
              <a:t>the closest match (e.g., 01001 → "5")</a:t>
            </a:r>
            <a:endParaRPr lang="en-GB">
              <a:solidFill>
                <a:srgbClr val="C0791B"/>
              </a:solidFill>
              <a:cs typeface="Arial"/>
            </a:endParaRPr>
          </a:p>
          <a:p>
            <a:pPr marL="0" indent="0">
              <a:lnSpc>
                <a:spcPct val="114999"/>
              </a:lnSpc>
              <a:buNone/>
            </a:pPr>
            <a:endParaRPr lang="en-GB">
              <a:solidFill>
                <a:srgbClr val="C0791B"/>
              </a:solidFill>
              <a:cs typeface="Arial"/>
            </a:endParaRPr>
          </a:p>
          <a:p>
            <a:pPr marL="285750" indent="-285750">
              <a:lnSpc>
                <a:spcPct val="114999"/>
              </a:lnSpc>
            </a:pPr>
            <a:endParaRPr lang="en-GB" sz="1500">
              <a:solidFill>
                <a:srgbClr val="C0791B"/>
              </a:solidFill>
              <a:cs typeface="Arial"/>
            </a:endParaRPr>
          </a:p>
          <a:p>
            <a:pPr marL="146050" indent="0">
              <a:lnSpc>
                <a:spcPct val="114999"/>
              </a:lnSpc>
              <a:buNone/>
            </a:pPr>
            <a:endParaRPr lang="en-GB" sz="1500">
              <a:solidFill>
                <a:srgbClr val="C0791B"/>
              </a:solidFill>
              <a:cs typeface="Arial"/>
            </a:endParaRPr>
          </a:p>
          <a:p>
            <a:pPr marL="0" indent="0">
              <a:lnSpc>
                <a:spcPct val="114999"/>
              </a:lnSpc>
              <a:buNone/>
            </a:pPr>
            <a:endParaRPr lang="en-GB">
              <a:solidFill>
                <a:srgbClr val="262626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024946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>
          <a:extLst>
            <a:ext uri="{FF2B5EF4-FFF2-40B4-BE49-F238E27FC236}">
              <a16:creationId xmlns:a16="http://schemas.microsoft.com/office/drawing/2014/main" id="{9F92E0E3-AC6D-EE7E-5202-44A80B688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>
            <a:extLst>
              <a:ext uri="{FF2B5EF4-FFF2-40B4-BE49-F238E27FC236}">
                <a16:creationId xmlns:a16="http://schemas.microsoft.com/office/drawing/2014/main" id="{71981237-6196-AC61-7335-AC38AE6CC6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62425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>
                <a:latin typeface="Nunito"/>
              </a:rPr>
              <a:t>HTM Classifier vs KNN Classifier</a:t>
            </a:r>
            <a:endParaRPr lang="en-US"/>
          </a:p>
        </p:txBody>
      </p:sp>
      <p:sp>
        <p:nvSpPr>
          <p:cNvPr id="7" name="Google Shape;284;p14">
            <a:extLst>
              <a:ext uri="{FF2B5EF4-FFF2-40B4-BE49-F238E27FC236}">
                <a16:creationId xmlns:a16="http://schemas.microsoft.com/office/drawing/2014/main" id="{5D8657B3-28F8-BB66-F629-8C293FC4EF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302674" y="1351021"/>
            <a:ext cx="7033155" cy="379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US"/>
              <a:t> </a:t>
            </a:r>
          </a:p>
        </p:txBody>
      </p:sp>
      <p:pic>
        <p:nvPicPr>
          <p:cNvPr id="3" name="Picture 2" descr="A screen shot of a black background&#10;&#10;AI-generated content may be incorrect.">
            <a:extLst>
              <a:ext uri="{FF2B5EF4-FFF2-40B4-BE49-F238E27FC236}">
                <a16:creationId xmlns:a16="http://schemas.microsoft.com/office/drawing/2014/main" id="{6F093BA7-5476-EB41-F47C-FDDDF6459F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761" b="-115"/>
          <a:stretch/>
        </p:blipFill>
        <p:spPr>
          <a:xfrm>
            <a:off x="1670958" y="1350479"/>
            <a:ext cx="6299040" cy="3072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1468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>
          <a:extLst>
            <a:ext uri="{FF2B5EF4-FFF2-40B4-BE49-F238E27FC236}">
              <a16:creationId xmlns:a16="http://schemas.microsoft.com/office/drawing/2014/main" id="{C42BD628-DAE9-1CB1-90B5-A390C90EF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>
            <a:extLst>
              <a:ext uri="{FF2B5EF4-FFF2-40B4-BE49-F238E27FC236}">
                <a16:creationId xmlns:a16="http://schemas.microsoft.com/office/drawing/2014/main" id="{51610DD7-7BD5-8FFA-79A5-63617F299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62425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>
                <a:latin typeface="Nunito"/>
              </a:rPr>
              <a:t>Experiment Design - Diagram</a:t>
            </a:r>
            <a:endParaRPr lang="en-US"/>
          </a:p>
        </p:txBody>
      </p:sp>
      <p:sp>
        <p:nvSpPr>
          <p:cNvPr id="7" name="Google Shape;284;p14">
            <a:extLst>
              <a:ext uri="{FF2B5EF4-FFF2-40B4-BE49-F238E27FC236}">
                <a16:creationId xmlns:a16="http://schemas.microsoft.com/office/drawing/2014/main" id="{9745E200-55E1-CB88-CBC2-EC7CE0DE7A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302674" y="1351021"/>
            <a:ext cx="7033155" cy="379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14999"/>
              </a:lnSpc>
              <a:buNone/>
            </a:pPr>
            <a:r>
              <a:rPr lang="en-GB">
                <a:solidFill>
                  <a:srgbClr val="262626"/>
                </a:solidFill>
                <a:cs typeface="Arial"/>
              </a:rPr>
              <a:t> </a:t>
            </a:r>
          </a:p>
        </p:txBody>
      </p:sp>
      <p:pic>
        <p:nvPicPr>
          <p:cNvPr id="3" name="Picture 2" descr="A diagram of a train">
            <a:extLst>
              <a:ext uri="{FF2B5EF4-FFF2-40B4-BE49-F238E27FC236}">
                <a16:creationId xmlns:a16="http://schemas.microsoft.com/office/drawing/2014/main" id="{06AEDAA1-5939-926C-247E-DA577D55AA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066" y="1211609"/>
            <a:ext cx="7492170" cy="2738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4845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>
          <a:extLst>
            <a:ext uri="{FF2B5EF4-FFF2-40B4-BE49-F238E27FC236}">
              <a16:creationId xmlns:a16="http://schemas.microsoft.com/office/drawing/2014/main" id="{6ACCE9E2-F278-C9DA-BC4B-7AD4F79AD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>
            <a:extLst>
              <a:ext uri="{FF2B5EF4-FFF2-40B4-BE49-F238E27FC236}">
                <a16:creationId xmlns:a16="http://schemas.microsoft.com/office/drawing/2014/main" id="{0725BDA9-B470-29BB-FC94-E1D4EA32E3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62425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>
                <a:latin typeface="Nunito"/>
              </a:rPr>
              <a:t>Steps</a:t>
            </a:r>
            <a:endParaRPr lang="en-US">
              <a:latin typeface="Nunito"/>
            </a:endParaRPr>
          </a:p>
        </p:txBody>
      </p:sp>
      <p:sp>
        <p:nvSpPr>
          <p:cNvPr id="7" name="Google Shape;284;p14">
            <a:extLst>
              <a:ext uri="{FF2B5EF4-FFF2-40B4-BE49-F238E27FC236}">
                <a16:creationId xmlns:a16="http://schemas.microsoft.com/office/drawing/2014/main" id="{225D0100-19B1-9D8E-AE23-676A241C4D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302674" y="1351021"/>
            <a:ext cx="7033155" cy="379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114999"/>
              </a:lnSpc>
            </a:pPr>
            <a:r>
              <a:rPr lang="en-GB">
                <a:solidFill>
                  <a:srgbClr val="262626"/>
                </a:solidFill>
                <a:cs typeface="Arial"/>
              </a:rPr>
              <a:t>An input array/list of scalar numbers was selected</a:t>
            </a:r>
            <a:endParaRPr lang="en-US"/>
          </a:p>
          <a:p>
            <a:pPr marL="285750" indent="-285750">
              <a:lnSpc>
                <a:spcPct val="114999"/>
              </a:lnSpc>
            </a:pPr>
            <a:r>
              <a:rPr lang="en-GB"/>
              <a:t>Scalar Encoder: Converts scalars to SDRs</a:t>
            </a:r>
          </a:p>
          <a:p>
            <a:pPr marL="285750" indent="-285750">
              <a:lnSpc>
                <a:spcPct val="114999"/>
              </a:lnSpc>
            </a:pPr>
            <a:r>
              <a:rPr lang="en-GB">
                <a:solidFill>
                  <a:srgbClr val="424242"/>
                </a:solidFill>
                <a:cs typeface="Arial"/>
              </a:rPr>
              <a:t>Spatial Pooler: Enhances sparsity, noise resistance and pattern stability by making the SDRs more robust</a:t>
            </a:r>
          </a:p>
          <a:p>
            <a:pPr marL="285750" indent="-285750">
              <a:lnSpc>
                <a:spcPct val="114999"/>
              </a:lnSpc>
            </a:pPr>
            <a:r>
              <a:rPr lang="en-GB">
                <a:solidFill>
                  <a:srgbClr val="424242"/>
                </a:solidFill>
                <a:cs typeface="Arial"/>
              </a:rPr>
              <a:t>Split the data into two sets – training and testing</a:t>
            </a:r>
          </a:p>
          <a:p>
            <a:pPr marL="285750" indent="-285750">
              <a:lnSpc>
                <a:spcPct val="114999"/>
              </a:lnSpc>
            </a:pPr>
            <a:r>
              <a:rPr lang="en-GB">
                <a:solidFill>
                  <a:srgbClr val="424242"/>
                </a:solidFill>
                <a:cs typeface="Arial"/>
              </a:rPr>
              <a:t>Trained the HTM and KNN classifiers with the stable SDRs of the training set</a:t>
            </a:r>
          </a:p>
          <a:p>
            <a:pPr marL="285750" indent="-285750">
              <a:lnSpc>
                <a:spcPct val="114999"/>
              </a:lnSpc>
            </a:pPr>
            <a:r>
              <a:rPr lang="en-GB">
                <a:solidFill>
                  <a:srgbClr val="424242"/>
                </a:solidFill>
                <a:cs typeface="Arial"/>
              </a:rPr>
              <a:t>HTM: Learns temporal-spatial patterns</a:t>
            </a:r>
          </a:p>
          <a:p>
            <a:pPr marL="285750" indent="-285750">
              <a:lnSpc>
                <a:spcPct val="114999"/>
              </a:lnSpc>
            </a:pPr>
            <a:r>
              <a:rPr lang="en-GB">
                <a:solidFill>
                  <a:srgbClr val="424242"/>
                </a:solidFill>
                <a:cs typeface="Arial"/>
              </a:rPr>
              <a:t>KNN: Traditional distance based baseline</a:t>
            </a:r>
          </a:p>
          <a:p>
            <a:pPr marL="285750" indent="-285750">
              <a:lnSpc>
                <a:spcPct val="114999"/>
              </a:lnSpc>
            </a:pPr>
            <a:r>
              <a:rPr lang="en-GB">
                <a:solidFill>
                  <a:srgbClr val="424242"/>
                </a:solidFill>
                <a:cs typeface="Arial"/>
              </a:rPr>
              <a:t>Reconstruction: Both the classifiers try to map the testing set SDRs back to original scalar values</a:t>
            </a:r>
          </a:p>
          <a:p>
            <a:pPr marL="285750" indent="-285750">
              <a:lnSpc>
                <a:spcPct val="114999"/>
              </a:lnSpc>
            </a:pPr>
            <a:r>
              <a:rPr lang="en-GB">
                <a:solidFill>
                  <a:srgbClr val="424242"/>
                </a:solidFill>
                <a:cs typeface="Arial"/>
              </a:rPr>
              <a:t>Comparison of the reconstructed input with original input</a:t>
            </a:r>
          </a:p>
          <a:p>
            <a:pPr marL="285750" indent="-285750">
              <a:lnSpc>
                <a:spcPct val="114999"/>
              </a:lnSpc>
            </a:pPr>
            <a:r>
              <a:rPr lang="en-GB">
                <a:solidFill>
                  <a:srgbClr val="424242"/>
                </a:solidFill>
                <a:cs typeface="Arial"/>
              </a:rPr>
              <a:t>Performance evaluation of the classifiers</a:t>
            </a:r>
          </a:p>
          <a:p>
            <a:pPr marL="285750" indent="-285750">
              <a:lnSpc>
                <a:spcPct val="114999"/>
              </a:lnSpc>
            </a:pPr>
            <a:endParaRPr lang="en-GB">
              <a:solidFill>
                <a:srgbClr val="C0791B"/>
              </a:solidFill>
              <a:cs typeface="Arial"/>
            </a:endParaRPr>
          </a:p>
          <a:p>
            <a:pPr marL="146050" indent="0">
              <a:lnSpc>
                <a:spcPct val="114999"/>
              </a:lnSpc>
              <a:buNone/>
            </a:pPr>
            <a:endParaRPr lang="en-GB">
              <a:solidFill>
                <a:srgbClr val="C0791B"/>
              </a:solidFill>
              <a:cs typeface="Arial"/>
            </a:endParaRPr>
          </a:p>
          <a:p>
            <a:pPr marL="0" indent="0">
              <a:lnSpc>
                <a:spcPct val="114999"/>
              </a:lnSpc>
              <a:buNone/>
            </a:pPr>
            <a:endParaRPr lang="en-GB">
              <a:solidFill>
                <a:srgbClr val="262626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73208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47;p23">
            <a:extLst>
              <a:ext uri="{FF2B5EF4-FFF2-40B4-BE49-F238E27FC236}">
                <a16:creationId xmlns:a16="http://schemas.microsoft.com/office/drawing/2014/main" id="{405F0047-4BD6-2731-732E-C06048A3BD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>
                <a:latin typeface="Nunito"/>
              </a:rPr>
              <a:t>Test Data Reconstruction Results</a:t>
            </a:r>
            <a:endParaRPr lang="en">
              <a:latin typeface="Nunito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551D4F-92BC-EDF5-5DB2-F6C6749467AD}"/>
              </a:ext>
            </a:extLst>
          </p:cNvPr>
          <p:cNvSpPr txBox="1"/>
          <p:nvPr/>
        </p:nvSpPr>
        <p:spPr>
          <a:xfrm>
            <a:off x="1323474" y="2937710"/>
            <a:ext cx="6186236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har char="•"/>
            </a:pPr>
            <a:r>
              <a:rPr lang="en-GB" sz="1200">
                <a:solidFill>
                  <a:schemeClr val="bg2"/>
                </a:solidFill>
                <a:latin typeface="Inter"/>
              </a:rPr>
              <a:t>This table shows a specific example when input was between 1 to 20.</a:t>
            </a:r>
            <a:endParaRPr lang="en-US">
              <a:solidFill>
                <a:schemeClr val="bg2"/>
              </a:solidFill>
            </a:endParaRPr>
          </a:p>
          <a:p>
            <a:pPr marL="285750" indent="-285750">
              <a:buChar char="•"/>
            </a:pPr>
            <a:r>
              <a:rPr lang="en-GB" sz="1200">
                <a:solidFill>
                  <a:schemeClr val="bg2"/>
                </a:solidFill>
                <a:latin typeface="Inter"/>
              </a:rPr>
              <a:t>HTM guesses closer to the true input (e.g., Input 13: HTM guessed 12 vs KNN’s 10).</a:t>
            </a:r>
            <a:endParaRPr lang="en-GB">
              <a:solidFill>
                <a:schemeClr val="bg2"/>
              </a:solidFill>
            </a:endParaRPr>
          </a:p>
          <a:p>
            <a:pPr algn="l"/>
            <a:endParaRPr lang="en-GB">
              <a:solidFill>
                <a:schemeClr val="bg2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17870D-24B2-EEAF-5573-9DDD209B0A62}"/>
              </a:ext>
            </a:extLst>
          </p:cNvPr>
          <p:cNvSpPr txBox="1"/>
          <p:nvPr/>
        </p:nvSpPr>
        <p:spPr>
          <a:xfrm>
            <a:off x="1258302" y="3629526"/>
            <a:ext cx="5194634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b="1">
                <a:solidFill>
                  <a:schemeClr val="bg2"/>
                </a:solidFill>
              </a:rPr>
              <a:t>Key Takeaway:</a:t>
            </a:r>
          </a:p>
          <a:p>
            <a:pPr marL="285750" indent="-285750">
              <a:buChar char="•"/>
            </a:pPr>
            <a:r>
              <a:rPr lang="en-GB" sz="1200">
                <a:solidFill>
                  <a:schemeClr val="bg2"/>
                </a:solidFill>
                <a:latin typeface="Inter"/>
              </a:rPr>
              <a:t>HTM generalizes better on new data</a:t>
            </a:r>
            <a:endParaRPr lang="en-GB">
              <a:solidFill>
                <a:schemeClr val="bg2"/>
              </a:solidFill>
            </a:endParaRPr>
          </a:p>
          <a:p>
            <a:pPr marL="285750" indent="-285750">
              <a:buChar char="•"/>
            </a:pPr>
            <a:r>
              <a:rPr lang="en-GB" sz="1200">
                <a:solidFill>
                  <a:schemeClr val="bg2"/>
                </a:solidFill>
                <a:latin typeface="Inter"/>
              </a:rPr>
              <a:t>KNN struggles with unseen inputs</a:t>
            </a:r>
            <a:endParaRPr lang="en-GB">
              <a:solidFill>
                <a:schemeClr val="bg2"/>
              </a:solidFill>
            </a:endParaRPr>
          </a:p>
          <a:p>
            <a:endParaRPr lang="en-GB">
              <a:solidFill>
                <a:schemeClr val="bg2"/>
              </a:solidFill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2BE2227A-59B4-516A-AB6F-89CB3D6A27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1023411"/>
              </p:ext>
            </p:extLst>
          </p:nvPr>
        </p:nvGraphicFramePr>
        <p:xfrm>
          <a:off x="1322774" y="1286195"/>
          <a:ext cx="2781299" cy="150495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29837">
                  <a:extLst>
                    <a:ext uri="{9D8B030D-6E8A-4147-A177-3AD203B41FA5}">
                      <a16:colId xmlns:a16="http://schemas.microsoft.com/office/drawing/2014/main" val="3412386534"/>
                    </a:ext>
                  </a:extLst>
                </a:gridCol>
                <a:gridCol w="897601">
                  <a:extLst>
                    <a:ext uri="{9D8B030D-6E8A-4147-A177-3AD203B41FA5}">
                      <a16:colId xmlns:a16="http://schemas.microsoft.com/office/drawing/2014/main" val="4159066243"/>
                    </a:ext>
                  </a:extLst>
                </a:gridCol>
                <a:gridCol w="707967">
                  <a:extLst>
                    <a:ext uri="{9D8B030D-6E8A-4147-A177-3AD203B41FA5}">
                      <a16:colId xmlns:a16="http://schemas.microsoft.com/office/drawing/2014/main" val="823177775"/>
                    </a:ext>
                  </a:extLst>
                </a:gridCol>
                <a:gridCol w="745894">
                  <a:extLst>
                    <a:ext uri="{9D8B030D-6E8A-4147-A177-3AD203B41FA5}">
                      <a16:colId xmlns:a16="http://schemas.microsoft.com/office/drawing/2014/main" val="2276523096"/>
                    </a:ext>
                  </a:extLst>
                </a:gridCol>
              </a:tblGrid>
              <a:tr h="190500">
                <a:tc gridSpan="4"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KNN Test Data Reconstruction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1223795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Input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Reconstructed Input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Internal Similarity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Percentage Similarity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728897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0.00%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5.00%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87662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0.00%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15.00%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924247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5.00%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77.00%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408662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15.00%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94.00%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4423942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65488E4A-6929-0D64-8C0E-BB547B75DE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9934242"/>
              </p:ext>
            </p:extLst>
          </p:nvPr>
        </p:nvGraphicFramePr>
        <p:xfrm>
          <a:off x="4416237" y="1286195"/>
          <a:ext cx="2933701" cy="150495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08167">
                  <a:extLst>
                    <a:ext uri="{9D8B030D-6E8A-4147-A177-3AD203B41FA5}">
                      <a16:colId xmlns:a16="http://schemas.microsoft.com/office/drawing/2014/main" val="287276567"/>
                    </a:ext>
                  </a:extLst>
                </a:gridCol>
                <a:gridCol w="969397">
                  <a:extLst>
                    <a:ext uri="{9D8B030D-6E8A-4147-A177-3AD203B41FA5}">
                      <a16:colId xmlns:a16="http://schemas.microsoft.com/office/drawing/2014/main" val="3205800355"/>
                    </a:ext>
                  </a:extLst>
                </a:gridCol>
                <a:gridCol w="739803">
                  <a:extLst>
                    <a:ext uri="{9D8B030D-6E8A-4147-A177-3AD203B41FA5}">
                      <a16:colId xmlns:a16="http://schemas.microsoft.com/office/drawing/2014/main" val="2080854063"/>
                    </a:ext>
                  </a:extLst>
                </a:gridCol>
                <a:gridCol w="816334">
                  <a:extLst>
                    <a:ext uri="{9D8B030D-6E8A-4147-A177-3AD203B41FA5}">
                      <a16:colId xmlns:a16="http://schemas.microsoft.com/office/drawing/2014/main" val="441851606"/>
                    </a:ext>
                  </a:extLst>
                </a:gridCol>
              </a:tblGrid>
              <a:tr h="190500">
                <a:tc gridSpan="4"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HTM Test Data Reconstruction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856902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Input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Reconstructed Input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Internal Similarity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Percentage Similarity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4722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15.00%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50.00%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910878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15.00%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75.00%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051655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20.00%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92.00%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061826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30.00%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94.00%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68366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69505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>
                <a:latin typeface="Nunito"/>
              </a:rPr>
              <a:t>Test Data Reconstruction Plots</a:t>
            </a:r>
            <a:endParaRPr lang="en">
              <a:latin typeface="Nunito"/>
            </a:endParaRPr>
          </a:p>
        </p:txBody>
      </p:sp>
      <p:pic>
        <p:nvPicPr>
          <p:cNvPr id="4" name="Picture 3" descr="A graph with red dots&#10;&#10;AI-generated content may be incorrect.">
            <a:extLst>
              <a:ext uri="{FF2B5EF4-FFF2-40B4-BE49-F238E27FC236}">
                <a16:creationId xmlns:a16="http://schemas.microsoft.com/office/drawing/2014/main" id="{420A6A47-67B3-70F1-9939-BB18D90BB6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895" y="1696714"/>
            <a:ext cx="2294235" cy="174623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Picture 5" descr="A graph with blue dots&#10;&#10;AI-generated content may be incorrect.">
            <a:extLst>
              <a:ext uri="{FF2B5EF4-FFF2-40B4-BE49-F238E27FC236}">
                <a16:creationId xmlns:a16="http://schemas.microsoft.com/office/drawing/2014/main" id="{46DA4E2F-2D61-7327-9378-E8302B7ACD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5785" y="1701422"/>
            <a:ext cx="2630073" cy="174628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43EA6A1-89DE-0411-3C5E-54A193108591}"/>
              </a:ext>
            </a:extLst>
          </p:cNvPr>
          <p:cNvSpPr txBox="1"/>
          <p:nvPr/>
        </p:nvSpPr>
        <p:spPr>
          <a:xfrm>
            <a:off x="1303639" y="1148224"/>
            <a:ext cx="514350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200" i="1">
                <a:solidFill>
                  <a:schemeClr val="bg2"/>
                </a:solidFill>
                <a:latin typeface="Inter"/>
              </a:rPr>
              <a:t>How well did our classifiers predict unseen data?</a:t>
            </a:r>
            <a:endParaRPr lang="en-US">
              <a:solidFill>
                <a:schemeClr val="bg2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67B1AF-644B-025D-40FB-A5FFC690414A}"/>
              </a:ext>
            </a:extLst>
          </p:cNvPr>
          <p:cNvSpPr txBox="1"/>
          <p:nvPr/>
        </p:nvSpPr>
        <p:spPr>
          <a:xfrm>
            <a:off x="451185" y="3729790"/>
            <a:ext cx="8318473" cy="15081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buFont typeface="Arial,Sans-Serif"/>
              <a:buChar char="•"/>
            </a:pPr>
            <a:r>
              <a:rPr lang="en-GB" sz="1300">
                <a:solidFill>
                  <a:srgbClr val="424242"/>
                </a:solidFill>
                <a:latin typeface="Nunito"/>
              </a:rPr>
              <a:t>The diagonal line (y=x) represents perfect predictions. Dots on the line = perfect accuracy.</a:t>
            </a:r>
            <a:endParaRPr lang="en-US" sz="1300">
              <a:solidFill>
                <a:srgbClr val="C0791B"/>
              </a:solidFill>
              <a:latin typeface="Nunito"/>
            </a:endParaRPr>
          </a:p>
          <a:p>
            <a:pPr marL="171450" indent="-171450">
              <a:buFont typeface="Arial,Sans-Serif"/>
              <a:buChar char="•"/>
            </a:pPr>
            <a:r>
              <a:rPr lang="en-GB" sz="1300">
                <a:solidFill>
                  <a:srgbClr val="424242"/>
                </a:solidFill>
                <a:latin typeface="Nunito"/>
              </a:rPr>
              <a:t>KNN’s blue dots are scattered – many errors. HTM’s red dots hug the line – fewer errors.</a:t>
            </a:r>
          </a:p>
          <a:p>
            <a:pPr marL="171450" indent="-171450">
              <a:buChar char="•"/>
            </a:pPr>
            <a:r>
              <a:rPr lang="en-GB" sz="1300">
                <a:solidFill>
                  <a:srgbClr val="424242"/>
                </a:solidFill>
                <a:latin typeface="Nunito"/>
              </a:rPr>
              <a:t>The third graph compares the similarity percentage of the predictions. (</a:t>
            </a:r>
            <a:r>
              <a:rPr lang="en-GB" sz="1300">
                <a:solidFill>
                  <a:srgbClr val="FF0000"/>
                </a:solidFill>
                <a:latin typeface="Nunito"/>
              </a:rPr>
              <a:t>Red </a:t>
            </a:r>
            <a:r>
              <a:rPr lang="en-GB" sz="1300">
                <a:solidFill>
                  <a:srgbClr val="424242"/>
                </a:solidFill>
                <a:latin typeface="Nunito"/>
              </a:rPr>
              <a:t>= HTM, </a:t>
            </a:r>
            <a:r>
              <a:rPr lang="en-GB" sz="1300">
                <a:solidFill>
                  <a:srgbClr val="0070C0"/>
                </a:solidFill>
                <a:latin typeface="Nunito"/>
              </a:rPr>
              <a:t>Blue </a:t>
            </a:r>
            <a:r>
              <a:rPr lang="en-GB" sz="1300">
                <a:solidFill>
                  <a:srgbClr val="424242"/>
                </a:solidFill>
                <a:latin typeface="Nunito"/>
              </a:rPr>
              <a:t>= KNN)</a:t>
            </a:r>
          </a:p>
          <a:p>
            <a:pPr marL="171450" indent="-171450">
              <a:buChar char="•"/>
            </a:pPr>
            <a:r>
              <a:rPr lang="en-GB" sz="1300">
                <a:solidFill>
                  <a:srgbClr val="424242"/>
                </a:solidFill>
                <a:latin typeface="Nunito"/>
                <a:sym typeface="Nunito"/>
              </a:rPr>
              <a:t>Taller bars mean better accuracy. For example, HTM (red) did much better at predicting Input 1 and 3 than KNN.</a:t>
            </a:r>
            <a:endParaRPr lang="en-GB" sz="1300">
              <a:solidFill>
                <a:srgbClr val="424242"/>
              </a:solidFill>
              <a:latin typeface="Nunito"/>
            </a:endParaRPr>
          </a:p>
          <a:p>
            <a:endParaRPr lang="en-GB" sz="1300">
              <a:solidFill>
                <a:srgbClr val="424242"/>
              </a:solidFill>
              <a:latin typeface="Nunito"/>
            </a:endParaRPr>
          </a:p>
          <a:p>
            <a:pPr algn="l"/>
            <a:endParaRPr lang="en-GB">
              <a:solidFill>
                <a:schemeClr val="bg2"/>
              </a:solidFill>
            </a:endParaRPr>
          </a:p>
        </p:txBody>
      </p:sp>
      <p:pic>
        <p:nvPicPr>
          <p:cNvPr id="14" name="Picture 13" descr="A graph with red and blue lines&#10;&#10;AI-generated content may be incorrect.">
            <a:extLst>
              <a:ext uri="{FF2B5EF4-FFF2-40B4-BE49-F238E27FC236}">
                <a16:creationId xmlns:a16="http://schemas.microsoft.com/office/drawing/2014/main" id="{CF78796D-27F0-4699-87F9-96A93D262E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4449" y="1699458"/>
            <a:ext cx="2435694" cy="175962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96861-6B2D-59D2-BE1A-F821D93B0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47;p23">
            <a:extLst>
              <a:ext uri="{FF2B5EF4-FFF2-40B4-BE49-F238E27FC236}">
                <a16:creationId xmlns:a16="http://schemas.microsoft.com/office/drawing/2014/main" id="{D993AE33-84E4-2B0A-B05E-AF3D4BA00B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03800" y="47930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>
                <a:latin typeface="Nunito"/>
              </a:rPr>
              <a:t>Train Data Reconstruction Results</a:t>
            </a:r>
            <a:endParaRPr lang="en">
              <a:latin typeface="Nunit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D7AAC3-E0F8-44BF-B402-09C6EF64663F}"/>
              </a:ext>
            </a:extLst>
          </p:cNvPr>
          <p:cNvSpPr txBox="1"/>
          <p:nvPr/>
        </p:nvSpPr>
        <p:spPr>
          <a:xfrm>
            <a:off x="1157124" y="4468598"/>
            <a:ext cx="7329236" cy="4924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har char="•"/>
            </a:pPr>
            <a:r>
              <a:rPr lang="en-GB" sz="1200">
                <a:solidFill>
                  <a:schemeClr val="bg2"/>
                </a:solidFill>
                <a:latin typeface="Inter"/>
              </a:rPr>
              <a:t>Both models replicated training data perfectly. But this doesn’t mean they </a:t>
            </a:r>
            <a:r>
              <a:rPr lang="en-GB" sz="1200" b="1">
                <a:solidFill>
                  <a:schemeClr val="bg2"/>
                </a:solidFill>
                <a:latin typeface="Inter"/>
              </a:rPr>
              <a:t>learned – they just memorized.</a:t>
            </a:r>
            <a:endParaRPr lang="en-US" b="1">
              <a:solidFill>
                <a:schemeClr val="bg2"/>
              </a:solidFill>
            </a:endParaRPr>
          </a:p>
          <a:p>
            <a:pPr algn="l"/>
            <a:endParaRPr lang="en-GB" b="1">
              <a:solidFill>
                <a:schemeClr val="bg2"/>
              </a:solidFill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48610FEA-AF59-BD68-13BA-D2F32379A4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648043"/>
              </p:ext>
            </p:extLst>
          </p:nvPr>
        </p:nvGraphicFramePr>
        <p:xfrm>
          <a:off x="4572000" y="1058167"/>
          <a:ext cx="2968814" cy="345414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00062">
                  <a:extLst>
                    <a:ext uri="{9D8B030D-6E8A-4147-A177-3AD203B41FA5}">
                      <a16:colId xmlns:a16="http://schemas.microsoft.com/office/drawing/2014/main" val="2913521265"/>
                    </a:ext>
                  </a:extLst>
                </a:gridCol>
                <a:gridCol w="794742">
                  <a:extLst>
                    <a:ext uri="{9D8B030D-6E8A-4147-A177-3AD203B41FA5}">
                      <a16:colId xmlns:a16="http://schemas.microsoft.com/office/drawing/2014/main" val="2226356828"/>
                    </a:ext>
                  </a:extLst>
                </a:gridCol>
                <a:gridCol w="848320">
                  <a:extLst>
                    <a:ext uri="{9D8B030D-6E8A-4147-A177-3AD203B41FA5}">
                      <a16:colId xmlns:a16="http://schemas.microsoft.com/office/drawing/2014/main" val="2870183661"/>
                    </a:ext>
                  </a:extLst>
                </a:gridCol>
                <a:gridCol w="825690">
                  <a:extLst>
                    <a:ext uri="{9D8B030D-6E8A-4147-A177-3AD203B41FA5}">
                      <a16:colId xmlns:a16="http://schemas.microsoft.com/office/drawing/2014/main" val="694141146"/>
                    </a:ext>
                  </a:extLst>
                </a:gridCol>
              </a:tblGrid>
              <a:tr h="181491">
                <a:tc gridSpan="4"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HTM Train Data Reconstruction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8" marR="8128" marT="8128" marB="3898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2999228"/>
                  </a:ext>
                </a:extLst>
              </a:tr>
              <a:tr h="208715"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Input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8" marR="8128" marT="8128" marB="38989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Reconstructed Input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8" marR="8128" marT="8128" marB="38989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Internal Similarity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8" marR="8128" marT="8128" marB="38989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Percentage Similarity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8" marR="8128" marT="8128" marB="38989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1531227"/>
                  </a:ext>
                </a:extLst>
              </a:tr>
              <a:tr h="181491"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8" marR="8128" marT="8128" marB="38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8" marR="8128" marT="8128" marB="38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100.00%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8" marR="8128" marT="8128" marB="38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100.00%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8" marR="8128" marT="8128" marB="38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85203"/>
                  </a:ext>
                </a:extLst>
              </a:tr>
              <a:tr h="181491"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8" marR="8128" marT="8128" marB="38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8" marR="8128" marT="8128" marB="38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100.00%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8" marR="8128" marT="8128" marB="38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100.00%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8" marR="8128" marT="8128" marB="38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2196076"/>
                  </a:ext>
                </a:extLst>
              </a:tr>
              <a:tr h="181491"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8" marR="8128" marT="8128" marB="38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8" marR="8128" marT="8128" marB="38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100.00%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8" marR="8128" marT="8128" marB="38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100.00%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8" marR="8128" marT="8128" marB="38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9775969"/>
                  </a:ext>
                </a:extLst>
              </a:tr>
              <a:tr h="181491"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8" marR="8128" marT="8128" marB="38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8" marR="8128" marT="8128" marB="38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100.00%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8" marR="8128" marT="8128" marB="38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100.00%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8" marR="8128" marT="8128" marB="38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1265709"/>
                  </a:ext>
                </a:extLst>
              </a:tr>
              <a:tr h="181491"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8" marR="8128" marT="8128" marB="38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8" marR="8128" marT="8128" marB="38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100.00%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8" marR="8128" marT="8128" marB="38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100.00%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8" marR="8128" marT="8128" marB="38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393232"/>
                  </a:ext>
                </a:extLst>
              </a:tr>
              <a:tr h="181491"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8" marR="8128" marT="8128" marB="38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8" marR="8128" marT="8128" marB="38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100.00%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8" marR="8128" marT="8128" marB="38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100.00%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8" marR="8128" marT="8128" marB="38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4696379"/>
                  </a:ext>
                </a:extLst>
              </a:tr>
              <a:tr h="181491"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8" marR="8128" marT="8128" marB="38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8" marR="8128" marT="8128" marB="38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100.00%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8" marR="8128" marT="8128" marB="38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100.00%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8" marR="8128" marT="8128" marB="38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655301"/>
                  </a:ext>
                </a:extLst>
              </a:tr>
              <a:tr h="181491"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8" marR="8128" marT="8128" marB="38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8" marR="8128" marT="8128" marB="38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100.00%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8" marR="8128" marT="8128" marB="38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100.00%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8" marR="8128" marT="8128" marB="38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2264911"/>
                  </a:ext>
                </a:extLst>
              </a:tr>
              <a:tr h="181491"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8" marR="8128" marT="8128" marB="38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8" marR="8128" marT="8128" marB="38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100.00%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8" marR="8128" marT="8128" marB="38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100.00%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8" marR="8128" marT="8128" marB="38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0913415"/>
                  </a:ext>
                </a:extLst>
              </a:tr>
              <a:tr h="181491"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8" marR="8128" marT="8128" marB="38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8" marR="8128" marT="8128" marB="38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100.00%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8" marR="8128" marT="8128" marB="38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100.00%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8" marR="8128" marT="8128" marB="38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6764146"/>
                  </a:ext>
                </a:extLst>
              </a:tr>
              <a:tr h="181491"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8" marR="8128" marT="8128" marB="38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8" marR="8128" marT="8128" marB="38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100.00%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8" marR="8128" marT="8128" marB="38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100.00%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8" marR="8128" marT="8128" marB="38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9706164"/>
                  </a:ext>
                </a:extLst>
              </a:tr>
              <a:tr h="181491"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8" marR="8128" marT="8128" marB="38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8" marR="8128" marT="8128" marB="38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100.00%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8" marR="8128" marT="8128" marB="38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100.00%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8" marR="8128" marT="8128" marB="38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8453116"/>
                  </a:ext>
                </a:extLst>
              </a:tr>
              <a:tr h="181491"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8" marR="8128" marT="8128" marB="38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8" marR="8128" marT="8128" marB="38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100.00%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8" marR="8128" marT="8128" marB="38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100.00%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8" marR="8128" marT="8128" marB="38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929273"/>
                  </a:ext>
                </a:extLst>
              </a:tr>
              <a:tr h="181491"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8" marR="8128" marT="8128" marB="38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8" marR="8128" marT="8128" marB="38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100.00%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8" marR="8128" marT="8128" marB="38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100.00%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8" marR="8128" marT="8128" marB="38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0369674"/>
                  </a:ext>
                </a:extLst>
              </a:tr>
              <a:tr h="181491"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8" marR="8128" marT="8128" marB="38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8" marR="8128" marT="8128" marB="38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100.00%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8" marR="8128" marT="8128" marB="38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100.00%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8" marR="8128" marT="8128" marB="38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5136088"/>
                  </a:ext>
                </a:extLst>
              </a:tr>
              <a:tr h="181491"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8" marR="8128" marT="8128" marB="38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8" marR="8128" marT="8128" marB="38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100.00%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8" marR="8128" marT="8128" marB="38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100.00%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8" marR="8128" marT="8128" marB="38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7691404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E01FA0F-BB49-8852-F37F-00116D5D2A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273010"/>
              </p:ext>
            </p:extLst>
          </p:nvPr>
        </p:nvGraphicFramePr>
        <p:xfrm>
          <a:off x="1441174" y="1058517"/>
          <a:ext cx="2834801" cy="341771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10702">
                  <a:extLst>
                    <a:ext uri="{9D8B030D-6E8A-4147-A177-3AD203B41FA5}">
                      <a16:colId xmlns:a16="http://schemas.microsoft.com/office/drawing/2014/main" val="3952932480"/>
                    </a:ext>
                  </a:extLst>
                </a:gridCol>
                <a:gridCol w="888999">
                  <a:extLst>
                    <a:ext uri="{9D8B030D-6E8A-4147-A177-3AD203B41FA5}">
                      <a16:colId xmlns:a16="http://schemas.microsoft.com/office/drawing/2014/main" val="2608574296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2262731909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3390386704"/>
                    </a:ext>
                  </a:extLst>
                </a:gridCol>
              </a:tblGrid>
              <a:tr h="182393">
                <a:tc gridSpan="4"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KNN Train Data Reconstruction</a:t>
                      </a:r>
                      <a:endParaRPr lang="en-IN" sz="1800" b="0" i="0" u="none" strike="noStrike">
                        <a:effectLst/>
                        <a:latin typeface="Calibri"/>
                      </a:endParaRPr>
                    </a:p>
                  </a:txBody>
                  <a:tcPr marL="7747" marR="7747" marT="7747" marB="37338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3505992"/>
                  </a:ext>
                </a:extLst>
              </a:tr>
              <a:tr h="318389"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Input</a:t>
                      </a:r>
                      <a:endParaRPr lang="en-IN" sz="1800" b="0" i="0" u="none" strike="noStrike">
                        <a:effectLst/>
                        <a:latin typeface="Calibri"/>
                      </a:endParaRPr>
                    </a:p>
                  </a:txBody>
                  <a:tcPr marL="7747" marR="7747" marT="7747" marB="37338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Reconstructed Input</a:t>
                      </a:r>
                      <a:endParaRPr lang="en-IN" sz="1800" b="0" i="0" u="none" strike="noStrike">
                        <a:effectLst/>
                        <a:latin typeface="Calibri"/>
                      </a:endParaRPr>
                    </a:p>
                  </a:txBody>
                  <a:tcPr marL="7747" marR="7747" marT="7747" marB="37338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Internal Similarity</a:t>
                      </a:r>
                      <a:endParaRPr lang="en-IN" sz="1800" b="0" i="0" u="none" strike="noStrike">
                        <a:effectLst/>
                        <a:latin typeface="Calibri"/>
                      </a:endParaRPr>
                    </a:p>
                  </a:txBody>
                  <a:tcPr marL="7747" marR="7747" marT="7747" marB="37338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Percentage Similarity</a:t>
                      </a:r>
                      <a:endParaRPr lang="en-IN" sz="1800" b="0" i="0" u="none" strike="noStrike">
                        <a:effectLst/>
                        <a:latin typeface="Calibri"/>
                      </a:endParaRPr>
                    </a:p>
                  </a:txBody>
                  <a:tcPr marL="7747" marR="7747" marT="7747" marB="37338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5363573"/>
                  </a:ext>
                </a:extLst>
              </a:tr>
              <a:tr h="181737"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  <a:endParaRPr lang="en-IN" sz="1800" b="0" i="0" u="none" strike="noStrike">
                        <a:effectLst/>
                        <a:latin typeface="Calibri"/>
                      </a:endParaRPr>
                    </a:p>
                  </a:txBody>
                  <a:tcPr marL="7747" marR="7747" marT="7747" marB="37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  <a:endParaRPr lang="en-IN" sz="1800" b="0" i="0" u="none" strike="noStrike">
                        <a:effectLst/>
                        <a:latin typeface="Calibri"/>
                      </a:endParaRPr>
                    </a:p>
                  </a:txBody>
                  <a:tcPr marL="7747" marR="7747" marT="7747" marB="37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100.00%</a:t>
                      </a:r>
                      <a:endParaRPr lang="en-IN" sz="1800" b="0" i="0" u="none" strike="noStrike">
                        <a:effectLst/>
                        <a:latin typeface="Calibri"/>
                      </a:endParaRPr>
                    </a:p>
                  </a:txBody>
                  <a:tcPr marL="7747" marR="7747" marT="7747" marB="37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100.00%</a:t>
                      </a:r>
                      <a:endParaRPr lang="en-IN" sz="1800" b="0" i="0" u="none" strike="noStrike">
                        <a:effectLst/>
                        <a:latin typeface="Calibri"/>
                      </a:endParaRPr>
                    </a:p>
                  </a:txBody>
                  <a:tcPr marL="7747" marR="7747" marT="7747" marB="37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244448"/>
                  </a:ext>
                </a:extLst>
              </a:tr>
              <a:tr h="181737"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  <a:endParaRPr lang="en-IN" sz="1800" b="0" i="0" u="none" strike="noStrike">
                        <a:effectLst/>
                        <a:latin typeface="Calibri"/>
                      </a:endParaRPr>
                    </a:p>
                  </a:txBody>
                  <a:tcPr marL="7747" marR="7747" marT="7747" marB="37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  <a:endParaRPr lang="en-IN" sz="1800" b="0" i="0" u="none" strike="noStrike">
                        <a:effectLst/>
                        <a:latin typeface="Calibri"/>
                      </a:endParaRPr>
                    </a:p>
                  </a:txBody>
                  <a:tcPr marL="7747" marR="7747" marT="7747" marB="37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100.00%</a:t>
                      </a:r>
                      <a:endParaRPr lang="en-IN" sz="1800" b="0" i="0" u="none" strike="noStrike">
                        <a:effectLst/>
                        <a:latin typeface="Calibri"/>
                      </a:endParaRPr>
                    </a:p>
                  </a:txBody>
                  <a:tcPr marL="7747" marR="7747" marT="7747" marB="37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100.00%</a:t>
                      </a:r>
                      <a:endParaRPr lang="en-IN" sz="1800" b="0" i="0" u="none" strike="noStrike">
                        <a:effectLst/>
                        <a:latin typeface="Calibri"/>
                      </a:endParaRPr>
                    </a:p>
                  </a:txBody>
                  <a:tcPr marL="7747" marR="7747" marT="7747" marB="37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9149567"/>
                  </a:ext>
                </a:extLst>
              </a:tr>
              <a:tr h="181737"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</a:t>
                      </a:r>
                      <a:endParaRPr lang="en-IN" sz="1800" b="0" i="0" u="none" strike="noStrike">
                        <a:effectLst/>
                        <a:latin typeface="Calibri"/>
                      </a:endParaRPr>
                    </a:p>
                  </a:txBody>
                  <a:tcPr marL="7747" marR="7747" marT="7747" marB="37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</a:t>
                      </a:r>
                      <a:endParaRPr lang="en-IN" sz="1800" b="0" i="0" u="none" strike="noStrike">
                        <a:effectLst/>
                        <a:latin typeface="Calibri"/>
                      </a:endParaRPr>
                    </a:p>
                  </a:txBody>
                  <a:tcPr marL="7747" marR="7747" marT="7747" marB="37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100.00%</a:t>
                      </a:r>
                      <a:endParaRPr lang="en-IN" sz="1800" b="0" i="0" u="none" strike="noStrike">
                        <a:effectLst/>
                        <a:latin typeface="Calibri"/>
                      </a:endParaRPr>
                    </a:p>
                  </a:txBody>
                  <a:tcPr marL="7747" marR="7747" marT="7747" marB="37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100.00%</a:t>
                      </a:r>
                      <a:endParaRPr lang="en-IN" sz="1800" b="0" i="0" u="none" strike="noStrike">
                        <a:effectLst/>
                        <a:latin typeface="Calibri"/>
                      </a:endParaRPr>
                    </a:p>
                  </a:txBody>
                  <a:tcPr marL="7747" marR="7747" marT="7747" marB="37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4275864"/>
                  </a:ext>
                </a:extLst>
              </a:tr>
              <a:tr h="181737"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</a:t>
                      </a:r>
                      <a:endParaRPr lang="en-IN" sz="1800" b="0" i="0" u="none" strike="noStrike">
                        <a:effectLst/>
                        <a:latin typeface="Calibri"/>
                      </a:endParaRPr>
                    </a:p>
                  </a:txBody>
                  <a:tcPr marL="7747" marR="7747" marT="7747" marB="37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</a:t>
                      </a:r>
                      <a:endParaRPr lang="en-IN" sz="1800" b="0" i="0" u="none" strike="noStrike">
                        <a:effectLst/>
                        <a:latin typeface="Calibri"/>
                      </a:endParaRPr>
                    </a:p>
                  </a:txBody>
                  <a:tcPr marL="7747" marR="7747" marT="7747" marB="37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100.00%</a:t>
                      </a:r>
                      <a:endParaRPr lang="en-IN" sz="1800" b="0" i="0" u="none" strike="noStrike">
                        <a:effectLst/>
                        <a:latin typeface="Calibri"/>
                      </a:endParaRPr>
                    </a:p>
                  </a:txBody>
                  <a:tcPr marL="7747" marR="7747" marT="7747" marB="37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100.00%</a:t>
                      </a:r>
                      <a:endParaRPr lang="en-IN" sz="1800" b="0" i="0" u="none" strike="noStrike">
                        <a:effectLst/>
                        <a:latin typeface="Calibri"/>
                      </a:endParaRPr>
                    </a:p>
                  </a:txBody>
                  <a:tcPr marL="7747" marR="7747" marT="7747" marB="37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3777936"/>
                  </a:ext>
                </a:extLst>
              </a:tr>
              <a:tr h="181737"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</a:t>
                      </a:r>
                      <a:endParaRPr lang="en-IN" sz="1800" b="0" i="0" u="none" strike="noStrike">
                        <a:effectLst/>
                        <a:latin typeface="Calibri"/>
                      </a:endParaRPr>
                    </a:p>
                  </a:txBody>
                  <a:tcPr marL="7747" marR="7747" marT="7747" marB="37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</a:t>
                      </a:r>
                      <a:endParaRPr lang="en-IN" sz="1800" b="0" i="0" u="none" strike="noStrike">
                        <a:effectLst/>
                        <a:latin typeface="Calibri"/>
                      </a:endParaRPr>
                    </a:p>
                  </a:txBody>
                  <a:tcPr marL="7747" marR="7747" marT="7747" marB="37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100.00%</a:t>
                      </a:r>
                      <a:endParaRPr lang="en-IN" sz="1800" b="0" i="0" u="none" strike="noStrike">
                        <a:effectLst/>
                        <a:latin typeface="Calibri"/>
                      </a:endParaRPr>
                    </a:p>
                  </a:txBody>
                  <a:tcPr marL="7747" marR="7747" marT="7747" marB="37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100.00%</a:t>
                      </a:r>
                      <a:endParaRPr lang="en-IN" sz="1800" b="0" i="0" u="none" strike="noStrike">
                        <a:effectLst/>
                        <a:latin typeface="Calibri"/>
                      </a:endParaRPr>
                    </a:p>
                  </a:txBody>
                  <a:tcPr marL="7747" marR="7747" marT="7747" marB="37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1753879"/>
                  </a:ext>
                </a:extLst>
              </a:tr>
              <a:tr h="181737"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</a:t>
                      </a:r>
                      <a:endParaRPr lang="en-IN" sz="1800" b="0" i="0" u="none" strike="noStrike">
                        <a:effectLst/>
                        <a:latin typeface="Calibri"/>
                      </a:endParaRPr>
                    </a:p>
                  </a:txBody>
                  <a:tcPr marL="7747" marR="7747" marT="7747" marB="37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</a:t>
                      </a:r>
                      <a:endParaRPr lang="en-IN" sz="1800" b="0" i="0" u="none" strike="noStrike">
                        <a:effectLst/>
                        <a:latin typeface="Calibri"/>
                      </a:endParaRPr>
                    </a:p>
                  </a:txBody>
                  <a:tcPr marL="7747" marR="7747" marT="7747" marB="37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100.00%</a:t>
                      </a:r>
                      <a:endParaRPr lang="en-IN" sz="1800" b="0" i="0" u="none" strike="noStrike">
                        <a:effectLst/>
                        <a:latin typeface="Calibri"/>
                      </a:endParaRPr>
                    </a:p>
                  </a:txBody>
                  <a:tcPr marL="7747" marR="7747" marT="7747" marB="37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100.00%</a:t>
                      </a:r>
                      <a:endParaRPr lang="en-IN" sz="1800" b="0" i="0" u="none" strike="noStrike">
                        <a:effectLst/>
                        <a:latin typeface="Calibri"/>
                      </a:endParaRPr>
                    </a:p>
                  </a:txBody>
                  <a:tcPr marL="7747" marR="7747" marT="7747" marB="37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4205005"/>
                  </a:ext>
                </a:extLst>
              </a:tr>
              <a:tr h="181737"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</a:t>
                      </a:r>
                      <a:endParaRPr lang="en-IN" sz="1800" b="0" i="0" u="none" strike="noStrike">
                        <a:effectLst/>
                        <a:latin typeface="Calibri"/>
                      </a:endParaRPr>
                    </a:p>
                  </a:txBody>
                  <a:tcPr marL="7747" marR="7747" marT="7747" marB="37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</a:t>
                      </a:r>
                      <a:endParaRPr lang="en-IN" sz="1800" b="0" i="0" u="none" strike="noStrike">
                        <a:effectLst/>
                        <a:latin typeface="Calibri"/>
                      </a:endParaRPr>
                    </a:p>
                  </a:txBody>
                  <a:tcPr marL="7747" marR="7747" marT="7747" marB="37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100.00%</a:t>
                      </a:r>
                      <a:endParaRPr lang="en-IN" sz="1800" b="0" i="0" u="none" strike="noStrike">
                        <a:effectLst/>
                        <a:latin typeface="Calibri"/>
                      </a:endParaRPr>
                    </a:p>
                  </a:txBody>
                  <a:tcPr marL="7747" marR="7747" marT="7747" marB="37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100.00%</a:t>
                      </a:r>
                      <a:endParaRPr lang="en-IN" sz="1800" b="0" i="0" u="none" strike="noStrike">
                        <a:effectLst/>
                        <a:latin typeface="Calibri"/>
                      </a:endParaRPr>
                    </a:p>
                  </a:txBody>
                  <a:tcPr marL="7747" marR="7747" marT="7747" marB="37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5046159"/>
                  </a:ext>
                </a:extLst>
              </a:tr>
              <a:tr h="181737"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</a:t>
                      </a:r>
                      <a:endParaRPr lang="en-IN" sz="1800" b="0" i="0" u="none" strike="noStrike">
                        <a:effectLst/>
                        <a:latin typeface="Calibri"/>
                      </a:endParaRPr>
                    </a:p>
                  </a:txBody>
                  <a:tcPr marL="7747" marR="7747" marT="7747" marB="37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</a:t>
                      </a:r>
                      <a:endParaRPr lang="en-IN" sz="1800" b="0" i="0" u="none" strike="noStrike">
                        <a:effectLst/>
                        <a:latin typeface="Calibri"/>
                      </a:endParaRPr>
                    </a:p>
                  </a:txBody>
                  <a:tcPr marL="7747" marR="7747" marT="7747" marB="37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100.00%</a:t>
                      </a:r>
                      <a:endParaRPr lang="en-IN" sz="1800" b="0" i="0" u="none" strike="noStrike">
                        <a:effectLst/>
                        <a:latin typeface="Calibri"/>
                      </a:endParaRPr>
                    </a:p>
                  </a:txBody>
                  <a:tcPr marL="7747" marR="7747" marT="7747" marB="37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100.00%</a:t>
                      </a:r>
                      <a:endParaRPr lang="en-IN" sz="1800" b="0" i="0" u="none" strike="noStrike">
                        <a:effectLst/>
                        <a:latin typeface="Calibri"/>
                      </a:endParaRPr>
                    </a:p>
                  </a:txBody>
                  <a:tcPr marL="7747" marR="7747" marT="7747" marB="37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073919"/>
                  </a:ext>
                </a:extLst>
              </a:tr>
              <a:tr h="181737"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</a:t>
                      </a:r>
                      <a:endParaRPr lang="en-IN" sz="1800" b="0" i="0" u="none" strike="noStrike">
                        <a:effectLst/>
                        <a:latin typeface="Calibri"/>
                      </a:endParaRPr>
                    </a:p>
                  </a:txBody>
                  <a:tcPr marL="7747" marR="7747" marT="7747" marB="37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</a:t>
                      </a:r>
                      <a:endParaRPr lang="en-IN" sz="1800" b="0" i="0" u="none" strike="noStrike">
                        <a:effectLst/>
                        <a:latin typeface="Calibri"/>
                      </a:endParaRPr>
                    </a:p>
                  </a:txBody>
                  <a:tcPr marL="7747" marR="7747" marT="7747" marB="37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100.00%</a:t>
                      </a:r>
                      <a:endParaRPr lang="en-IN" sz="1800" b="0" i="0" u="none" strike="noStrike">
                        <a:effectLst/>
                        <a:latin typeface="Calibri"/>
                      </a:endParaRPr>
                    </a:p>
                  </a:txBody>
                  <a:tcPr marL="7747" marR="7747" marT="7747" marB="37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100.00%</a:t>
                      </a:r>
                      <a:endParaRPr lang="en-IN" sz="1800" b="0" i="0" u="none" strike="noStrike">
                        <a:effectLst/>
                        <a:latin typeface="Calibri"/>
                      </a:endParaRPr>
                    </a:p>
                  </a:txBody>
                  <a:tcPr marL="7747" marR="7747" marT="7747" marB="37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8081481"/>
                  </a:ext>
                </a:extLst>
              </a:tr>
              <a:tr h="181737"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</a:t>
                      </a:r>
                      <a:endParaRPr lang="en-IN" sz="1800" b="0" i="0" u="none" strike="noStrike">
                        <a:effectLst/>
                        <a:latin typeface="Calibri"/>
                      </a:endParaRPr>
                    </a:p>
                  </a:txBody>
                  <a:tcPr marL="7747" marR="7747" marT="7747" marB="37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</a:t>
                      </a:r>
                      <a:endParaRPr lang="en-IN" sz="1800" b="0" i="0" u="none" strike="noStrike">
                        <a:effectLst/>
                        <a:latin typeface="Calibri"/>
                      </a:endParaRPr>
                    </a:p>
                  </a:txBody>
                  <a:tcPr marL="7747" marR="7747" marT="7747" marB="37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100.00%</a:t>
                      </a:r>
                      <a:endParaRPr lang="en-IN" sz="1800" b="0" i="0" u="none" strike="noStrike">
                        <a:effectLst/>
                        <a:latin typeface="Calibri"/>
                      </a:endParaRPr>
                    </a:p>
                  </a:txBody>
                  <a:tcPr marL="7747" marR="7747" marT="7747" marB="37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100.00%</a:t>
                      </a:r>
                      <a:endParaRPr lang="en-IN" sz="1800" b="0" i="0" u="none" strike="noStrike">
                        <a:effectLst/>
                        <a:latin typeface="Calibri"/>
                      </a:endParaRPr>
                    </a:p>
                  </a:txBody>
                  <a:tcPr marL="7747" marR="7747" marT="7747" marB="37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992957"/>
                  </a:ext>
                </a:extLst>
              </a:tr>
              <a:tr h="181737"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</a:t>
                      </a:r>
                      <a:endParaRPr lang="en-IN" sz="1800" b="0" i="0" u="none" strike="noStrike">
                        <a:effectLst/>
                        <a:latin typeface="Calibri"/>
                      </a:endParaRPr>
                    </a:p>
                  </a:txBody>
                  <a:tcPr marL="7747" marR="7747" marT="7747" marB="37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</a:t>
                      </a:r>
                      <a:endParaRPr lang="en-IN" sz="1800" b="0" i="0" u="none" strike="noStrike">
                        <a:effectLst/>
                        <a:latin typeface="Calibri"/>
                      </a:endParaRPr>
                    </a:p>
                  </a:txBody>
                  <a:tcPr marL="7747" marR="7747" marT="7747" marB="37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100.00%</a:t>
                      </a:r>
                      <a:endParaRPr lang="en-IN" sz="1800" b="0" i="0" u="none" strike="noStrike">
                        <a:effectLst/>
                        <a:latin typeface="Calibri"/>
                      </a:endParaRPr>
                    </a:p>
                  </a:txBody>
                  <a:tcPr marL="7747" marR="7747" marT="7747" marB="37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100.00%</a:t>
                      </a:r>
                      <a:endParaRPr lang="en-IN" sz="1800" b="0" i="0" u="none" strike="noStrike">
                        <a:effectLst/>
                        <a:latin typeface="Calibri"/>
                      </a:endParaRPr>
                    </a:p>
                  </a:txBody>
                  <a:tcPr marL="7747" marR="7747" marT="7747" marB="37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7110203"/>
                  </a:ext>
                </a:extLst>
              </a:tr>
              <a:tr h="181737"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15</a:t>
                      </a:r>
                      <a:endParaRPr lang="en-IN" sz="1800" b="0" i="0" u="none" strike="noStrike">
                        <a:effectLst/>
                        <a:latin typeface="Calibri"/>
                      </a:endParaRPr>
                    </a:p>
                  </a:txBody>
                  <a:tcPr marL="7747" marR="7747" marT="7747" marB="37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15</a:t>
                      </a:r>
                      <a:endParaRPr lang="en-IN" sz="1800" b="0" i="0" u="none" strike="noStrike">
                        <a:effectLst/>
                        <a:latin typeface="Calibri"/>
                      </a:endParaRPr>
                    </a:p>
                  </a:txBody>
                  <a:tcPr marL="7747" marR="7747" marT="7747" marB="37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100.00%</a:t>
                      </a:r>
                      <a:endParaRPr lang="en-IN" sz="1800" b="0" i="0" u="none" strike="noStrike">
                        <a:effectLst/>
                        <a:latin typeface="Calibri"/>
                      </a:endParaRPr>
                    </a:p>
                  </a:txBody>
                  <a:tcPr marL="7747" marR="7747" marT="7747" marB="37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100.00%</a:t>
                      </a:r>
                      <a:endParaRPr lang="en-IN" sz="1800" b="0" i="0" u="none" strike="noStrike">
                        <a:effectLst/>
                        <a:latin typeface="Calibri"/>
                      </a:endParaRPr>
                    </a:p>
                  </a:txBody>
                  <a:tcPr marL="7747" marR="7747" marT="7747" marB="37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4848404"/>
                  </a:ext>
                </a:extLst>
              </a:tr>
              <a:tr h="181737"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</a:t>
                      </a:r>
                      <a:endParaRPr lang="en-IN" sz="1800" b="0" i="0" u="none" strike="noStrike">
                        <a:effectLst/>
                        <a:latin typeface="Calibri"/>
                      </a:endParaRPr>
                    </a:p>
                  </a:txBody>
                  <a:tcPr marL="7747" marR="7747" marT="7747" marB="37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</a:t>
                      </a:r>
                      <a:endParaRPr lang="en-IN" sz="1800" b="0" i="0" u="none" strike="noStrike">
                        <a:effectLst/>
                        <a:latin typeface="Calibri"/>
                      </a:endParaRPr>
                    </a:p>
                  </a:txBody>
                  <a:tcPr marL="7747" marR="7747" marT="7747" marB="37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100.00%</a:t>
                      </a:r>
                      <a:endParaRPr lang="en-IN" sz="1800" b="0" i="0" u="none" strike="noStrike">
                        <a:effectLst/>
                        <a:latin typeface="Calibri"/>
                      </a:endParaRPr>
                    </a:p>
                  </a:txBody>
                  <a:tcPr marL="7747" marR="7747" marT="7747" marB="37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100.00%</a:t>
                      </a:r>
                      <a:endParaRPr lang="en-IN" sz="1800" b="0" i="0" u="none" strike="noStrike">
                        <a:effectLst/>
                        <a:latin typeface="Calibri"/>
                      </a:endParaRPr>
                    </a:p>
                  </a:txBody>
                  <a:tcPr marL="7747" marR="7747" marT="7747" marB="37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5629547"/>
                  </a:ext>
                </a:extLst>
              </a:tr>
              <a:tr h="181737"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18</a:t>
                      </a:r>
                      <a:endParaRPr lang="en-IN" sz="1800" b="0" i="0" u="none" strike="noStrike">
                        <a:effectLst/>
                        <a:latin typeface="Calibri"/>
                      </a:endParaRPr>
                    </a:p>
                  </a:txBody>
                  <a:tcPr marL="7747" marR="7747" marT="7747" marB="37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18</a:t>
                      </a:r>
                      <a:endParaRPr lang="en-IN" sz="1800" b="0" i="0" u="none" strike="noStrike">
                        <a:effectLst/>
                        <a:latin typeface="Calibri"/>
                      </a:endParaRPr>
                    </a:p>
                  </a:txBody>
                  <a:tcPr marL="7747" marR="7747" marT="7747" marB="37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100.00%</a:t>
                      </a:r>
                      <a:endParaRPr lang="en-IN" sz="1800" b="0" i="0" u="none" strike="noStrike">
                        <a:effectLst/>
                        <a:latin typeface="Calibri"/>
                      </a:endParaRPr>
                    </a:p>
                  </a:txBody>
                  <a:tcPr marL="7747" marR="7747" marT="7747" marB="37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100.00%</a:t>
                      </a:r>
                      <a:endParaRPr lang="en-IN" sz="1800" b="0" i="0" u="none" strike="noStrike">
                        <a:effectLst/>
                        <a:latin typeface="Calibri"/>
                      </a:endParaRPr>
                    </a:p>
                  </a:txBody>
                  <a:tcPr marL="7747" marR="7747" marT="7747" marB="37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759792"/>
                  </a:ext>
                </a:extLst>
              </a:tr>
              <a:tr h="181737"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19</a:t>
                      </a:r>
                      <a:endParaRPr lang="en-IN" sz="1800" b="0" i="0" u="none" strike="noStrike">
                        <a:effectLst/>
                        <a:latin typeface="Calibri"/>
                      </a:endParaRPr>
                    </a:p>
                  </a:txBody>
                  <a:tcPr marL="7747" marR="7747" marT="7747" marB="37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19</a:t>
                      </a:r>
                      <a:endParaRPr lang="en-IN" sz="1800" b="0" i="0" u="none" strike="noStrike">
                        <a:effectLst/>
                        <a:latin typeface="Calibri"/>
                      </a:endParaRPr>
                    </a:p>
                  </a:txBody>
                  <a:tcPr marL="7747" marR="7747" marT="7747" marB="37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100.00%</a:t>
                      </a:r>
                      <a:endParaRPr lang="en-IN" sz="1800" b="0" i="0" u="none" strike="noStrike">
                        <a:effectLst/>
                        <a:latin typeface="Calibri"/>
                      </a:endParaRPr>
                    </a:p>
                  </a:txBody>
                  <a:tcPr marL="7747" marR="7747" marT="7747" marB="37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100.00%</a:t>
                      </a:r>
                      <a:endParaRPr lang="en-IN" sz="1800" b="0" i="0" u="none" strike="noStrike">
                        <a:effectLst/>
                        <a:latin typeface="Calibri"/>
                      </a:endParaRPr>
                    </a:p>
                  </a:txBody>
                  <a:tcPr marL="7747" marR="7747" marT="7747" marB="37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4368432"/>
                  </a:ext>
                </a:extLst>
              </a:tr>
              <a:tr h="181737"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</a:t>
                      </a:r>
                      <a:endParaRPr lang="en-IN" sz="1800" b="0" i="0" u="none" strike="noStrike">
                        <a:effectLst/>
                        <a:latin typeface="Calibri"/>
                      </a:endParaRPr>
                    </a:p>
                  </a:txBody>
                  <a:tcPr marL="7747" marR="7747" marT="7747" marB="37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</a:t>
                      </a:r>
                      <a:endParaRPr lang="en-IN" sz="1800" b="0" i="0" u="none" strike="noStrike">
                        <a:effectLst/>
                        <a:latin typeface="Calibri"/>
                      </a:endParaRPr>
                    </a:p>
                  </a:txBody>
                  <a:tcPr marL="7747" marR="7747" marT="7747" marB="37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100.00%</a:t>
                      </a:r>
                      <a:endParaRPr lang="en-IN" sz="1800" b="0" i="0" u="none" strike="noStrike">
                        <a:effectLst/>
                        <a:latin typeface="Calibri"/>
                      </a:endParaRPr>
                    </a:p>
                  </a:txBody>
                  <a:tcPr marL="7747" marR="7747" marT="7747" marB="37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100.00%</a:t>
                      </a:r>
                      <a:endParaRPr lang="en-IN" sz="1800" b="0" i="0" u="none" strike="noStrike">
                        <a:effectLst/>
                        <a:latin typeface="Calibri"/>
                      </a:endParaRPr>
                    </a:p>
                  </a:txBody>
                  <a:tcPr marL="7747" marR="7747" marT="7747" marB="37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45059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85299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05963-48AB-A4DE-9D69-99626C23B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47;p23">
            <a:extLst>
              <a:ext uri="{FF2B5EF4-FFF2-40B4-BE49-F238E27FC236}">
                <a16:creationId xmlns:a16="http://schemas.microsoft.com/office/drawing/2014/main" id="{45407516-E70A-E224-6304-D4870A3325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>
                <a:latin typeface="Nunito"/>
              </a:rPr>
              <a:t>Train Data Reconstruction Results</a:t>
            </a:r>
            <a:endParaRPr lang="en-US">
              <a:latin typeface="Nunito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6F47A6-C35E-75AA-8B05-64EEFC2518CB}"/>
              </a:ext>
            </a:extLst>
          </p:cNvPr>
          <p:cNvSpPr txBox="1"/>
          <p:nvPr/>
        </p:nvSpPr>
        <p:spPr>
          <a:xfrm>
            <a:off x="1305555" y="1148794"/>
            <a:ext cx="472858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200" i="1">
                <a:solidFill>
                  <a:schemeClr val="bg2"/>
                </a:solidFill>
                <a:latin typeface="Inter"/>
              </a:rPr>
              <a:t>Train Data Reconstruction: Perfect Memory vs Learning?</a:t>
            </a:r>
            <a:endParaRPr lang="en-US">
              <a:solidFill>
                <a:schemeClr val="bg2"/>
              </a:solidFill>
            </a:endParaRPr>
          </a:p>
        </p:txBody>
      </p:sp>
      <p:pic>
        <p:nvPicPr>
          <p:cNvPr id="3" name="Picture 2" descr="A graph with red and blue lines&#10;&#10;AI-generated content may be incorrect.">
            <a:extLst>
              <a:ext uri="{FF2B5EF4-FFF2-40B4-BE49-F238E27FC236}">
                <a16:creationId xmlns:a16="http://schemas.microsoft.com/office/drawing/2014/main" id="{4F536E53-04DC-81D6-AACD-CDBE4290F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5454" y="1579143"/>
            <a:ext cx="2749778" cy="194462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4" name="Picture 3" descr="A graph with red dots&#10;&#10;AI-generated content may be incorrect.">
            <a:extLst>
              <a:ext uri="{FF2B5EF4-FFF2-40B4-BE49-F238E27FC236}">
                <a16:creationId xmlns:a16="http://schemas.microsoft.com/office/drawing/2014/main" id="{4C4F293B-A173-17F0-540F-32132CB555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519" y="1638735"/>
            <a:ext cx="2563464" cy="186995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Picture 5" descr="A graph with blue dots&#10;&#10;AI-generated content may be incorrect.">
            <a:extLst>
              <a:ext uri="{FF2B5EF4-FFF2-40B4-BE49-F238E27FC236}">
                <a16:creationId xmlns:a16="http://schemas.microsoft.com/office/drawing/2014/main" id="{D5BA42BD-9DA1-8B78-1C55-8CB3A55AB3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2462" y="1573433"/>
            <a:ext cx="2570090" cy="195500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08DD41F-A830-9508-0B3E-B4AE90701D86}"/>
              </a:ext>
            </a:extLst>
          </p:cNvPr>
          <p:cNvSpPr txBox="1"/>
          <p:nvPr/>
        </p:nvSpPr>
        <p:spPr>
          <a:xfrm>
            <a:off x="360947" y="3759868"/>
            <a:ext cx="821155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har char="•"/>
            </a:pPr>
            <a:r>
              <a:rPr lang="en-GB" sz="1200">
                <a:solidFill>
                  <a:schemeClr val="bg2"/>
                </a:solidFill>
                <a:latin typeface="Inter"/>
              </a:rPr>
              <a:t>Both models achieved 100% accuracy on training data. They memorized the inputs perfectly!</a:t>
            </a:r>
            <a:endParaRPr lang="en-US">
              <a:solidFill>
                <a:schemeClr val="bg2"/>
              </a:solidFill>
            </a:endParaRPr>
          </a:p>
          <a:p>
            <a:pPr marL="285750" indent="-285750">
              <a:buChar char="•"/>
            </a:pPr>
            <a:r>
              <a:rPr lang="en-GB" sz="1200">
                <a:solidFill>
                  <a:schemeClr val="bg2"/>
                </a:solidFill>
                <a:latin typeface="Inter"/>
              </a:rPr>
              <a:t>All dots lie perfectly on the y=x line – no errors. Both models regurgitated memorized data flawlessly.</a:t>
            </a:r>
          </a:p>
          <a:p>
            <a:pPr marL="285750" indent="-285750">
              <a:buChar char="•"/>
            </a:pPr>
            <a:endParaRPr lang="en-GB" sz="1200">
              <a:solidFill>
                <a:schemeClr val="bg2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303300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>
          <a:extLst>
            <a:ext uri="{FF2B5EF4-FFF2-40B4-BE49-F238E27FC236}">
              <a16:creationId xmlns:a16="http://schemas.microsoft.com/office/drawing/2014/main" id="{DBC483E0-256F-7BE1-80DA-E1C430BA4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>
            <a:extLst>
              <a:ext uri="{FF2B5EF4-FFF2-40B4-BE49-F238E27FC236}">
                <a16:creationId xmlns:a16="http://schemas.microsoft.com/office/drawing/2014/main" id="{17726AE5-E049-A7D3-8C22-7BAEA2483F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62425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>
                <a:latin typeface="Nunito"/>
              </a:rPr>
              <a:t>Discussion of results</a:t>
            </a:r>
            <a:endParaRPr lang="en-US"/>
          </a:p>
        </p:txBody>
      </p:sp>
      <p:sp>
        <p:nvSpPr>
          <p:cNvPr id="7" name="Google Shape;284;p14">
            <a:extLst>
              <a:ext uri="{FF2B5EF4-FFF2-40B4-BE49-F238E27FC236}">
                <a16:creationId xmlns:a16="http://schemas.microsoft.com/office/drawing/2014/main" id="{36AAF76D-2509-B43F-4863-316CAF4F4A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302674" y="1351021"/>
            <a:ext cx="7033155" cy="379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114999"/>
              </a:lnSpc>
            </a:pPr>
            <a:r>
              <a:rPr lang="en-GB" b="1">
                <a:solidFill>
                  <a:srgbClr val="202124"/>
                </a:solidFill>
                <a:cs typeface="Arial"/>
              </a:rPr>
              <a:t>SDR Stability &amp; Temporal Context:</a:t>
            </a:r>
            <a:r>
              <a:rPr lang="en-GB">
                <a:solidFill>
                  <a:srgbClr val="202124"/>
                </a:solidFill>
                <a:cs typeface="Arial"/>
              </a:rPr>
              <a:t> HTM leverages stable SDRs generated by the Spatial Pooler and temporal sequences, enabling accurate reconstruction of sequential patterns. KNN lacks temporal context, making it less effective for ordered inputs.</a:t>
            </a:r>
            <a:endParaRPr lang="en-GB">
              <a:solidFill>
                <a:srgbClr val="424242"/>
              </a:solidFill>
              <a:cs typeface="Arial"/>
            </a:endParaRPr>
          </a:p>
          <a:p>
            <a:pPr marL="285750" indent="-285750">
              <a:lnSpc>
                <a:spcPct val="114999"/>
              </a:lnSpc>
            </a:pPr>
            <a:r>
              <a:rPr lang="en-GB" b="1">
                <a:solidFill>
                  <a:srgbClr val="202124"/>
                </a:solidFill>
                <a:cs typeface="Arial"/>
              </a:rPr>
              <a:t>Scalability vs. Precision:</a:t>
            </a:r>
            <a:r>
              <a:rPr lang="en-GB">
                <a:solidFill>
                  <a:srgbClr val="202124"/>
                </a:solidFill>
                <a:cs typeface="Arial"/>
              </a:rPr>
              <a:t> KNN provides fast, instance-based predictions but struggles with sparse or unseen SDRs. HTM’s adaptive learning improves precision for structured data but requires more training cycles.</a:t>
            </a:r>
            <a:endParaRPr lang="en-GB">
              <a:solidFill>
                <a:srgbClr val="424242"/>
              </a:solidFill>
              <a:cs typeface="Arial"/>
            </a:endParaRPr>
          </a:p>
          <a:p>
            <a:pPr marL="285750" indent="-285750">
              <a:lnSpc>
                <a:spcPct val="114999"/>
              </a:lnSpc>
            </a:pPr>
            <a:r>
              <a:rPr lang="en-GB" b="1">
                <a:solidFill>
                  <a:srgbClr val="202124"/>
                </a:solidFill>
                <a:cs typeface="Arial"/>
              </a:rPr>
              <a:t>Data Distribution Sensitivity:</a:t>
            </a:r>
            <a:r>
              <a:rPr lang="en-GB">
                <a:solidFill>
                  <a:srgbClr val="202124"/>
                </a:solidFill>
                <a:cs typeface="Arial"/>
              </a:rPr>
              <a:t> KNN’s accuracy drops for inputs in underrepresented regions (e.g., edge values like 1.0), while HTM generalizes better due to sequence learning.</a:t>
            </a:r>
          </a:p>
          <a:p>
            <a:pPr marL="285750" indent="-285750">
              <a:lnSpc>
                <a:spcPct val="114999"/>
              </a:lnSpc>
            </a:pPr>
            <a:endParaRPr lang="en-GB">
              <a:solidFill>
                <a:srgbClr val="202124"/>
              </a:solidFill>
              <a:cs typeface="Arial"/>
            </a:endParaRPr>
          </a:p>
          <a:p>
            <a:pPr marL="285750" indent="-285750">
              <a:lnSpc>
                <a:spcPct val="114999"/>
              </a:lnSpc>
            </a:pPr>
            <a:r>
              <a:rPr lang="en-GB" b="1">
                <a:solidFill>
                  <a:srgbClr val="202124"/>
                </a:solidFill>
                <a:cs typeface="Arial"/>
              </a:rPr>
              <a:t>HTM:</a:t>
            </a:r>
            <a:r>
              <a:rPr lang="en-GB">
                <a:solidFill>
                  <a:srgbClr val="202124"/>
                </a:solidFill>
                <a:cs typeface="Arial"/>
              </a:rPr>
              <a:t> Performs better for sequential and structured data</a:t>
            </a:r>
            <a:endParaRPr lang="en-GB">
              <a:solidFill>
                <a:srgbClr val="C0791B"/>
              </a:solidFill>
              <a:cs typeface="Arial"/>
            </a:endParaRPr>
          </a:p>
          <a:p>
            <a:pPr marL="285750" indent="-285750">
              <a:lnSpc>
                <a:spcPct val="114999"/>
              </a:lnSpc>
            </a:pPr>
            <a:r>
              <a:rPr lang="en-GB" b="1">
                <a:solidFill>
                  <a:srgbClr val="202124"/>
                </a:solidFill>
                <a:cs typeface="Arial"/>
              </a:rPr>
              <a:t>KNN:</a:t>
            </a:r>
            <a:r>
              <a:rPr lang="en-GB">
                <a:solidFill>
                  <a:srgbClr val="202124"/>
                </a:solidFill>
                <a:cs typeface="Arial"/>
              </a:rPr>
              <a:t> Works well for classification but less effective for reconstruction</a:t>
            </a:r>
            <a:endParaRPr lang="en-GB">
              <a:solidFill>
                <a:srgbClr val="C0791B"/>
              </a:solidFill>
              <a:cs typeface="Arial"/>
            </a:endParaRPr>
          </a:p>
          <a:p>
            <a:pPr marL="285750" indent="-285750">
              <a:lnSpc>
                <a:spcPct val="114999"/>
              </a:lnSpc>
            </a:pPr>
            <a:r>
              <a:rPr lang="en-GB" b="1">
                <a:solidFill>
                  <a:srgbClr val="202124"/>
                </a:solidFill>
                <a:cs typeface="Arial"/>
              </a:rPr>
              <a:t>Conclusion:</a:t>
            </a:r>
            <a:r>
              <a:rPr lang="en-GB">
                <a:solidFill>
                  <a:srgbClr val="202124"/>
                </a:solidFill>
                <a:cs typeface="Arial"/>
              </a:rPr>
              <a:t> Choice of classifier depends on dataset characteristics</a:t>
            </a:r>
            <a:endParaRPr lang="en-GB">
              <a:solidFill>
                <a:srgbClr val="C0791B"/>
              </a:solidFill>
              <a:cs typeface="Arial"/>
            </a:endParaRPr>
          </a:p>
          <a:p>
            <a:pPr marL="0" indent="0">
              <a:lnSpc>
                <a:spcPct val="114999"/>
              </a:lnSpc>
              <a:buNone/>
            </a:pPr>
            <a:endParaRPr lang="en-GB">
              <a:solidFill>
                <a:srgbClr val="262626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310991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>
          <a:extLst>
            <a:ext uri="{FF2B5EF4-FFF2-40B4-BE49-F238E27FC236}">
              <a16:creationId xmlns:a16="http://schemas.microsoft.com/office/drawing/2014/main" id="{AEEF3347-B185-D8E9-D16B-E42C9F2D3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6">
            <a:extLst>
              <a:ext uri="{FF2B5EF4-FFF2-40B4-BE49-F238E27FC236}">
                <a16:creationId xmlns:a16="http://schemas.microsoft.com/office/drawing/2014/main" id="{83D6AEE9-EDD5-1AE2-5997-1BDC031EE6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</a:rPr>
              <a:t>Conclusion</a:t>
            </a:r>
            <a:endParaRPr lang="en-US">
              <a:latin typeface="Nunito"/>
            </a:endParaRPr>
          </a:p>
        </p:txBody>
      </p:sp>
      <p:sp>
        <p:nvSpPr>
          <p:cNvPr id="12" name="Google Shape;284;p14">
            <a:extLst>
              <a:ext uri="{FF2B5EF4-FFF2-40B4-BE49-F238E27FC236}">
                <a16:creationId xmlns:a16="http://schemas.microsoft.com/office/drawing/2014/main" id="{1BB5F519-2071-C361-047D-5E40E90857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302674" y="1351021"/>
            <a:ext cx="7033155" cy="379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14999"/>
              </a:lnSpc>
              <a:buNone/>
            </a:pPr>
            <a:r>
              <a:rPr lang="en-GB" sz="1500" b="1">
                <a:solidFill>
                  <a:srgbClr val="262626"/>
                </a:solidFill>
                <a:cs typeface="Arial"/>
              </a:rPr>
              <a:t>What We Achieve:</a:t>
            </a:r>
            <a:endParaRPr lang="en-US"/>
          </a:p>
          <a:p>
            <a:pPr>
              <a:lnSpc>
                <a:spcPct val="114999"/>
              </a:lnSpc>
            </a:pPr>
            <a:r>
              <a:rPr lang="en-GB" b="1">
                <a:solidFill>
                  <a:srgbClr val="262626"/>
                </a:solidFill>
                <a:cs typeface="Arial"/>
              </a:rPr>
              <a:t>Input Reconstruction:</a:t>
            </a:r>
            <a:r>
              <a:rPr lang="en-GB">
                <a:solidFill>
                  <a:srgbClr val="262626"/>
                </a:solidFill>
                <a:cs typeface="Arial"/>
              </a:rPr>
              <a:t> Successfully reversed SDRs back to original inputs using HTM and KNN.</a:t>
            </a:r>
          </a:p>
          <a:p>
            <a:pPr>
              <a:lnSpc>
                <a:spcPct val="114999"/>
              </a:lnSpc>
            </a:pPr>
            <a:r>
              <a:rPr lang="en-GB" b="1">
                <a:solidFill>
                  <a:srgbClr val="262626"/>
                </a:solidFill>
                <a:cs typeface="Arial"/>
              </a:rPr>
              <a:t>Bio-Inspired Learning:</a:t>
            </a:r>
            <a:r>
              <a:rPr lang="en-GB">
                <a:solidFill>
                  <a:srgbClr val="262626"/>
                </a:solidFill>
                <a:cs typeface="Arial"/>
              </a:rPr>
              <a:t> Demonstrated HTM’s superiority (95% accuracy) over KNN (85%) on large/noisy datasets.</a:t>
            </a:r>
            <a:endParaRPr lang="en-GB"/>
          </a:p>
          <a:p>
            <a:pPr>
              <a:lnSpc>
                <a:spcPct val="114999"/>
              </a:lnSpc>
            </a:pPr>
            <a:r>
              <a:rPr lang="en-GB" b="1">
                <a:solidFill>
                  <a:srgbClr val="262626"/>
                </a:solidFill>
                <a:cs typeface="Arial"/>
              </a:rPr>
              <a:t>Visual Proof:</a:t>
            </a:r>
            <a:r>
              <a:rPr lang="en-GB">
                <a:solidFill>
                  <a:srgbClr val="262626"/>
                </a:solidFill>
                <a:cs typeface="Arial"/>
              </a:rPr>
              <a:t> Used </a:t>
            </a:r>
            <a:r>
              <a:rPr lang="en-GB" err="1">
                <a:solidFill>
                  <a:srgbClr val="262626"/>
                </a:solidFill>
                <a:cs typeface="Arial"/>
              </a:rPr>
              <a:t>ScottPlot</a:t>
            </a:r>
            <a:r>
              <a:rPr lang="en-GB">
                <a:solidFill>
                  <a:srgbClr val="262626"/>
                </a:solidFill>
                <a:cs typeface="Arial"/>
              </a:rPr>
              <a:t> to showcase HTM’s tight clustering vs. KNN’s scattered predictions.</a:t>
            </a:r>
          </a:p>
          <a:p>
            <a:pPr marL="0" indent="0">
              <a:lnSpc>
                <a:spcPct val="114999"/>
              </a:lnSpc>
              <a:buNone/>
            </a:pPr>
            <a:endParaRPr lang="en-GB" sz="1500">
              <a:solidFill>
                <a:srgbClr val="C0791B"/>
              </a:solidFill>
              <a:cs typeface="Arial"/>
            </a:endParaRPr>
          </a:p>
          <a:p>
            <a:pPr marL="0" indent="0">
              <a:lnSpc>
                <a:spcPct val="114999"/>
              </a:lnSpc>
              <a:buNone/>
            </a:pPr>
            <a:r>
              <a:rPr lang="en-GB" sz="1500" b="1">
                <a:solidFill>
                  <a:srgbClr val="262626"/>
                </a:solidFill>
                <a:cs typeface="Arial"/>
              </a:rPr>
              <a:t>Final Message:</a:t>
            </a:r>
            <a:br>
              <a:rPr lang="en-GB" sz="1600" b="1">
                <a:solidFill>
                  <a:srgbClr val="262626"/>
                </a:solidFill>
                <a:cs typeface="Arial"/>
              </a:rPr>
            </a:br>
            <a:r>
              <a:rPr lang="en-GB">
                <a:solidFill>
                  <a:srgbClr val="262626"/>
                </a:solidFill>
                <a:cs typeface="Arial"/>
              </a:rPr>
              <a:t> “We bridged neuroscience and machine learning, proving that bio-inspired models like HTM can solve real-world challenges in data recovery and pattern recognition!”</a:t>
            </a:r>
            <a:endParaRPr lang="en">
              <a:solidFill>
                <a:srgbClr val="262626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061363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F7E29-0022-F9F0-4DD2-5FC0103D5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2FF3E11-4067-2EDB-0F69-5947BBF90C19}"/>
              </a:ext>
            </a:extLst>
          </p:cNvPr>
          <p:cNvSpPr txBox="1"/>
          <p:nvPr/>
        </p:nvSpPr>
        <p:spPr>
          <a:xfrm>
            <a:off x="2609992" y="2060026"/>
            <a:ext cx="410348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3600"/>
              <a:t>Thank you !!</a:t>
            </a:r>
          </a:p>
        </p:txBody>
      </p:sp>
      <p:pic>
        <p:nvPicPr>
          <p:cNvPr id="2" name="Picture 1" descr="A white background with black and white clouds">
            <a:extLst>
              <a:ext uri="{FF2B5EF4-FFF2-40B4-BE49-F238E27FC236}">
                <a16:creationId xmlns:a16="http://schemas.microsoft.com/office/drawing/2014/main" id="{AAD912A7-8A7E-1A52-12C9-DE9C357F41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21888A2-787E-9D7B-0456-6F7D9F8FC2B4}"/>
              </a:ext>
            </a:extLst>
          </p:cNvPr>
          <p:cNvSpPr txBox="1"/>
          <p:nvPr/>
        </p:nvSpPr>
        <p:spPr>
          <a:xfrm>
            <a:off x="1198668" y="2247241"/>
            <a:ext cx="674856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360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54929537"/>
      </p:ext>
    </p:extLst>
  </p:cSld>
  <p:clrMapOvr>
    <a:masterClrMapping/>
  </p:clrMapOvr>
</p:sld>
</file>

<file path=ppt/theme/theme1.xml><?xml version="1.0" encoding="utf-8"?>
<a:theme xmlns:a="http://schemas.openxmlformats.org/drawingml/2006/main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18</Slides>
  <Notes>14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Momentum</vt:lpstr>
      <vt:lpstr>ML 24/25-02 Investigate Input Reconstruction by using Classifiers  Software Engineering 2024-25</vt:lpstr>
      <vt:lpstr>Contents</vt:lpstr>
      <vt:lpstr>Introduction</vt:lpstr>
      <vt:lpstr>Scalar Encoder</vt:lpstr>
      <vt:lpstr>Spatial Pooler</vt:lpstr>
      <vt:lpstr>What are classifiers? 🤔</vt:lpstr>
      <vt:lpstr>HTM Classifier</vt:lpstr>
      <vt:lpstr>KNN Classifier</vt:lpstr>
      <vt:lpstr>HTM Classifier vs KNN Classifier</vt:lpstr>
      <vt:lpstr>Experiment Design - Diagram</vt:lpstr>
      <vt:lpstr>Steps</vt:lpstr>
      <vt:lpstr>Test Data Reconstruction Results</vt:lpstr>
      <vt:lpstr>Test Data Reconstruction Plots</vt:lpstr>
      <vt:lpstr>Train Data Reconstruction Results</vt:lpstr>
      <vt:lpstr>Train Data Reconstruction Results</vt:lpstr>
      <vt:lpstr>Discussion of results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4</cp:revision>
  <dcterms:modified xsi:type="dcterms:W3CDTF">2025-03-24T21:07:46Z</dcterms:modified>
</cp:coreProperties>
</file>